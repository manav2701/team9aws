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66" r:id="rId5"/>
    <p:sldId id="259" r:id="rId6"/>
    <p:sldId id="260" r:id="rId7"/>
    <p:sldId id="261" r:id="rId8"/>
    <p:sldId id="267" r:id="rId9"/>
    <p:sldId id="262" r:id="rId10"/>
    <p:sldId id="263" r:id="rId11"/>
    <p:sldId id="264" r:id="rId12"/>
    <p:sldId id="269" r:id="rId13"/>
    <p:sldId id="268" r:id="rId14"/>
    <p:sldId id="265"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074"/>
    <p:restoredTop sz="94610"/>
  </p:normalViewPr>
  <p:slideViewPr>
    <p:cSldViewPr snapToGrid="0" snapToObjects="1">
      <p:cViewPr varScale="1">
        <p:scale>
          <a:sx n="302" d="100"/>
          <a:sy n="302" d="100"/>
        </p:scale>
        <p:origin x="2656"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08210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 Title. 10 seconds. Running total 0:10.</a:t>
            </a:r>
          </a:p>
          <a:p>
            <a:endParaRPr/>
          </a:p>
          <a:p>
            <a:r>
              <a:t>Good afternoon, judges.</a:t>
            </a:r>
          </a:p>
          <a:p>
            <a:r>
              <a:t>We are Shifa, and we tackled the Health Companion track.</a:t>
            </a:r>
          </a:p>
          <a:p>
            <a:r>
              <a:t>(Pause)</a:t>
            </a:r>
          </a:p>
          <a:p>
            <a:r>
              <a:t>I am Kyaw Sithu, and with me are [names].</a:t>
            </a:r>
          </a:p>
          <a:p>
            <a:r>
              <a:t>Let me show you the problem we are solving.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The Problem. 30 seconds. Running total 0:40.</a:t>
            </a:r>
          </a:p>
          <a:p>
            <a:endParaRPr/>
          </a:p>
          <a:p>
            <a:r>
              <a:t>Meet Aisha. She is 41, a school teacher in Sharjah and a mother of two.</a:t>
            </a:r>
          </a:p>
          <a:p>
            <a:r>
              <a:t>(Pause)</a:t>
            </a:r>
          </a:p>
          <a:p>
            <a:r>
              <a:t>She lives with high blood pressure and takes amlodipine.</a:t>
            </a:r>
          </a:p>
          <a:p>
            <a:r>
              <a:t>For three days she has had a headache and blurry vision.</a:t>
            </a:r>
          </a:p>
          <a:p>
            <a:r>
              <a:t>Should she wait? See a doctor? Go to the ER? (Key Point)</a:t>
            </a:r>
          </a:p>
          <a:p>
            <a:r>
              <a:t>Symptom checkers try to diagnose her. Nobody books anything. And every step is another phone call to a clinic or her insurer.</a:t>
            </a:r>
          </a:p>
          <a:p>
            <a:r>
              <a:t>With Health Companion, one conversation gets her to the right door. (Key Point)</a:t>
            </a:r>
          </a:p>
          <a:p>
            <a:r>
              <a:t>(Pause, let it land)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3, Our Solution. 45 seconds. Running total 1:25.</a:t>
            </a:r>
          </a:p>
          <a:p>
            <a:endParaRPr/>
          </a:p>
          <a:p>
            <a:r>
              <a:t>We built Health Companion.</a:t>
            </a:r>
          </a:p>
          <a:p>
            <a:r>
              <a:t>In one sentence: one message or one call becomes a triaged, pre-filled, booked visit. (Key Point)</a:t>
            </a:r>
          </a:p>
          <a:p>
            <a:r>
              <a:t>Step 1, the patient uploads their Emirates ID once. The agent extracts the data and pre-fills government and insurer forms.</a:t>
            </a:r>
          </a:p>
          <a:p>
            <a:r>
              <a:t>Step 2, from the chat or call it fills the hospital intake form: symptoms, allergies, medications and preferences. The doctor reviews instead of re-asking.</a:t>
            </a:r>
          </a:p>
          <a:p>
            <a:r>
              <a:t>Step 3, it triages against our Knowledge Base. Red flags, or symptoms that are unknown or don't match her history, go straight to emergency services. This part is live.</a:t>
            </a:r>
          </a:p>
          <a:p>
            <a:r>
              <a:t>Step 4, it checks eligibility, flags missing documents and submits the booking and pre-approval. Today our voice agent already calls clinics and insurers.</a:t>
            </a:r>
          </a:p>
          <a:p>
            <a:r>
              <a:t>Step 5, it monitors the status and updates her by WhatsApp, SMS or email, whichever she prefers.</a:t>
            </a:r>
          </a:p>
          <a:p>
            <a:r>
              <a:t>This is not a chatbot. It is an agent that acts. (Key Point)</a:t>
            </a:r>
          </a:p>
          <a:p>
            <a:endParaRPr/>
          </a:p>
          <a:p>
            <a:r>
              <a:t>HONESTY NOTE (do not read out): LIVE = triage, red-flag routing, guardrail refusals, patient record lookup, clinic/insurer voice calls. NEXT = Emirates ID extraction (Textract), form pre-fill, eligibility engine, WhatsApp/SMS/email updates. If asked, say these are the next build, and show the live parts.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4, Connected Care. 20 seconds. Running total 1:45.</a:t>
            </a:r>
          </a:p>
          <a:p>
            <a:endParaRPr/>
          </a:p>
          <a:p>
            <a:r>
              <a:t>Health Companion sits between the patient, the hospital and the insurer. (Key Point)</a:t>
            </a:r>
          </a:p>
          <a:p>
            <a:r>
              <a:t>It checks cover before booking, books the clinic, and our voice agent calls the insurer for pre-approval.</a:t>
            </a:r>
          </a:p>
          <a:p>
            <a:r>
              <a:t>For plan guidance it only uses conditions already on the record, never a diagnosis, and a licensed advisor confirms.</a:t>
            </a:r>
          </a:p>
          <a:p>
            <a:r>
              <a:t>Be honest if asked: provider matching and the call flows exist today; live eligibility and plan comparison are the next phase with insurer partners.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5, Agentic Flow. 45 seconds. Running total 2:30.</a:t>
            </a:r>
          </a:p>
          <a:p>
            <a:endParaRPr/>
          </a:p>
          <a:p>
            <a:r>
              <a:t>Here is how it works under the hood. (Key Point)</a:t>
            </a:r>
          </a:p>
          <a:p>
            <a:r>
              <a:t>Step 1, the patient types into our web app, running on AWS Lambda.</a:t>
            </a:r>
          </a:p>
          <a:p>
            <a:r>
              <a:t>Step 2, the agent, Claude Sonnet 5 on Amazon Bedrock running in AgentCore Runtime, reasons about the request.</a:t>
            </a:r>
          </a:p>
          <a:p>
            <a:r>
              <a:t>But first, decision one: the Bedrock Guardrail checks the question. Ask for a diagnosis or a dose and it is refused before the model is ever called.</a:t>
            </a:r>
          </a:p>
          <a:p>
            <a:r>
              <a:t>Step 3, it calls tools through AgentCore Gateway over MCP: patient profile, triage guidance, provider search. It loops until it has what it needs. (Key Point)</a:t>
            </a:r>
          </a:p>
          <a:p>
            <a:r>
              <a:t>Step 4, those tools reach DynamoDB, the Bedrock Knowledge Base, and Twilio for phone calls.</a:t>
            </a:r>
          </a:p>
          <a:p>
            <a:r>
              <a:t>Decision two: if there is a red flag, it stops and sends the patient to emergency care. No booking.</a:t>
            </a:r>
          </a:p>
          <a:p>
            <a:r>
              <a:t>Step 5, the answer, the booking, or the call result comes back to the patient.</a:t>
            </a:r>
          </a:p>
          <a:p>
            <a:r>
              <a:t>The agent is making decisions, not following a script. (Key Point)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6, Architecture. 30 seconds. Running total 3:00.</a:t>
            </a:r>
          </a:p>
          <a:p>
            <a:endParaRPr/>
          </a:p>
          <a:p>
            <a:r>
              <a:t>Fully serverless, four services. (Key Point)</a:t>
            </a:r>
          </a:p>
          <a:p>
            <a:r>
              <a:t>The web app on AWS Lambda with a public URL.</a:t>
            </a:r>
          </a:p>
          <a:p>
            <a:r>
              <a:t>At the center, our agent on Amazon Bedrock AgentCore Runtime, with AgentCore Memory, Bedrock Guardrails, and Claude Sonnet 5 as the reasoning engine.</a:t>
            </a:r>
          </a:p>
          <a:p>
            <a:r>
              <a:t>Tools sit behind AgentCore Gateway with Cognito authentication: one Lambda serving five tools, reading DynamoDB and the Bedrock Knowledge Base.</a:t>
            </a:r>
          </a:p>
          <a:p>
            <a:r>
              <a:t>And a voice Lambda that phones clinics and insurers through Twilio, with Claude Haiku 4.5 holding the conversation.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7, Regional Relevance. 20 seconds. Running total 3:20.</a:t>
            </a:r>
          </a:p>
          <a:p>
            <a:endParaRPr/>
          </a:p>
          <a:p>
            <a:r>
              <a:t>Quick note on regional relevance. (Key Point)</a:t>
            </a:r>
          </a:p>
          <a:p>
            <a:r>
              <a:t>The whole app works in Arabic, right to left, and our voice agent has Arabic and English scripts.</a:t>
            </a:r>
          </a:p>
          <a:p>
            <a:r>
              <a:t>For accessibility: plain language, voice input, and an agent that makes the phone calls for you.</a:t>
            </a:r>
          </a:p>
          <a:p>
            <a:r>
              <a:t>Data privacy: encrypted in transit and at rest, only the data we need, keys never reach the browser, and no patient data in logs. In production we would run in the AWS UAE region under the UAE data protection law.</a:t>
            </a:r>
          </a:p>
          <a:p>
            <a:r>
              <a:t>Built for UAE care flows: clinic and insurer calls, pre-approval.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8, Data Protection. 20 seconds. Running total 3:40.</a:t>
            </a:r>
          </a:p>
          <a:p>
            <a:endParaRPr/>
          </a:p>
          <a:p>
            <a:r>
              <a:t>We designed for the UAE Personal Data Protection Law, Decree-Law 45 of 2021, overseen by the UAE Data Office. (Key Point)</a:t>
            </a:r>
          </a:p>
          <a:p>
            <a:r>
              <a:t>Health data has an extra rule: the 2019 ICT in Health Fields law keeps it inside the UAE.</a:t>
            </a:r>
          </a:p>
          <a:p>
            <a:r>
              <a:t>Privacy by design: we keep only the data a step needs, encrypt in transit and at rest, give every service the least privilege, keep patient data out of logs, and expire call records after seven days.</a:t>
            </a:r>
          </a:p>
          <a:p>
            <a:r>
              <a:t>Before production: salted hashing of Emirates ID and phone numbers so a leaked table can't be reversed with rainbow tables, explicit consent, and hosting in the AWS UAE region.</a:t>
            </a:r>
          </a:p>
          <a:p>
            <a:r>
              <a:t>(Confirm law numbers with a mentor before presenting.)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9, Live Demo. 3 minutes. Running total 3:40 → 6:40.</a:t>
            </a:r>
          </a:p>
          <a:p>
            <a:endParaRPr/>
          </a:p>
          <a:p>
            <a:r>
              <a:t>Enough slides. Let me show you the real thing. (Confident)</a:t>
            </a:r>
          </a:p>
          <a:p>
            <a:r>
              <a:t>Have the app open in a browser tab before you start. Patient: Aisha Rahman (PAT-01).</a:t>
            </a:r>
          </a:p>
          <a:p>
            <a:r>
              <a:t>Follow the hidden talking-points slide.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HIDDEN SLIDE. Presenter only.</a:t>
            </a:r>
          </a:p>
          <a:p>
            <a:endParaRPr/>
          </a:p>
          <a:p>
            <a:r>
              <a:t>Prep: app open, patient PAT-01, a verified phone number ready for Call now (Twilio trial only rings verified numbers).</a:t>
            </a:r>
          </a:p>
          <a:p>
            <a:r>
              <a:t>The first reply after a quiet period can take 20–30 seconds; send one warm-up message before presenting.</a:t>
            </a:r>
          </a:p>
          <a:p>
            <a:r>
              <a:t>Backup: screenshots in slides/shots and the architecture diagram.</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11, Impact &amp; What's Next. 30 seconds.</a:t>
            </a:r>
          </a:p>
          <a:p>
            <a:endParaRPr/>
          </a:p>
          <a:p>
            <a:r>
              <a:t>Remember Aisha? Before: guessing, and a string of phone calls.</a:t>
            </a:r>
          </a:p>
          <a:p>
            <a:r>
              <a:t>With Health Companion: one conversation to the right door. (Key Point)</a:t>
            </a:r>
          </a:p>
          <a:p>
            <a:r>
              <a:t>In our tests, the guardrail alone handled 17 of 18 safety prompts, including every refusal and every red flag.</a:t>
            </a:r>
          </a:p>
          <a:p>
            <a:r>
              <a:t>Next: prescription reading with Textract, production in the AWS UAE region, live insurer and clinic APIs, and pharmacy delivery.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12, UN SDG Alignment. 15 seconds.</a:t>
            </a:r>
          </a:p>
          <a:p>
            <a:endParaRPr/>
          </a:p>
          <a:p>
            <a:r>
              <a:t>We map to three goals. (Key Point)</a:t>
            </a:r>
          </a:p>
          <a:p>
            <a:r>
              <a:t>SDG 3, good health: getting people to the right level of care, especially target 3.8 on access to essential services.</a:t>
            </a:r>
          </a:p>
          <a:p>
            <a:r>
              <a:t>SDG 10, reduced inequalities: bilingual, plain language, and an agent that makes the calls.</a:t>
            </a:r>
          </a:p>
          <a:p>
            <a:r>
              <a:t>SDG 9: modern infrastructure connecting providers and insurers.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Slide 13, Challenges. 15 seconds (or keep for Q&amp;A).</a:t>
            </a:r>
          </a:p>
          <a:p>
            <a:endParaRPr/>
          </a:p>
          <a:p>
            <a:r>
              <a:t>The workshop account is locked down, so a lot of our time went into working within its permissions. (Key Point)</a:t>
            </a:r>
          </a:p>
          <a:p>
            <a:r>
              <a:t>CDK bootstrap, model access, tuning the guardrail so it blocks unsafe questions without blocking safe ones, and hosting without EC2.</a:t>
            </a:r>
          </a:p>
          <a:p>
            <a:r>
              <a:t>Each one has a fix that is live in the deployed app.</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14, Thank You. 10 seconds.</a:t>
            </a:r>
          </a:p>
          <a:p>
            <a:endParaRPr/>
          </a:p>
          <a:p>
            <a:r>
              <a:t>That is Health Companion from Shifa. The right door, not a diagnosis. We hope Aisha never has to guess again. Thank you. (Emotional callback)</a:t>
            </a:r>
          </a:p>
          <a:p>
            <a:r>
              <a:t>Happy to take questions.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marL="0" indent="0" algn="r">
              <a:buNone/>
            </a:pPr>
            <a:r>
              <a:rPr lang="en-US" sz="900" dirty="0">
                <a:solidFill>
                  <a:srgbClr val="5C7090"/>
                </a:solidFill>
                <a:latin typeface="Consolas" pitchFamily="34" charset="0"/>
                <a:ea typeface="Consolas" pitchFamily="34" charset="-122"/>
                <a:cs typeface="Consolas" pitchFamily="34" charset="-120"/>
              </a:rPr>
              <a:t>1</a:t>
            </a:r>
            <a:endParaRPr lang="en-US" sz="900" dirty="0"/>
          </a:p>
        </p:txBody>
      </p:sp>
      <p:sp>
        <p:nvSpPr>
          <p:cNvPr id="3" name="Shape 1"/>
          <p:cNvSpPr/>
          <p:nvPr/>
        </p:nvSpPr>
        <p:spPr>
          <a:xfrm>
            <a:off x="0" y="0"/>
            <a:ext cx="9144000" cy="64008"/>
          </a:xfrm>
          <a:prstGeom prst="rect">
            <a:avLst/>
          </a:prstGeom>
          <a:solidFill>
            <a:srgbClr val="FF9900"/>
          </a:solidFill>
          <a:ln/>
        </p:spPr>
        <p:txBody>
          <a:bodyPr/>
          <a:lstStyle/>
          <a:p>
            <a:endParaRPr lang="en-AE"/>
          </a:p>
        </p:txBody>
      </p:sp>
      <p:sp>
        <p:nvSpPr>
          <p:cNvPr id="4" name="Shape 2"/>
          <p:cNvSpPr/>
          <p:nvPr/>
        </p:nvSpPr>
        <p:spPr>
          <a:xfrm>
            <a:off x="2011680" y="457200"/>
            <a:ext cx="5120640" cy="384048"/>
          </a:xfrm>
          <a:prstGeom prst="roundRect">
            <a:avLst>
              <a:gd name="adj" fmla="val 50000"/>
            </a:avLst>
          </a:prstGeom>
          <a:solidFill>
            <a:srgbClr val="0D0D0D"/>
          </a:solidFill>
          <a:ln w="12700">
            <a:solidFill>
              <a:srgbClr val="FF9900"/>
            </a:solidFill>
            <a:prstDash val="solid"/>
          </a:ln>
        </p:spPr>
        <p:txBody>
          <a:bodyPr/>
          <a:lstStyle/>
          <a:p>
            <a:endParaRPr lang="en-AE"/>
          </a:p>
        </p:txBody>
      </p:sp>
      <p:sp>
        <p:nvSpPr>
          <p:cNvPr id="5" name="Text 3"/>
          <p:cNvSpPr/>
          <p:nvPr/>
        </p:nvSpPr>
        <p:spPr>
          <a:xfrm>
            <a:off x="2011680" y="457200"/>
            <a:ext cx="5120640" cy="384048"/>
          </a:xfrm>
          <a:prstGeom prst="rect">
            <a:avLst/>
          </a:prstGeom>
          <a:noFill/>
          <a:ln/>
        </p:spPr>
        <p:txBody>
          <a:bodyPr wrap="square" lIns="0" tIns="0" rIns="0" bIns="0" rtlCol="0" anchor="ctr"/>
          <a:lstStyle/>
          <a:p>
            <a:pPr marL="0" indent="0" algn="ctr">
              <a:buNone/>
            </a:pPr>
            <a:r>
              <a:rPr lang="en-US" sz="900" b="1" dirty="0">
                <a:solidFill>
                  <a:srgbClr val="FF9900"/>
                </a:solidFill>
                <a:latin typeface="Calibri" pitchFamily="34" charset="0"/>
                <a:ea typeface="Calibri" pitchFamily="34" charset="-122"/>
                <a:cs typeface="Calibri" pitchFamily="34" charset="-120"/>
              </a:rPr>
              <a:t>AWS AGENTIC AI HACKATHON — FUTURE VISION  |  AWS SUMMIT DUBAI 2026</a:t>
            </a:r>
            <a:endParaRPr lang="en-US" sz="900" dirty="0"/>
          </a:p>
        </p:txBody>
      </p:sp>
      <p:sp>
        <p:nvSpPr>
          <p:cNvPr id="6" name="Text 4"/>
          <p:cNvSpPr/>
          <p:nvPr/>
        </p:nvSpPr>
        <p:spPr>
          <a:xfrm>
            <a:off x="685800" y="1097280"/>
            <a:ext cx="7772400" cy="1280160"/>
          </a:xfrm>
          <a:prstGeom prst="rect">
            <a:avLst/>
          </a:prstGeom>
          <a:noFill/>
          <a:ln/>
        </p:spPr>
        <p:txBody>
          <a:bodyPr wrap="square" lIns="0" tIns="0" rIns="0" bIns="0" rtlCol="0" anchor="ctr">
            <a:normAutofit/>
          </a:bodyPr>
          <a:lstStyle/>
          <a:p>
            <a:pPr marL="0" indent="0" algn="ctr">
              <a:buNone/>
            </a:pPr>
            <a:r>
              <a:rPr lang="en-US" sz="4800" dirty="0">
                <a:solidFill>
                  <a:srgbClr val="FFFFFF"/>
                </a:solidFill>
                <a:latin typeface="Arial Black" pitchFamily="34" charset="0"/>
                <a:ea typeface="Arial Black" pitchFamily="34" charset="-122"/>
                <a:cs typeface="Arial Black" pitchFamily="34" charset="-120"/>
              </a:rPr>
              <a:t>SHIFA</a:t>
            </a:r>
            <a:endParaRPr lang="en-US" sz="4800" dirty="0"/>
          </a:p>
        </p:txBody>
      </p:sp>
      <p:sp>
        <p:nvSpPr>
          <p:cNvPr id="7" name="Shape 5"/>
          <p:cNvSpPr/>
          <p:nvPr/>
        </p:nvSpPr>
        <p:spPr>
          <a:xfrm>
            <a:off x="2743200" y="2423160"/>
            <a:ext cx="3657600" cy="45720"/>
          </a:xfrm>
          <a:prstGeom prst="rect">
            <a:avLst/>
          </a:prstGeom>
          <a:solidFill>
            <a:srgbClr val="FF9900"/>
          </a:solidFill>
          <a:ln/>
        </p:spPr>
        <p:txBody>
          <a:bodyPr/>
          <a:lstStyle/>
          <a:p>
            <a:endParaRPr lang="en-AE"/>
          </a:p>
        </p:txBody>
      </p:sp>
      <p:sp>
        <p:nvSpPr>
          <p:cNvPr id="8" name="Text 6"/>
          <p:cNvSpPr/>
          <p:nvPr/>
        </p:nvSpPr>
        <p:spPr>
          <a:xfrm>
            <a:off x="1371600" y="2560320"/>
            <a:ext cx="6400800" cy="457200"/>
          </a:xfrm>
          <a:prstGeom prst="rect">
            <a:avLst/>
          </a:prstGeom>
          <a:noFill/>
          <a:ln/>
        </p:spPr>
        <p:txBody>
          <a:bodyPr wrap="square" lIns="0" tIns="0" rIns="0" bIns="0" rtlCol="0" anchor="ctr"/>
          <a:lstStyle/>
          <a:p>
            <a:pPr marL="0" indent="0" algn="ctr">
              <a:buNone/>
            </a:pPr>
            <a:r>
              <a:rPr lang="en-US" sz="1600" dirty="0">
                <a:solidFill>
                  <a:srgbClr val="FFB84D"/>
                </a:solidFill>
                <a:latin typeface="Calibri" pitchFamily="34" charset="0"/>
                <a:ea typeface="Calibri" pitchFamily="34" charset="-122"/>
                <a:cs typeface="Calibri" pitchFamily="34" charset="-120"/>
              </a:rPr>
              <a:t>Idea Track: Health Companion — the right door, not a diagnosis</a:t>
            </a:r>
            <a:endParaRPr lang="en-US" sz="1600" dirty="0"/>
          </a:p>
        </p:txBody>
      </p:sp>
      <p:sp>
        <p:nvSpPr>
          <p:cNvPr id="10" name="Text 8"/>
          <p:cNvSpPr/>
          <p:nvPr/>
        </p:nvSpPr>
        <p:spPr>
          <a:xfrm>
            <a:off x="274320" y="3246120"/>
            <a:ext cx="1627632" cy="502920"/>
          </a:xfrm>
          <a:prstGeom prst="rect">
            <a:avLst/>
          </a:prstGeom>
          <a:noFill/>
          <a:ln/>
        </p:spPr>
        <p:txBody>
          <a:bodyPr wrap="square" lIns="0" tIns="0" rIns="0" bIns="0" rtlCol="0" anchor="ctr"/>
          <a:lstStyle/>
          <a:p>
            <a:pPr marL="0" indent="0" algn="ctr">
              <a:buNone/>
            </a:pPr>
            <a:endParaRPr lang="en-US" sz="850" dirty="0"/>
          </a:p>
        </p:txBody>
      </p:sp>
      <p:sp>
        <p:nvSpPr>
          <p:cNvPr id="14" name="Text 12"/>
          <p:cNvSpPr/>
          <p:nvPr/>
        </p:nvSpPr>
        <p:spPr>
          <a:xfrm>
            <a:off x="3712464" y="3246120"/>
            <a:ext cx="1627632" cy="502920"/>
          </a:xfrm>
          <a:prstGeom prst="rect">
            <a:avLst/>
          </a:prstGeom>
          <a:noFill/>
          <a:ln/>
        </p:spPr>
        <p:txBody>
          <a:bodyPr wrap="square" lIns="0" tIns="0" rIns="0" bIns="0" rtlCol="0" anchor="ctr"/>
          <a:lstStyle/>
          <a:p>
            <a:pPr marL="0" indent="0" algn="ctr">
              <a:buNone/>
            </a:pPr>
            <a:endParaRPr lang="en-US" sz="850" dirty="0"/>
          </a:p>
        </p:txBody>
      </p:sp>
      <p:sp>
        <p:nvSpPr>
          <p:cNvPr id="19" name="Shape 17"/>
          <p:cNvSpPr/>
          <p:nvPr/>
        </p:nvSpPr>
        <p:spPr>
          <a:xfrm>
            <a:off x="0" y="4663440"/>
            <a:ext cx="9144000" cy="480060"/>
          </a:xfrm>
          <a:prstGeom prst="rect">
            <a:avLst/>
          </a:prstGeom>
          <a:solidFill>
            <a:srgbClr val="080D18"/>
          </a:solidFill>
          <a:ln/>
        </p:spPr>
        <p:txBody>
          <a:bodyPr/>
          <a:lstStyle/>
          <a:p>
            <a:endParaRPr lang="en-AE"/>
          </a:p>
        </p:txBody>
      </p:sp>
      <p:sp>
        <p:nvSpPr>
          <p:cNvPr id="20" name="Shape 18"/>
          <p:cNvSpPr/>
          <p:nvPr/>
        </p:nvSpPr>
        <p:spPr>
          <a:xfrm>
            <a:off x="0" y="4663440"/>
            <a:ext cx="9144000" cy="45720"/>
          </a:xfrm>
          <a:prstGeom prst="rect">
            <a:avLst/>
          </a:prstGeom>
          <a:solidFill>
            <a:srgbClr val="FF9900"/>
          </a:solidFill>
          <a:ln/>
        </p:spPr>
        <p:txBody>
          <a:bodyPr/>
          <a:lstStyle/>
          <a:p>
            <a:endParaRPr lang="en-AE"/>
          </a:p>
        </p:txBody>
      </p:sp>
      <p:sp>
        <p:nvSpPr>
          <p:cNvPr id="21" name="Text 19"/>
          <p:cNvSpPr/>
          <p:nvPr/>
        </p:nvSpPr>
        <p:spPr>
          <a:xfrm>
            <a:off x="365760" y="4736592"/>
            <a:ext cx="8412480" cy="320040"/>
          </a:xfrm>
          <a:prstGeom prst="rect">
            <a:avLst/>
          </a:prstGeom>
          <a:noFill/>
          <a:ln/>
        </p:spPr>
        <p:txBody>
          <a:bodyPr wrap="square" lIns="0" tIns="0" rIns="0" bIns="0" rtlCol="0" anchor="ctr"/>
          <a:lstStyle/>
          <a:p>
            <a:pPr marL="0" indent="0" algn="ctr">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marL="0" indent="0" algn="r">
              <a:buNone/>
            </a:pPr>
            <a:r>
              <a:rPr lang="en-US" sz="900" dirty="0">
                <a:solidFill>
                  <a:srgbClr val="5C7090"/>
                </a:solidFill>
                <a:latin typeface="Consolas" pitchFamily="34" charset="0"/>
                <a:ea typeface="Consolas" pitchFamily="34" charset="-122"/>
                <a:cs typeface="Consolas" pitchFamily="34" charset="-120"/>
              </a:rPr>
              <a:t>2</a:t>
            </a:r>
            <a:endParaRPr lang="en-US" sz="900" dirty="0"/>
          </a:p>
        </p:txBody>
      </p:sp>
      <p:sp>
        <p:nvSpPr>
          <p:cNvPr id="3" name="Text 1"/>
          <p:cNvSpPr/>
          <p:nvPr/>
        </p:nvSpPr>
        <p:spPr>
          <a:xfrm>
            <a:off x="457200" y="182880"/>
            <a:ext cx="3657600" cy="502920"/>
          </a:xfrm>
          <a:prstGeom prst="rect">
            <a:avLst/>
          </a:prstGeom>
          <a:noFill/>
          <a:ln/>
        </p:spPr>
        <p:txBody>
          <a:bodyPr wrap="square" lIns="0" tIns="0" rIns="0" bIns="0" rtlCol="0" anchor="ctr"/>
          <a:lstStyle/>
          <a:p>
            <a:pPr marL="0" indent="0">
              <a:buNone/>
            </a:pPr>
            <a:r>
              <a:rPr lang="en-US" sz="2400" dirty="0">
                <a:solidFill>
                  <a:srgbClr val="FFFFFF"/>
                </a:solidFill>
                <a:latin typeface="Arial Black" pitchFamily="34" charset="0"/>
                <a:ea typeface="Arial Black" pitchFamily="34" charset="-122"/>
                <a:cs typeface="Arial Black" pitchFamily="34" charset="-120"/>
              </a:rPr>
              <a:t>THE PROBLEM</a:t>
            </a:r>
            <a:endParaRPr lang="en-US" sz="2400" dirty="0"/>
          </a:p>
        </p:txBody>
      </p:sp>
      <p:sp>
        <p:nvSpPr>
          <p:cNvPr id="4" name="Shape 2"/>
          <p:cNvSpPr/>
          <p:nvPr/>
        </p:nvSpPr>
        <p:spPr>
          <a:xfrm>
            <a:off x="457200" y="731520"/>
            <a:ext cx="1828800" cy="45720"/>
          </a:xfrm>
          <a:prstGeom prst="rect">
            <a:avLst/>
          </a:prstGeom>
          <a:solidFill>
            <a:srgbClr val="FF6B6B"/>
          </a:solidFill>
          <a:ln/>
        </p:spPr>
        <p:txBody>
          <a:bodyPr/>
          <a:lstStyle/>
          <a:p>
            <a:endParaRPr lang="en-AE"/>
          </a:p>
        </p:txBody>
      </p:sp>
      <p:sp>
        <p:nvSpPr>
          <p:cNvPr id="5" name="Shape 3"/>
          <p:cNvSpPr/>
          <p:nvPr/>
        </p:nvSpPr>
        <p:spPr>
          <a:xfrm>
            <a:off x="6583680" y="228600"/>
            <a:ext cx="1828800" cy="274320"/>
          </a:xfrm>
          <a:prstGeom prst="roundRect">
            <a:avLst>
              <a:gd name="adj" fmla="val 50000"/>
            </a:avLst>
          </a:prstGeom>
          <a:solidFill>
            <a:srgbClr val="000000"/>
          </a:solidFill>
          <a:ln w="9525">
            <a:solidFill>
              <a:srgbClr val="FF6B6B"/>
            </a:solidFill>
            <a:prstDash val="solid"/>
          </a:ln>
        </p:spPr>
        <p:txBody>
          <a:bodyPr/>
          <a:lstStyle/>
          <a:p>
            <a:endParaRPr lang="en-AE"/>
          </a:p>
        </p:txBody>
      </p:sp>
      <p:sp>
        <p:nvSpPr>
          <p:cNvPr id="6" name="Text 4"/>
          <p:cNvSpPr/>
          <p:nvPr/>
        </p:nvSpPr>
        <p:spPr>
          <a:xfrm>
            <a:off x="6583680" y="228600"/>
            <a:ext cx="1828800" cy="274320"/>
          </a:xfrm>
          <a:prstGeom prst="rect">
            <a:avLst/>
          </a:prstGeom>
          <a:noFill/>
          <a:ln/>
        </p:spPr>
        <p:txBody>
          <a:bodyPr wrap="square" lIns="0" tIns="0" rIns="0" bIns="0" rtlCol="0" anchor="ctr"/>
          <a:lstStyle/>
          <a:p>
            <a:pPr marL="0" indent="0" algn="ctr">
              <a:buNone/>
            </a:pPr>
            <a:r>
              <a:rPr lang="en-US" sz="850" b="1" dirty="0">
                <a:solidFill>
                  <a:srgbClr val="FF6B6B"/>
                </a:solidFill>
                <a:latin typeface="Calibri" pitchFamily="34" charset="0"/>
                <a:ea typeface="Calibri" pitchFamily="34" charset="-122"/>
                <a:cs typeface="Calibri" pitchFamily="34" charset="-120"/>
              </a:rPr>
              <a:t>⭐ 30% — CUSTOMER IMPACT</a:t>
            </a:r>
            <a:endParaRPr lang="en-US" sz="850" dirty="0"/>
          </a:p>
        </p:txBody>
      </p:sp>
      <p:sp>
        <p:nvSpPr>
          <p:cNvPr id="7" name="Text 5"/>
          <p:cNvSpPr/>
          <p:nvPr/>
        </p:nvSpPr>
        <p:spPr>
          <a:xfrm>
            <a:off x="457200" y="1097280"/>
            <a:ext cx="4754880" cy="457200"/>
          </a:xfrm>
          <a:prstGeom prst="rect">
            <a:avLst/>
          </a:prstGeom>
          <a:noFill/>
          <a:ln/>
        </p:spPr>
        <p:txBody>
          <a:bodyPr wrap="square" lIns="0" tIns="0" rIns="0" bIns="0" rtlCol="0" anchor="ctr"/>
          <a:lstStyle/>
          <a:p>
            <a:pPr marL="0" indent="0">
              <a:buNone/>
            </a:pPr>
            <a:r>
              <a:rPr lang="en-US" sz="2200" dirty="0">
                <a:solidFill>
                  <a:srgbClr val="FF9900"/>
                </a:solidFill>
                <a:latin typeface="Arial Black" pitchFamily="34" charset="0"/>
                <a:ea typeface="Arial Black" pitchFamily="34" charset="-122"/>
                <a:cs typeface="Arial Black" pitchFamily="34" charset="-120"/>
              </a:rPr>
              <a:t>Meet Aisha Rahman, 41</a:t>
            </a:r>
            <a:endParaRPr lang="en-US" sz="2200" dirty="0"/>
          </a:p>
        </p:txBody>
      </p:sp>
      <p:sp>
        <p:nvSpPr>
          <p:cNvPr id="8" name="Text 6"/>
          <p:cNvSpPr/>
          <p:nvPr/>
        </p:nvSpPr>
        <p:spPr>
          <a:xfrm>
            <a:off x="457200" y="1554480"/>
            <a:ext cx="4754880" cy="320040"/>
          </a:xfrm>
          <a:prstGeom prst="rect">
            <a:avLst/>
          </a:prstGeom>
          <a:noFill/>
          <a:ln/>
        </p:spPr>
        <p:txBody>
          <a:bodyPr wrap="square" lIns="0" tIns="0" rIns="0" bIns="0" rtlCol="0" anchor="ctr"/>
          <a:lstStyle/>
          <a:p>
            <a:pPr marL="0" indent="0">
              <a:buNone/>
            </a:pPr>
            <a:r>
              <a:rPr lang="en-US" sz="1100" i="1" dirty="0">
                <a:solidFill>
                  <a:srgbClr val="A8B8CC"/>
                </a:solidFill>
                <a:latin typeface="Calibri" pitchFamily="34" charset="0"/>
                <a:ea typeface="Calibri" pitchFamily="34" charset="-122"/>
                <a:cs typeface="Calibri" pitchFamily="34" charset="-120"/>
              </a:rPr>
              <a:t>School teacher in Sharjah, mother of two, lives with high blood pressure</a:t>
            </a:r>
            <a:endParaRPr lang="en-US" sz="1100" dirty="0"/>
          </a:p>
        </p:txBody>
      </p:sp>
      <p:sp>
        <p:nvSpPr>
          <p:cNvPr id="9" name="Shape 7"/>
          <p:cNvSpPr/>
          <p:nvPr/>
        </p:nvSpPr>
        <p:spPr>
          <a:xfrm>
            <a:off x="457200" y="2011680"/>
            <a:ext cx="4754880" cy="1143000"/>
          </a:xfrm>
          <a:prstGeom prst="roundRect">
            <a:avLst>
              <a:gd name="adj" fmla="val 8000"/>
            </a:avLst>
          </a:prstGeom>
          <a:solidFill>
            <a:srgbClr val="141E30"/>
          </a:solidFill>
          <a:ln/>
        </p:spPr>
        <p:txBody>
          <a:bodyPr/>
          <a:lstStyle/>
          <a:p>
            <a:endParaRPr lang="en-AE"/>
          </a:p>
        </p:txBody>
      </p:sp>
      <p:sp>
        <p:nvSpPr>
          <p:cNvPr id="10" name="Shape 8"/>
          <p:cNvSpPr/>
          <p:nvPr/>
        </p:nvSpPr>
        <p:spPr>
          <a:xfrm>
            <a:off x="457200" y="2011680"/>
            <a:ext cx="64008" cy="1143000"/>
          </a:xfrm>
          <a:prstGeom prst="rect">
            <a:avLst/>
          </a:prstGeom>
          <a:solidFill>
            <a:srgbClr val="FF6B6B"/>
          </a:solidFill>
          <a:ln/>
        </p:spPr>
        <p:txBody>
          <a:bodyPr/>
          <a:lstStyle/>
          <a:p>
            <a:endParaRPr lang="en-AE"/>
          </a:p>
        </p:txBody>
      </p:sp>
      <p:sp>
        <p:nvSpPr>
          <p:cNvPr id="11" name="Text 9"/>
          <p:cNvSpPr/>
          <p:nvPr/>
        </p:nvSpPr>
        <p:spPr>
          <a:xfrm>
            <a:off x="685800" y="2103120"/>
            <a:ext cx="4343400" cy="960120"/>
          </a:xfrm>
          <a:prstGeom prst="rect">
            <a:avLst/>
          </a:prstGeom>
          <a:noFill/>
          <a:ln/>
        </p:spPr>
        <p:txBody>
          <a:bodyPr wrap="square" lIns="0" tIns="0" rIns="0" bIns="0" rtlCol="0" anchor="t"/>
          <a:lstStyle/>
          <a:p>
            <a:pPr marL="0" indent="0">
              <a:lnSpc>
                <a:spcPts val="1600"/>
              </a:lnSpc>
              <a:buNone/>
            </a:pPr>
            <a:r>
              <a:rPr lang="en-US" sz="1100" dirty="0">
                <a:solidFill>
                  <a:srgbClr val="FFFFFF"/>
                </a:solidFill>
                <a:latin typeface="Calibri" pitchFamily="34" charset="0"/>
                <a:ea typeface="Calibri" pitchFamily="34" charset="-122"/>
                <a:cs typeface="Calibri" pitchFamily="34" charset="-120"/>
              </a:rPr>
              <a:t>Three days of headache and blurry vision between classes. Wait, see a doctor, or rush to the ER? Every option means phone calls, repeating her history and allergies, and insurance forms.</a:t>
            </a:r>
            <a:endParaRPr lang="en-US" sz="1100" dirty="0"/>
          </a:p>
        </p:txBody>
      </p:sp>
      <p:sp>
        <p:nvSpPr>
          <p:cNvPr id="12" name="Shape 10"/>
          <p:cNvSpPr/>
          <p:nvPr/>
        </p:nvSpPr>
        <p:spPr>
          <a:xfrm>
            <a:off x="457200" y="3337560"/>
            <a:ext cx="4754880" cy="868680"/>
          </a:xfrm>
          <a:prstGeom prst="roundRect">
            <a:avLst>
              <a:gd name="adj" fmla="val 10526"/>
            </a:avLst>
          </a:prstGeom>
          <a:solidFill>
            <a:srgbClr val="0A0A18"/>
          </a:solidFill>
          <a:ln w="9525">
            <a:solidFill>
              <a:srgbClr val="FF9900"/>
            </a:solidFill>
            <a:prstDash val="solid"/>
          </a:ln>
        </p:spPr>
        <p:txBody>
          <a:bodyPr/>
          <a:lstStyle/>
          <a:p>
            <a:endParaRPr lang="en-AE"/>
          </a:p>
        </p:txBody>
      </p:sp>
      <p:sp>
        <p:nvSpPr>
          <p:cNvPr id="13" name="Shape 11"/>
          <p:cNvSpPr/>
          <p:nvPr/>
        </p:nvSpPr>
        <p:spPr>
          <a:xfrm>
            <a:off x="457200" y="3337560"/>
            <a:ext cx="64008" cy="868680"/>
          </a:xfrm>
          <a:prstGeom prst="rect">
            <a:avLst/>
          </a:prstGeom>
          <a:solidFill>
            <a:srgbClr val="FF9900"/>
          </a:solidFill>
          <a:ln/>
        </p:spPr>
        <p:txBody>
          <a:bodyPr/>
          <a:lstStyle/>
          <a:p>
            <a:endParaRPr lang="en-AE"/>
          </a:p>
        </p:txBody>
      </p:sp>
      <p:sp>
        <p:nvSpPr>
          <p:cNvPr id="14" name="Text 12"/>
          <p:cNvSpPr/>
          <p:nvPr/>
        </p:nvSpPr>
        <p:spPr>
          <a:xfrm>
            <a:off x="685800" y="3456432"/>
            <a:ext cx="4297680" cy="384048"/>
          </a:xfrm>
          <a:prstGeom prst="rect">
            <a:avLst/>
          </a:prstGeom>
          <a:noFill/>
          <a:ln/>
        </p:spPr>
        <p:txBody>
          <a:bodyPr wrap="square" lIns="0" tIns="0" rIns="0" bIns="0" rtlCol="0" anchor="ctr"/>
          <a:lstStyle/>
          <a:p>
            <a:pPr marL="0" indent="0">
              <a:buNone/>
            </a:pPr>
            <a:r>
              <a:rPr lang="en-US" sz="2000" dirty="0">
                <a:solidFill>
                  <a:srgbClr val="FF9900"/>
                </a:solidFill>
                <a:latin typeface="Arial Black" pitchFamily="34" charset="0"/>
                <a:ea typeface="Arial Black" pitchFamily="34" charset="-122"/>
                <a:cs typeface="Arial Black" pitchFamily="34" charset="-120"/>
              </a:rPr>
              <a:t>One conversation → the right door</a:t>
            </a:r>
            <a:endParaRPr lang="en-US" sz="2000" dirty="0"/>
          </a:p>
        </p:txBody>
      </p:sp>
      <p:sp>
        <p:nvSpPr>
          <p:cNvPr id="15" name="Text 13"/>
          <p:cNvSpPr/>
          <p:nvPr/>
        </p:nvSpPr>
        <p:spPr>
          <a:xfrm>
            <a:off x="685800" y="3863340"/>
            <a:ext cx="4297680" cy="320040"/>
          </a:xfrm>
          <a:prstGeom prst="rect">
            <a:avLst/>
          </a:prstGeom>
          <a:noFill/>
          <a:ln/>
        </p:spPr>
        <p:txBody>
          <a:bodyPr wrap="square" lIns="0" tIns="0" rIns="0" bIns="0" rtlCol="0" anchor="ctr"/>
          <a:lstStyle/>
          <a:p>
            <a:pPr marL="0" indent="0">
              <a:buNone/>
            </a:pPr>
            <a:r>
              <a:rPr lang="en-US" sz="1000" dirty="0">
                <a:solidFill>
                  <a:srgbClr val="A8B8CC"/>
                </a:solidFill>
                <a:latin typeface="Calibri" pitchFamily="34" charset="0"/>
                <a:ea typeface="Calibri" pitchFamily="34" charset="-122"/>
                <a:cs typeface="Calibri" pitchFamily="34" charset="-120"/>
              </a:rPr>
              <a:t>Triage, booking and insurer call handled by the agent, in minutes</a:t>
            </a:r>
            <a:endParaRPr lang="en-US" sz="1000" dirty="0"/>
          </a:p>
        </p:txBody>
      </p:sp>
      <p:sp>
        <p:nvSpPr>
          <p:cNvPr id="16" name="Shape 14"/>
          <p:cNvSpPr/>
          <p:nvPr/>
        </p:nvSpPr>
        <p:spPr>
          <a:xfrm>
            <a:off x="5486400" y="1097280"/>
            <a:ext cx="3291840" cy="3108960"/>
          </a:xfrm>
          <a:prstGeom prst="roundRect">
            <a:avLst>
              <a:gd name="adj" fmla="val 3529"/>
            </a:avLst>
          </a:prstGeom>
          <a:solidFill>
            <a:srgbClr val="0D1520"/>
          </a:solidFill>
          <a:ln w="12700">
            <a:solidFill>
              <a:srgbClr val="5C7090"/>
            </a:solidFill>
            <a:prstDash val="dash"/>
          </a:ln>
        </p:spPr>
        <p:txBody>
          <a:bodyPr/>
          <a:lstStyle/>
          <a:p>
            <a:endParaRPr lang="en-AE"/>
          </a:p>
        </p:txBody>
      </p:sp>
      <p:sp>
        <p:nvSpPr>
          <p:cNvPr id="17" name="Text 15"/>
          <p:cNvSpPr/>
          <p:nvPr/>
        </p:nvSpPr>
        <p:spPr>
          <a:xfrm>
            <a:off x="6400800" y="1828800"/>
            <a:ext cx="1463040" cy="731520"/>
          </a:xfrm>
          <a:prstGeom prst="rect">
            <a:avLst/>
          </a:prstGeom>
          <a:noFill/>
          <a:ln/>
        </p:spPr>
        <p:txBody>
          <a:bodyPr wrap="square" lIns="0" tIns="0" rIns="0" bIns="0" rtlCol="0" anchor="ctr"/>
          <a:lstStyle/>
          <a:p>
            <a:pPr marL="0" indent="0" algn="ctr">
              <a:buNone/>
            </a:pPr>
            <a:r>
              <a:rPr lang="en-US" sz="3200" dirty="0">
                <a:solidFill>
                  <a:srgbClr val="000000"/>
                </a:solidFill>
              </a:rPr>
              <a:t>🩺</a:t>
            </a:r>
            <a:endParaRPr lang="en-US" sz="3200" dirty="0"/>
          </a:p>
        </p:txBody>
      </p:sp>
      <p:sp>
        <p:nvSpPr>
          <p:cNvPr id="18" name="Text 16"/>
          <p:cNvSpPr/>
          <p:nvPr/>
        </p:nvSpPr>
        <p:spPr>
          <a:xfrm>
            <a:off x="5669280" y="2560320"/>
            <a:ext cx="2926080" cy="1371600"/>
          </a:xfrm>
          <a:prstGeom prst="rect">
            <a:avLst/>
          </a:prstGeom>
          <a:noFill/>
          <a:ln/>
        </p:spPr>
        <p:txBody>
          <a:bodyPr wrap="square" lIns="0" tIns="0" rIns="0" bIns="0" rtlCol="0" anchor="ctr"/>
          <a:lstStyle/>
          <a:p>
            <a:pPr marL="0" indent="0" algn="ctr">
              <a:lnSpc>
                <a:spcPts val="1500"/>
              </a:lnSpc>
              <a:buNone/>
            </a:pPr>
            <a:r>
              <a:rPr lang="en-US" sz="950" dirty="0">
                <a:solidFill>
                  <a:srgbClr val="5C7090"/>
                </a:solidFill>
                <a:latin typeface="Calibri" pitchFamily="34" charset="0"/>
                <a:ea typeface="Calibri" pitchFamily="34" charset="-122"/>
                <a:cs typeface="Calibri" pitchFamily="34" charset="-120"/>
              </a:rPr>
              <a:t>Wait it out?</a:t>
            </a:r>
            <a:endParaRPr lang="en-US" sz="950" dirty="0"/>
          </a:p>
          <a:p>
            <a:pPr marL="0" indent="0" algn="ctr">
              <a:lnSpc>
                <a:spcPts val="1500"/>
              </a:lnSpc>
              <a:buNone/>
            </a:pPr>
            <a:r>
              <a:rPr lang="en-US" sz="950" dirty="0">
                <a:solidFill>
                  <a:srgbClr val="5C7090"/>
                </a:solidFill>
                <a:latin typeface="Calibri" pitchFamily="34" charset="0"/>
                <a:ea typeface="Calibri" pitchFamily="34" charset="-122"/>
                <a:cs typeface="Calibri" pitchFamily="34" charset="-120"/>
              </a:rPr>
              <a:t>See a doctor?</a:t>
            </a:r>
            <a:endParaRPr lang="en-US" sz="950" dirty="0"/>
          </a:p>
          <a:p>
            <a:pPr marL="0" indent="0" algn="ctr">
              <a:lnSpc>
                <a:spcPts val="1500"/>
              </a:lnSpc>
              <a:buNone/>
            </a:pPr>
            <a:r>
              <a:rPr lang="en-US" sz="950" dirty="0">
                <a:solidFill>
                  <a:srgbClr val="5C7090"/>
                </a:solidFill>
                <a:latin typeface="Calibri" pitchFamily="34" charset="0"/>
                <a:ea typeface="Calibri" pitchFamily="34" charset="-122"/>
                <a:cs typeface="Calibri" pitchFamily="34" charset="-120"/>
              </a:rPr>
              <a:t>Go to the ER?</a:t>
            </a:r>
            <a:endParaRPr lang="en-US" sz="950" dirty="0"/>
          </a:p>
        </p:txBody>
      </p:sp>
      <p:sp>
        <p:nvSpPr>
          <p:cNvPr id="19" name="Shape 17"/>
          <p:cNvSpPr/>
          <p:nvPr/>
        </p:nvSpPr>
        <p:spPr>
          <a:xfrm>
            <a:off x="0" y="4663440"/>
            <a:ext cx="9144000" cy="480060"/>
          </a:xfrm>
          <a:prstGeom prst="rect">
            <a:avLst/>
          </a:prstGeom>
          <a:solidFill>
            <a:srgbClr val="080D18"/>
          </a:solidFill>
          <a:ln/>
        </p:spPr>
        <p:txBody>
          <a:bodyPr/>
          <a:lstStyle/>
          <a:p>
            <a:endParaRPr lang="en-AE"/>
          </a:p>
        </p:txBody>
      </p:sp>
      <p:sp>
        <p:nvSpPr>
          <p:cNvPr id="20" name="Shape 18"/>
          <p:cNvSpPr/>
          <p:nvPr/>
        </p:nvSpPr>
        <p:spPr>
          <a:xfrm>
            <a:off x="0" y="4663440"/>
            <a:ext cx="9144000" cy="45720"/>
          </a:xfrm>
          <a:prstGeom prst="rect">
            <a:avLst/>
          </a:prstGeom>
          <a:solidFill>
            <a:srgbClr val="FF9900"/>
          </a:solidFill>
          <a:ln/>
        </p:spPr>
        <p:txBody>
          <a:bodyPr/>
          <a:lstStyle/>
          <a:p>
            <a:endParaRPr lang="en-AE"/>
          </a:p>
        </p:txBody>
      </p:sp>
      <p:sp>
        <p:nvSpPr>
          <p:cNvPr id="21" name="Text 19"/>
          <p:cNvSpPr/>
          <p:nvPr/>
        </p:nvSpPr>
        <p:spPr>
          <a:xfrm>
            <a:off x="365760" y="4736592"/>
            <a:ext cx="8412480" cy="320040"/>
          </a:xfrm>
          <a:prstGeom prst="rect">
            <a:avLst/>
          </a:prstGeom>
          <a:noFill/>
          <a:ln/>
        </p:spPr>
        <p:txBody>
          <a:bodyPr wrap="square" lIns="0" tIns="0" rIns="0" bIns="0" rtlCol="0" anchor="ctr"/>
          <a:lstStyle/>
          <a:p>
            <a:pPr marL="0" indent="0" algn="ctr">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marL="0" indent="0" algn="r">
              <a:buNone/>
            </a:pPr>
            <a:r>
              <a:rPr lang="en-US" sz="900" dirty="0">
                <a:solidFill>
                  <a:srgbClr val="5C7090"/>
                </a:solidFill>
                <a:latin typeface="Consolas" pitchFamily="34" charset="0"/>
                <a:ea typeface="Consolas" pitchFamily="34" charset="-122"/>
                <a:cs typeface="Consolas" pitchFamily="34" charset="-120"/>
              </a:rPr>
              <a:t>3</a:t>
            </a:r>
            <a:endParaRPr lang="en-US" sz="900" dirty="0"/>
          </a:p>
        </p:txBody>
      </p:sp>
      <p:sp>
        <p:nvSpPr>
          <p:cNvPr id="3" name="Text 1"/>
          <p:cNvSpPr/>
          <p:nvPr/>
        </p:nvSpPr>
        <p:spPr>
          <a:xfrm>
            <a:off x="457200" y="182880"/>
            <a:ext cx="3657600" cy="502920"/>
          </a:xfrm>
          <a:prstGeom prst="rect">
            <a:avLst/>
          </a:prstGeom>
          <a:noFill/>
          <a:ln/>
        </p:spPr>
        <p:txBody>
          <a:bodyPr wrap="square" lIns="0" tIns="0" rIns="0" bIns="0" rtlCol="0" anchor="ctr"/>
          <a:lstStyle/>
          <a:p>
            <a:pPr marL="0" indent="0">
              <a:buNone/>
            </a:pPr>
            <a:r>
              <a:rPr lang="en-US" sz="2400" dirty="0">
                <a:solidFill>
                  <a:srgbClr val="FFFFFF"/>
                </a:solidFill>
                <a:latin typeface="Arial Black" pitchFamily="34" charset="0"/>
                <a:ea typeface="Arial Black" pitchFamily="34" charset="-122"/>
                <a:cs typeface="Arial Black" pitchFamily="34" charset="-120"/>
              </a:rPr>
              <a:t>OUR SOLUTION</a:t>
            </a:r>
            <a:endParaRPr lang="en-US" sz="2400" dirty="0"/>
          </a:p>
        </p:txBody>
      </p:sp>
      <p:sp>
        <p:nvSpPr>
          <p:cNvPr id="4" name="Shape 2"/>
          <p:cNvSpPr/>
          <p:nvPr/>
        </p:nvSpPr>
        <p:spPr>
          <a:xfrm>
            <a:off x="457200" y="731520"/>
            <a:ext cx="1828800" cy="45720"/>
          </a:xfrm>
          <a:prstGeom prst="rect">
            <a:avLst/>
          </a:prstGeom>
          <a:solidFill>
            <a:srgbClr val="A855F7"/>
          </a:solidFill>
          <a:ln/>
        </p:spPr>
        <p:txBody>
          <a:bodyPr/>
          <a:lstStyle/>
          <a:p>
            <a:endParaRPr lang="en-AE"/>
          </a:p>
        </p:txBody>
      </p:sp>
      <p:sp>
        <p:nvSpPr>
          <p:cNvPr id="5" name="Shape 3"/>
          <p:cNvSpPr/>
          <p:nvPr/>
        </p:nvSpPr>
        <p:spPr>
          <a:xfrm>
            <a:off x="6583680" y="228600"/>
            <a:ext cx="1828800" cy="274320"/>
          </a:xfrm>
          <a:prstGeom prst="roundRect">
            <a:avLst>
              <a:gd name="adj" fmla="val 50000"/>
            </a:avLst>
          </a:prstGeom>
          <a:solidFill>
            <a:srgbClr val="000000"/>
          </a:solidFill>
          <a:ln w="9525">
            <a:solidFill>
              <a:srgbClr val="A855F7"/>
            </a:solidFill>
            <a:prstDash val="solid"/>
          </a:ln>
        </p:spPr>
        <p:txBody>
          <a:bodyPr/>
          <a:lstStyle/>
          <a:p>
            <a:endParaRPr lang="en-AE"/>
          </a:p>
        </p:txBody>
      </p:sp>
      <p:sp>
        <p:nvSpPr>
          <p:cNvPr id="6" name="Text 4"/>
          <p:cNvSpPr/>
          <p:nvPr/>
        </p:nvSpPr>
        <p:spPr>
          <a:xfrm>
            <a:off x="6583680" y="228600"/>
            <a:ext cx="1828800" cy="274320"/>
          </a:xfrm>
          <a:prstGeom prst="rect">
            <a:avLst/>
          </a:prstGeom>
          <a:noFill/>
          <a:ln/>
        </p:spPr>
        <p:txBody>
          <a:bodyPr wrap="square" lIns="0" tIns="0" rIns="0" bIns="0" rtlCol="0" anchor="ctr"/>
          <a:lstStyle/>
          <a:p>
            <a:pPr marL="0" indent="0" algn="ctr">
              <a:buNone/>
            </a:pPr>
            <a:r>
              <a:rPr lang="en-US" sz="850" b="1" dirty="0">
                <a:solidFill>
                  <a:srgbClr val="A855F7"/>
                </a:solidFill>
                <a:latin typeface="Calibri" pitchFamily="34" charset="0"/>
                <a:ea typeface="Calibri" pitchFamily="34" charset="-122"/>
                <a:cs typeface="Calibri" pitchFamily="34" charset="-120"/>
              </a:rPr>
              <a:t>✨ 20% — INNOVATION</a:t>
            </a:r>
            <a:endParaRPr lang="en-US" sz="850" dirty="0"/>
          </a:p>
        </p:txBody>
      </p:sp>
      <p:sp>
        <p:nvSpPr>
          <p:cNvPr id="7" name="Text 5"/>
          <p:cNvSpPr/>
          <p:nvPr/>
        </p:nvSpPr>
        <p:spPr>
          <a:xfrm>
            <a:off x="457200" y="1051560"/>
            <a:ext cx="8229600" cy="502920"/>
          </a:xfrm>
          <a:prstGeom prst="rect">
            <a:avLst/>
          </a:prstGeom>
          <a:noFill/>
          <a:ln/>
        </p:spPr>
        <p:txBody>
          <a:bodyPr wrap="square" lIns="0" tIns="0" rIns="0" bIns="0" rtlCol="0" anchor="ctr"/>
          <a:lstStyle/>
          <a:p>
            <a:pPr marL="0" indent="0">
              <a:buNone/>
            </a:pPr>
            <a:r>
              <a:rPr lang="en-US" sz="2600" dirty="0">
                <a:solidFill>
                  <a:srgbClr val="FF9900"/>
                </a:solidFill>
                <a:latin typeface="Arial Black" pitchFamily="34" charset="0"/>
                <a:ea typeface="Arial Black" pitchFamily="34" charset="-122"/>
                <a:cs typeface="Arial Black" pitchFamily="34" charset="-120"/>
              </a:rPr>
              <a:t>Health Companion by Shifa</a:t>
            </a:r>
            <a:endParaRPr lang="en-US" sz="2600" dirty="0"/>
          </a:p>
        </p:txBody>
      </p:sp>
      <p:sp>
        <p:nvSpPr>
          <p:cNvPr id="8" name="Text 6"/>
          <p:cNvSpPr/>
          <p:nvPr/>
        </p:nvSpPr>
        <p:spPr>
          <a:xfrm>
            <a:off x="457200" y="1600200"/>
            <a:ext cx="8229600" cy="457200"/>
          </a:xfrm>
          <a:prstGeom prst="rect">
            <a:avLst/>
          </a:prstGeom>
          <a:noFill/>
          <a:ln/>
        </p:spPr>
        <p:txBody>
          <a:bodyPr wrap="square" lIns="0" tIns="0" rIns="0" bIns="0" rtlCol="0" anchor="ctr"/>
          <a:lstStyle/>
          <a:p>
            <a:pPr marL="0" indent="0">
              <a:lnSpc>
                <a:spcPts val="1600"/>
              </a:lnSpc>
              <a:buNone/>
            </a:pPr>
            <a:r>
              <a:rPr lang="en-US" sz="1100" i="1" dirty="0">
                <a:solidFill>
                  <a:srgbClr val="A8B8CC"/>
                </a:solidFill>
                <a:latin typeface="Calibri" pitchFamily="34" charset="0"/>
                <a:ea typeface="Calibri" pitchFamily="34" charset="-122"/>
                <a:cs typeface="Calibri" pitchFamily="34" charset="-120"/>
              </a:rPr>
              <a:t>An AI care navigator that turns one message or call into a triaged, pre-filled, booked visit — in Arabic or English, and never a diagnosis.</a:t>
            </a:r>
            <a:endParaRPr lang="en-US" sz="1100" dirty="0"/>
          </a:p>
        </p:txBody>
      </p:sp>
      <p:sp>
        <p:nvSpPr>
          <p:cNvPr id="9" name="Shape 7"/>
          <p:cNvSpPr/>
          <p:nvPr/>
        </p:nvSpPr>
        <p:spPr>
          <a:xfrm>
            <a:off x="457200" y="2240280"/>
            <a:ext cx="502920" cy="329184"/>
          </a:xfrm>
          <a:prstGeom prst="roundRect">
            <a:avLst>
              <a:gd name="adj" fmla="val 22222"/>
            </a:avLst>
          </a:prstGeom>
          <a:solidFill>
            <a:srgbClr val="FF9900"/>
          </a:solidFill>
          <a:ln/>
        </p:spPr>
        <p:txBody>
          <a:bodyPr/>
          <a:lstStyle/>
          <a:p>
            <a:endParaRPr lang="en-AE"/>
          </a:p>
        </p:txBody>
      </p:sp>
      <p:sp>
        <p:nvSpPr>
          <p:cNvPr id="10" name="Text 8"/>
          <p:cNvSpPr/>
          <p:nvPr/>
        </p:nvSpPr>
        <p:spPr>
          <a:xfrm>
            <a:off x="457200" y="2240280"/>
            <a:ext cx="502920" cy="329184"/>
          </a:xfrm>
          <a:prstGeom prst="rect">
            <a:avLst/>
          </a:prstGeom>
          <a:noFill/>
          <a:ln/>
        </p:spPr>
        <p:txBody>
          <a:bodyPr wrap="square" lIns="0" tIns="0" rIns="0" bIns="0" rtlCol="0" anchor="ctr"/>
          <a:lstStyle/>
          <a:p>
            <a:pPr marL="0" indent="0" algn="ctr">
              <a:buNone/>
            </a:pPr>
            <a:r>
              <a:rPr lang="en-US" sz="1300" dirty="0">
                <a:solidFill>
                  <a:srgbClr val="0B1120"/>
                </a:solidFill>
                <a:latin typeface="Arial Black" pitchFamily="34" charset="0"/>
                <a:ea typeface="Arial Black" pitchFamily="34" charset="-122"/>
                <a:cs typeface="Arial Black" pitchFamily="34" charset="-120"/>
              </a:rPr>
              <a:t>01</a:t>
            </a:r>
            <a:endParaRPr lang="en-US" sz="1300" dirty="0"/>
          </a:p>
        </p:txBody>
      </p:sp>
      <p:sp>
        <p:nvSpPr>
          <p:cNvPr id="11" name="Text 9"/>
          <p:cNvSpPr/>
          <p:nvPr/>
        </p:nvSpPr>
        <p:spPr>
          <a:xfrm>
            <a:off x="1051560" y="2240280"/>
            <a:ext cx="320040" cy="329184"/>
          </a:xfrm>
          <a:prstGeom prst="rect">
            <a:avLst/>
          </a:prstGeom>
          <a:noFill/>
          <a:ln/>
        </p:spPr>
        <p:txBody>
          <a:bodyPr wrap="square" lIns="0" tIns="0" rIns="0" bIns="0" rtlCol="0" anchor="ctr"/>
          <a:lstStyle/>
          <a:p>
            <a:pPr marL="0" indent="0" algn="ctr">
              <a:buNone/>
            </a:pPr>
            <a:r>
              <a:rPr lang="en-US" sz="1000" dirty="0">
                <a:solidFill>
                  <a:srgbClr val="FF9900"/>
                </a:solidFill>
                <a:latin typeface="Calibri" pitchFamily="34" charset="0"/>
                <a:ea typeface="Calibri" pitchFamily="34" charset="-122"/>
                <a:cs typeface="Calibri" pitchFamily="34" charset="-120"/>
              </a:rPr>
              <a:t>▶</a:t>
            </a:r>
            <a:endParaRPr lang="en-US" sz="1000" dirty="0"/>
          </a:p>
        </p:txBody>
      </p:sp>
      <p:sp>
        <p:nvSpPr>
          <p:cNvPr id="12" name="Text 10"/>
          <p:cNvSpPr/>
          <p:nvPr/>
        </p:nvSpPr>
        <p:spPr>
          <a:xfrm>
            <a:off x="1371600" y="2240280"/>
            <a:ext cx="7315200" cy="32918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Reads the uploaded Emirates ID and pre-fills government (UAE PASS; Absher in KSA) and insurer forms</a:t>
            </a:r>
            <a:endParaRPr lang="en-US" sz="1100" dirty="0"/>
          </a:p>
        </p:txBody>
      </p:sp>
      <p:sp>
        <p:nvSpPr>
          <p:cNvPr id="13" name="Shape 11"/>
          <p:cNvSpPr/>
          <p:nvPr/>
        </p:nvSpPr>
        <p:spPr>
          <a:xfrm>
            <a:off x="1371600" y="2606040"/>
            <a:ext cx="7315200" cy="7315"/>
          </a:xfrm>
          <a:prstGeom prst="rect">
            <a:avLst/>
          </a:prstGeom>
          <a:solidFill>
            <a:srgbClr val="1A2540"/>
          </a:solidFill>
          <a:ln/>
        </p:spPr>
        <p:txBody>
          <a:bodyPr/>
          <a:lstStyle/>
          <a:p>
            <a:endParaRPr lang="en-AE"/>
          </a:p>
        </p:txBody>
      </p:sp>
      <p:sp>
        <p:nvSpPr>
          <p:cNvPr id="14" name="Shape 12"/>
          <p:cNvSpPr/>
          <p:nvPr/>
        </p:nvSpPr>
        <p:spPr>
          <a:xfrm>
            <a:off x="457200" y="2660904"/>
            <a:ext cx="502920" cy="329184"/>
          </a:xfrm>
          <a:prstGeom prst="roundRect">
            <a:avLst>
              <a:gd name="adj" fmla="val 22222"/>
            </a:avLst>
          </a:prstGeom>
          <a:solidFill>
            <a:srgbClr val="00D4FF"/>
          </a:solidFill>
          <a:ln/>
        </p:spPr>
        <p:txBody>
          <a:bodyPr/>
          <a:lstStyle/>
          <a:p>
            <a:endParaRPr lang="en-AE"/>
          </a:p>
        </p:txBody>
      </p:sp>
      <p:sp>
        <p:nvSpPr>
          <p:cNvPr id="15" name="Text 13"/>
          <p:cNvSpPr/>
          <p:nvPr/>
        </p:nvSpPr>
        <p:spPr>
          <a:xfrm>
            <a:off x="457200" y="2660904"/>
            <a:ext cx="502920" cy="329184"/>
          </a:xfrm>
          <a:prstGeom prst="rect">
            <a:avLst/>
          </a:prstGeom>
          <a:noFill/>
          <a:ln/>
        </p:spPr>
        <p:txBody>
          <a:bodyPr wrap="square" lIns="0" tIns="0" rIns="0" bIns="0" rtlCol="0" anchor="ctr"/>
          <a:lstStyle/>
          <a:p>
            <a:pPr marL="0" indent="0" algn="ctr">
              <a:buNone/>
            </a:pPr>
            <a:r>
              <a:rPr lang="en-US" sz="1300" dirty="0">
                <a:solidFill>
                  <a:srgbClr val="0B1120"/>
                </a:solidFill>
                <a:latin typeface="Arial Black" pitchFamily="34" charset="0"/>
                <a:ea typeface="Arial Black" pitchFamily="34" charset="-122"/>
                <a:cs typeface="Arial Black" pitchFamily="34" charset="-120"/>
              </a:rPr>
              <a:t>02</a:t>
            </a:r>
            <a:endParaRPr lang="en-US" sz="1300" dirty="0"/>
          </a:p>
        </p:txBody>
      </p:sp>
      <p:sp>
        <p:nvSpPr>
          <p:cNvPr id="16" name="Text 14"/>
          <p:cNvSpPr/>
          <p:nvPr/>
        </p:nvSpPr>
        <p:spPr>
          <a:xfrm>
            <a:off x="1051560" y="2660904"/>
            <a:ext cx="320040" cy="329184"/>
          </a:xfrm>
          <a:prstGeom prst="rect">
            <a:avLst/>
          </a:prstGeom>
          <a:noFill/>
          <a:ln/>
        </p:spPr>
        <p:txBody>
          <a:bodyPr wrap="square" lIns="0" tIns="0" rIns="0" bIns="0" rtlCol="0" anchor="ctr"/>
          <a:lstStyle/>
          <a:p>
            <a:pPr marL="0" indent="0" algn="ctr">
              <a:buNone/>
            </a:pPr>
            <a:r>
              <a:rPr lang="en-US" sz="1000" dirty="0">
                <a:solidFill>
                  <a:srgbClr val="00D4FF"/>
                </a:solidFill>
                <a:latin typeface="Calibri" pitchFamily="34" charset="0"/>
                <a:ea typeface="Calibri" pitchFamily="34" charset="-122"/>
                <a:cs typeface="Calibri" pitchFamily="34" charset="-120"/>
              </a:rPr>
              <a:t>▶</a:t>
            </a:r>
            <a:endParaRPr lang="en-US" sz="1000" dirty="0"/>
          </a:p>
        </p:txBody>
      </p:sp>
      <p:sp>
        <p:nvSpPr>
          <p:cNvPr id="17" name="Text 15"/>
          <p:cNvSpPr/>
          <p:nvPr/>
        </p:nvSpPr>
        <p:spPr>
          <a:xfrm>
            <a:off x="1371600" y="2660904"/>
            <a:ext cx="7315200" cy="32918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Pre-fills the hospital intake form from the chat or call: symptoms, allergies, medications, preferences</a:t>
            </a:r>
            <a:endParaRPr lang="en-US" sz="1100" dirty="0"/>
          </a:p>
        </p:txBody>
      </p:sp>
      <p:sp>
        <p:nvSpPr>
          <p:cNvPr id="18" name="Shape 16"/>
          <p:cNvSpPr/>
          <p:nvPr/>
        </p:nvSpPr>
        <p:spPr>
          <a:xfrm>
            <a:off x="1371600" y="3026664"/>
            <a:ext cx="7315200" cy="7315"/>
          </a:xfrm>
          <a:prstGeom prst="rect">
            <a:avLst/>
          </a:prstGeom>
          <a:solidFill>
            <a:srgbClr val="1A2540"/>
          </a:solidFill>
          <a:ln/>
        </p:spPr>
        <p:txBody>
          <a:bodyPr/>
          <a:lstStyle/>
          <a:p>
            <a:endParaRPr lang="en-AE"/>
          </a:p>
        </p:txBody>
      </p:sp>
      <p:sp>
        <p:nvSpPr>
          <p:cNvPr id="19" name="Shape 17"/>
          <p:cNvSpPr/>
          <p:nvPr/>
        </p:nvSpPr>
        <p:spPr>
          <a:xfrm>
            <a:off x="457200" y="3081528"/>
            <a:ext cx="502920" cy="329184"/>
          </a:xfrm>
          <a:prstGeom prst="roundRect">
            <a:avLst>
              <a:gd name="adj" fmla="val 22222"/>
            </a:avLst>
          </a:prstGeom>
          <a:solidFill>
            <a:srgbClr val="A855F7"/>
          </a:solidFill>
          <a:ln/>
        </p:spPr>
        <p:txBody>
          <a:bodyPr/>
          <a:lstStyle/>
          <a:p>
            <a:endParaRPr lang="en-AE"/>
          </a:p>
        </p:txBody>
      </p:sp>
      <p:sp>
        <p:nvSpPr>
          <p:cNvPr id="20" name="Text 18"/>
          <p:cNvSpPr/>
          <p:nvPr/>
        </p:nvSpPr>
        <p:spPr>
          <a:xfrm>
            <a:off x="457200" y="3081528"/>
            <a:ext cx="502920" cy="329184"/>
          </a:xfrm>
          <a:prstGeom prst="rect">
            <a:avLst/>
          </a:prstGeom>
          <a:noFill/>
          <a:ln/>
        </p:spPr>
        <p:txBody>
          <a:bodyPr wrap="square" lIns="0" tIns="0" rIns="0" bIns="0" rtlCol="0" anchor="ctr"/>
          <a:lstStyle/>
          <a:p>
            <a:pPr marL="0" indent="0" algn="ctr">
              <a:buNone/>
            </a:pPr>
            <a:r>
              <a:rPr lang="en-US" sz="1300" dirty="0">
                <a:solidFill>
                  <a:srgbClr val="0B1120"/>
                </a:solidFill>
                <a:latin typeface="Arial Black" pitchFamily="34" charset="0"/>
                <a:ea typeface="Arial Black" pitchFamily="34" charset="-122"/>
                <a:cs typeface="Arial Black" pitchFamily="34" charset="-120"/>
              </a:rPr>
              <a:t>03</a:t>
            </a:r>
            <a:endParaRPr lang="en-US" sz="1300" dirty="0"/>
          </a:p>
        </p:txBody>
      </p:sp>
      <p:sp>
        <p:nvSpPr>
          <p:cNvPr id="21" name="Text 19"/>
          <p:cNvSpPr/>
          <p:nvPr/>
        </p:nvSpPr>
        <p:spPr>
          <a:xfrm>
            <a:off x="1051560" y="3081528"/>
            <a:ext cx="320040" cy="329184"/>
          </a:xfrm>
          <a:prstGeom prst="rect">
            <a:avLst/>
          </a:prstGeom>
          <a:noFill/>
          <a:ln/>
        </p:spPr>
        <p:txBody>
          <a:bodyPr wrap="square" lIns="0" tIns="0" rIns="0" bIns="0" rtlCol="0" anchor="ctr"/>
          <a:lstStyle/>
          <a:p>
            <a:pPr marL="0" indent="0" algn="ctr">
              <a:buNone/>
            </a:pPr>
            <a:r>
              <a:rPr lang="en-US" sz="1000" dirty="0">
                <a:solidFill>
                  <a:srgbClr val="A855F7"/>
                </a:solidFill>
                <a:latin typeface="Calibri" pitchFamily="34" charset="0"/>
                <a:ea typeface="Calibri" pitchFamily="34" charset="-122"/>
                <a:cs typeface="Calibri" pitchFamily="34" charset="-120"/>
              </a:rPr>
              <a:t>▶</a:t>
            </a:r>
            <a:endParaRPr lang="en-US" sz="1000" dirty="0"/>
          </a:p>
        </p:txBody>
      </p:sp>
      <p:sp>
        <p:nvSpPr>
          <p:cNvPr id="22" name="Text 20"/>
          <p:cNvSpPr/>
          <p:nvPr/>
        </p:nvSpPr>
        <p:spPr>
          <a:xfrm>
            <a:off x="1371600" y="3081528"/>
            <a:ext cx="7315200" cy="32918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Triages with the Knowledge Base; red flags or unknown, mismatched symptoms → emergency services now</a:t>
            </a:r>
            <a:endParaRPr lang="en-US" sz="1100" dirty="0"/>
          </a:p>
        </p:txBody>
      </p:sp>
      <p:sp>
        <p:nvSpPr>
          <p:cNvPr id="23" name="Shape 21"/>
          <p:cNvSpPr/>
          <p:nvPr/>
        </p:nvSpPr>
        <p:spPr>
          <a:xfrm>
            <a:off x="1371600" y="3447288"/>
            <a:ext cx="7315200" cy="7315"/>
          </a:xfrm>
          <a:prstGeom prst="rect">
            <a:avLst/>
          </a:prstGeom>
          <a:solidFill>
            <a:srgbClr val="1A2540"/>
          </a:solidFill>
          <a:ln/>
        </p:spPr>
        <p:txBody>
          <a:bodyPr/>
          <a:lstStyle/>
          <a:p>
            <a:endParaRPr lang="en-AE"/>
          </a:p>
        </p:txBody>
      </p:sp>
      <p:sp>
        <p:nvSpPr>
          <p:cNvPr id="24" name="Shape 22"/>
          <p:cNvSpPr/>
          <p:nvPr/>
        </p:nvSpPr>
        <p:spPr>
          <a:xfrm>
            <a:off x="457200" y="3502152"/>
            <a:ext cx="502920" cy="329184"/>
          </a:xfrm>
          <a:prstGeom prst="roundRect">
            <a:avLst>
              <a:gd name="adj" fmla="val 22222"/>
            </a:avLst>
          </a:prstGeom>
          <a:solidFill>
            <a:srgbClr val="7CFC00"/>
          </a:solidFill>
          <a:ln/>
        </p:spPr>
        <p:txBody>
          <a:bodyPr/>
          <a:lstStyle/>
          <a:p>
            <a:endParaRPr lang="en-AE"/>
          </a:p>
        </p:txBody>
      </p:sp>
      <p:sp>
        <p:nvSpPr>
          <p:cNvPr id="25" name="Text 23"/>
          <p:cNvSpPr/>
          <p:nvPr/>
        </p:nvSpPr>
        <p:spPr>
          <a:xfrm>
            <a:off x="457200" y="3502152"/>
            <a:ext cx="502920" cy="329184"/>
          </a:xfrm>
          <a:prstGeom prst="rect">
            <a:avLst/>
          </a:prstGeom>
          <a:noFill/>
          <a:ln/>
        </p:spPr>
        <p:txBody>
          <a:bodyPr wrap="square" lIns="0" tIns="0" rIns="0" bIns="0" rtlCol="0" anchor="ctr"/>
          <a:lstStyle/>
          <a:p>
            <a:pPr marL="0" indent="0" algn="ctr">
              <a:buNone/>
            </a:pPr>
            <a:r>
              <a:rPr lang="en-US" sz="1300" dirty="0">
                <a:solidFill>
                  <a:srgbClr val="0B1120"/>
                </a:solidFill>
                <a:latin typeface="Arial Black" pitchFamily="34" charset="0"/>
                <a:ea typeface="Arial Black" pitchFamily="34" charset="-122"/>
                <a:cs typeface="Arial Black" pitchFamily="34" charset="-120"/>
              </a:rPr>
              <a:t>04</a:t>
            </a:r>
            <a:endParaRPr lang="en-US" sz="1300" dirty="0"/>
          </a:p>
        </p:txBody>
      </p:sp>
      <p:sp>
        <p:nvSpPr>
          <p:cNvPr id="26" name="Text 24"/>
          <p:cNvSpPr/>
          <p:nvPr/>
        </p:nvSpPr>
        <p:spPr>
          <a:xfrm>
            <a:off x="1051560" y="3502152"/>
            <a:ext cx="320040" cy="329184"/>
          </a:xfrm>
          <a:prstGeom prst="rect">
            <a:avLst/>
          </a:prstGeom>
          <a:noFill/>
          <a:ln/>
        </p:spPr>
        <p:txBody>
          <a:bodyPr wrap="square" lIns="0" tIns="0" rIns="0" bIns="0" rtlCol="0" anchor="ctr"/>
          <a:lstStyle/>
          <a:p>
            <a:pPr marL="0" indent="0" algn="ctr">
              <a:buNone/>
            </a:pPr>
            <a:r>
              <a:rPr lang="en-US" sz="1000" dirty="0">
                <a:solidFill>
                  <a:srgbClr val="7CFC00"/>
                </a:solidFill>
                <a:latin typeface="Calibri" pitchFamily="34" charset="0"/>
                <a:ea typeface="Calibri" pitchFamily="34" charset="-122"/>
                <a:cs typeface="Calibri" pitchFamily="34" charset="-120"/>
              </a:rPr>
              <a:t>▶</a:t>
            </a:r>
            <a:endParaRPr lang="en-US" sz="1000" dirty="0"/>
          </a:p>
        </p:txBody>
      </p:sp>
      <p:sp>
        <p:nvSpPr>
          <p:cNvPr id="27" name="Text 25"/>
          <p:cNvSpPr/>
          <p:nvPr/>
        </p:nvSpPr>
        <p:spPr>
          <a:xfrm>
            <a:off x="1371600" y="3502152"/>
            <a:ext cx="7315200" cy="32918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Checks eligibility, flags missing documents, submits the booking and insurer pre-approval</a:t>
            </a:r>
            <a:endParaRPr lang="en-US" sz="1100" dirty="0"/>
          </a:p>
        </p:txBody>
      </p:sp>
      <p:sp>
        <p:nvSpPr>
          <p:cNvPr id="28" name="Shape 26"/>
          <p:cNvSpPr/>
          <p:nvPr/>
        </p:nvSpPr>
        <p:spPr>
          <a:xfrm>
            <a:off x="1371600" y="3867912"/>
            <a:ext cx="7315200" cy="7315"/>
          </a:xfrm>
          <a:prstGeom prst="rect">
            <a:avLst/>
          </a:prstGeom>
          <a:solidFill>
            <a:srgbClr val="1A2540"/>
          </a:solidFill>
          <a:ln/>
        </p:spPr>
        <p:txBody>
          <a:bodyPr/>
          <a:lstStyle/>
          <a:p>
            <a:endParaRPr lang="en-AE"/>
          </a:p>
        </p:txBody>
      </p:sp>
      <p:sp>
        <p:nvSpPr>
          <p:cNvPr id="29" name="Shape 27"/>
          <p:cNvSpPr/>
          <p:nvPr/>
        </p:nvSpPr>
        <p:spPr>
          <a:xfrm>
            <a:off x="457200" y="3922776"/>
            <a:ext cx="502920" cy="329184"/>
          </a:xfrm>
          <a:prstGeom prst="roundRect">
            <a:avLst>
              <a:gd name="adj" fmla="val 22222"/>
            </a:avLst>
          </a:prstGeom>
          <a:solidFill>
            <a:srgbClr val="FF6B6B"/>
          </a:solidFill>
          <a:ln/>
        </p:spPr>
        <p:txBody>
          <a:bodyPr/>
          <a:lstStyle/>
          <a:p>
            <a:endParaRPr lang="en-AE"/>
          </a:p>
        </p:txBody>
      </p:sp>
      <p:sp>
        <p:nvSpPr>
          <p:cNvPr id="30" name="Text 28"/>
          <p:cNvSpPr/>
          <p:nvPr/>
        </p:nvSpPr>
        <p:spPr>
          <a:xfrm>
            <a:off x="457200" y="3922776"/>
            <a:ext cx="502920" cy="329184"/>
          </a:xfrm>
          <a:prstGeom prst="rect">
            <a:avLst/>
          </a:prstGeom>
          <a:noFill/>
          <a:ln/>
        </p:spPr>
        <p:txBody>
          <a:bodyPr wrap="square" lIns="0" tIns="0" rIns="0" bIns="0" rtlCol="0" anchor="ctr"/>
          <a:lstStyle/>
          <a:p>
            <a:pPr marL="0" indent="0" algn="ctr">
              <a:buNone/>
            </a:pPr>
            <a:r>
              <a:rPr lang="en-US" sz="1300" dirty="0">
                <a:solidFill>
                  <a:srgbClr val="0B1120"/>
                </a:solidFill>
                <a:latin typeface="Arial Black" pitchFamily="34" charset="0"/>
                <a:ea typeface="Arial Black" pitchFamily="34" charset="-122"/>
                <a:cs typeface="Arial Black" pitchFamily="34" charset="-120"/>
              </a:rPr>
              <a:t>05</a:t>
            </a:r>
            <a:endParaRPr lang="en-US" sz="1300" dirty="0"/>
          </a:p>
        </p:txBody>
      </p:sp>
      <p:sp>
        <p:nvSpPr>
          <p:cNvPr id="31" name="Text 29"/>
          <p:cNvSpPr/>
          <p:nvPr/>
        </p:nvSpPr>
        <p:spPr>
          <a:xfrm>
            <a:off x="1051560" y="3922776"/>
            <a:ext cx="320040" cy="329184"/>
          </a:xfrm>
          <a:prstGeom prst="rect">
            <a:avLst/>
          </a:prstGeom>
          <a:noFill/>
          <a:ln/>
        </p:spPr>
        <p:txBody>
          <a:bodyPr wrap="square" lIns="0" tIns="0" rIns="0" bIns="0" rtlCol="0" anchor="ctr"/>
          <a:lstStyle/>
          <a:p>
            <a:pPr marL="0" indent="0" algn="ctr">
              <a:buNone/>
            </a:pPr>
            <a:r>
              <a:rPr lang="en-US" sz="1000" dirty="0">
                <a:solidFill>
                  <a:srgbClr val="FF6B6B"/>
                </a:solidFill>
                <a:latin typeface="Calibri" pitchFamily="34" charset="0"/>
                <a:ea typeface="Calibri" pitchFamily="34" charset="-122"/>
                <a:cs typeface="Calibri" pitchFamily="34" charset="-120"/>
              </a:rPr>
              <a:t>▶</a:t>
            </a:r>
            <a:endParaRPr lang="en-US" sz="1000" dirty="0"/>
          </a:p>
        </p:txBody>
      </p:sp>
      <p:sp>
        <p:nvSpPr>
          <p:cNvPr id="32" name="Text 30"/>
          <p:cNvSpPr/>
          <p:nvPr/>
        </p:nvSpPr>
        <p:spPr>
          <a:xfrm>
            <a:off x="1371600" y="3922776"/>
            <a:ext cx="7315200" cy="329184"/>
          </a:xfrm>
          <a:prstGeom prst="rect">
            <a:avLst/>
          </a:prstGeom>
          <a:noFill/>
          <a:ln/>
        </p:spPr>
        <p:txBody>
          <a:bodyPr wrap="square" lIns="0" tIns="0" rIns="0" bIns="0" rtlCol="0" anchor="ctr"/>
          <a:lstStyle/>
          <a:p>
            <a:pPr marL="0" indent="0">
              <a:buNone/>
            </a:pPr>
            <a:r>
              <a:rPr lang="en-US" sz="1000" dirty="0">
                <a:solidFill>
                  <a:srgbClr val="FFFFFF"/>
                </a:solidFill>
                <a:latin typeface="Calibri" pitchFamily="34" charset="0"/>
                <a:ea typeface="Calibri" pitchFamily="34" charset="-122"/>
                <a:cs typeface="Calibri" pitchFamily="34" charset="-120"/>
              </a:rPr>
              <a:t>Monitors status and updates the patient by WhatsApp, SMS or email — whichever they prefer</a:t>
            </a:r>
            <a:endParaRPr lang="en-US" sz="1100" dirty="0"/>
          </a:p>
        </p:txBody>
      </p:sp>
      <p:sp>
        <p:nvSpPr>
          <p:cNvPr id="33" name="Shape 31"/>
          <p:cNvSpPr/>
          <p:nvPr/>
        </p:nvSpPr>
        <p:spPr>
          <a:xfrm>
            <a:off x="1828800" y="4343400"/>
            <a:ext cx="5486400" cy="256032"/>
          </a:xfrm>
          <a:prstGeom prst="roundRect">
            <a:avLst>
              <a:gd name="adj" fmla="val 35714"/>
            </a:avLst>
          </a:prstGeom>
          <a:solidFill>
            <a:srgbClr val="0D0D0D"/>
          </a:solidFill>
          <a:ln w="9525">
            <a:solidFill>
              <a:srgbClr val="FF9900"/>
            </a:solidFill>
            <a:prstDash val="solid"/>
          </a:ln>
        </p:spPr>
        <p:txBody>
          <a:bodyPr/>
          <a:lstStyle/>
          <a:p>
            <a:endParaRPr lang="en-AE"/>
          </a:p>
        </p:txBody>
      </p:sp>
      <p:sp>
        <p:nvSpPr>
          <p:cNvPr id="34" name="Text 32"/>
          <p:cNvSpPr/>
          <p:nvPr/>
        </p:nvSpPr>
        <p:spPr>
          <a:xfrm>
            <a:off x="1828800" y="4343400"/>
            <a:ext cx="5486400" cy="256032"/>
          </a:xfrm>
          <a:prstGeom prst="rect">
            <a:avLst/>
          </a:prstGeom>
          <a:noFill/>
          <a:ln/>
        </p:spPr>
        <p:txBody>
          <a:bodyPr wrap="square" lIns="0" tIns="0" rIns="0" bIns="0" rtlCol="0" anchor="ctr"/>
          <a:lstStyle/>
          <a:p>
            <a:pPr marL="0" indent="0" algn="ctr">
              <a:buNone/>
            </a:pPr>
            <a:r>
              <a:rPr lang="en-US" sz="900" b="1" dirty="0">
                <a:solidFill>
                  <a:srgbClr val="FF9900"/>
                </a:solidFill>
                <a:latin typeface="Calibri" pitchFamily="34" charset="0"/>
                <a:ea typeface="Calibri" pitchFamily="34" charset="-122"/>
                <a:cs typeface="Calibri" pitchFamily="34" charset="-120"/>
              </a:rPr>
              <a:t>⚡ This is an AGENT that takes action — not a chatbot that answers questions</a:t>
            </a:r>
            <a:endParaRPr lang="en-US" sz="900" dirty="0"/>
          </a:p>
        </p:txBody>
      </p:sp>
      <p:sp>
        <p:nvSpPr>
          <p:cNvPr id="35" name="Shape 33"/>
          <p:cNvSpPr/>
          <p:nvPr/>
        </p:nvSpPr>
        <p:spPr>
          <a:xfrm>
            <a:off x="0" y="4663440"/>
            <a:ext cx="9144000" cy="480060"/>
          </a:xfrm>
          <a:prstGeom prst="rect">
            <a:avLst/>
          </a:prstGeom>
          <a:solidFill>
            <a:srgbClr val="080D18"/>
          </a:solidFill>
          <a:ln/>
        </p:spPr>
        <p:txBody>
          <a:bodyPr/>
          <a:lstStyle/>
          <a:p>
            <a:endParaRPr lang="en-AE"/>
          </a:p>
        </p:txBody>
      </p:sp>
      <p:sp>
        <p:nvSpPr>
          <p:cNvPr id="36" name="Shape 34"/>
          <p:cNvSpPr/>
          <p:nvPr/>
        </p:nvSpPr>
        <p:spPr>
          <a:xfrm>
            <a:off x="0" y="4663440"/>
            <a:ext cx="9144000" cy="45720"/>
          </a:xfrm>
          <a:prstGeom prst="rect">
            <a:avLst/>
          </a:prstGeom>
          <a:solidFill>
            <a:srgbClr val="FF9900"/>
          </a:solidFill>
          <a:ln/>
        </p:spPr>
        <p:txBody>
          <a:bodyPr/>
          <a:lstStyle/>
          <a:p>
            <a:endParaRPr lang="en-AE"/>
          </a:p>
        </p:txBody>
      </p:sp>
      <p:sp>
        <p:nvSpPr>
          <p:cNvPr id="37" name="Text 35"/>
          <p:cNvSpPr/>
          <p:nvPr/>
        </p:nvSpPr>
        <p:spPr>
          <a:xfrm>
            <a:off x="365760" y="4736592"/>
            <a:ext cx="8412480" cy="320040"/>
          </a:xfrm>
          <a:prstGeom prst="rect">
            <a:avLst/>
          </a:prstGeom>
          <a:noFill/>
          <a:ln/>
        </p:spPr>
        <p:txBody>
          <a:bodyPr wrap="square" lIns="0" tIns="0" rIns="0" bIns="0" rtlCol="0" anchor="ctr"/>
          <a:lstStyle/>
          <a:p>
            <a:pPr marL="0" indent="0" algn="ctr">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marL="0" indent="0" algn="r">
              <a:buNone/>
            </a:pPr>
            <a:r>
              <a:rPr lang="en-US" sz="900" dirty="0">
                <a:solidFill>
                  <a:srgbClr val="5C7090"/>
                </a:solidFill>
                <a:latin typeface="Consolas" pitchFamily="34" charset="0"/>
                <a:ea typeface="Consolas" pitchFamily="34" charset="-122"/>
                <a:cs typeface="Consolas" pitchFamily="34" charset="-120"/>
              </a:rPr>
              <a:t>4</a:t>
            </a:r>
            <a:endParaRPr lang="en-US" sz="900" dirty="0"/>
          </a:p>
        </p:txBody>
      </p:sp>
      <p:sp>
        <p:nvSpPr>
          <p:cNvPr id="3" name="Text 1"/>
          <p:cNvSpPr/>
          <p:nvPr/>
        </p:nvSpPr>
        <p:spPr>
          <a:xfrm>
            <a:off x="457200" y="182880"/>
            <a:ext cx="4572000" cy="502920"/>
          </a:xfrm>
          <a:prstGeom prst="rect">
            <a:avLst/>
          </a:prstGeom>
          <a:noFill/>
          <a:ln/>
        </p:spPr>
        <p:txBody>
          <a:bodyPr wrap="square" lIns="0" tIns="0" rIns="0" bIns="0" rtlCol="0" anchor="ctr"/>
          <a:lstStyle/>
          <a:p>
            <a:pPr marL="0" indent="0">
              <a:buNone/>
            </a:pPr>
            <a:r>
              <a:rPr lang="en-US" sz="2400" dirty="0">
                <a:solidFill>
                  <a:srgbClr val="FFFFFF"/>
                </a:solidFill>
                <a:latin typeface="Arial Black" pitchFamily="34" charset="0"/>
                <a:ea typeface="Arial Black" pitchFamily="34" charset="-122"/>
                <a:cs typeface="Arial Black" pitchFamily="34" charset="-120"/>
              </a:rPr>
              <a:t>CONNECTED CARE</a:t>
            </a:r>
            <a:endParaRPr lang="en-US" sz="2400" dirty="0"/>
          </a:p>
        </p:txBody>
      </p:sp>
      <p:sp>
        <p:nvSpPr>
          <p:cNvPr id="4" name="Shape 2"/>
          <p:cNvSpPr/>
          <p:nvPr/>
        </p:nvSpPr>
        <p:spPr>
          <a:xfrm>
            <a:off x="457200" y="731520"/>
            <a:ext cx="1828800" cy="45720"/>
          </a:xfrm>
          <a:prstGeom prst="rect">
            <a:avLst/>
          </a:prstGeom>
          <a:solidFill>
            <a:srgbClr val="7CFC00"/>
          </a:solidFill>
          <a:ln/>
        </p:spPr>
        <p:txBody>
          <a:bodyPr/>
          <a:lstStyle/>
          <a:p>
            <a:endParaRPr lang="en-AE"/>
          </a:p>
        </p:txBody>
      </p:sp>
      <p:sp>
        <p:nvSpPr>
          <p:cNvPr id="5" name="Shape 3"/>
          <p:cNvSpPr/>
          <p:nvPr/>
        </p:nvSpPr>
        <p:spPr>
          <a:xfrm>
            <a:off x="6583680" y="228600"/>
            <a:ext cx="1828800" cy="274320"/>
          </a:xfrm>
          <a:prstGeom prst="roundRect">
            <a:avLst>
              <a:gd name="adj" fmla="val 50000"/>
            </a:avLst>
          </a:prstGeom>
          <a:solidFill>
            <a:srgbClr val="000000"/>
          </a:solidFill>
          <a:ln w="9525">
            <a:solidFill>
              <a:srgbClr val="7CFC00"/>
            </a:solidFill>
            <a:prstDash val="solid"/>
          </a:ln>
        </p:spPr>
        <p:txBody>
          <a:bodyPr/>
          <a:lstStyle/>
          <a:p>
            <a:endParaRPr lang="en-AE"/>
          </a:p>
        </p:txBody>
      </p:sp>
      <p:sp>
        <p:nvSpPr>
          <p:cNvPr id="6" name="Text 4"/>
          <p:cNvSpPr/>
          <p:nvPr/>
        </p:nvSpPr>
        <p:spPr>
          <a:xfrm>
            <a:off x="6583680" y="228600"/>
            <a:ext cx="1828800" cy="274320"/>
          </a:xfrm>
          <a:prstGeom prst="rect">
            <a:avLst/>
          </a:prstGeom>
          <a:noFill/>
          <a:ln/>
        </p:spPr>
        <p:txBody>
          <a:bodyPr wrap="square" lIns="0" tIns="0" rIns="0" bIns="0" rtlCol="0" anchor="ctr"/>
          <a:lstStyle/>
          <a:p>
            <a:pPr marL="0" indent="0" algn="ctr">
              <a:buNone/>
            </a:pPr>
            <a:r>
              <a:rPr lang="en-US" sz="850" b="1" dirty="0">
                <a:solidFill>
                  <a:srgbClr val="7CFC00"/>
                </a:solidFill>
                <a:latin typeface="Calibri" pitchFamily="34" charset="0"/>
                <a:ea typeface="Calibri" pitchFamily="34" charset="-122"/>
                <a:cs typeface="Calibri" pitchFamily="34" charset="-120"/>
              </a:rPr>
              <a:t>🤝 PATIENT · HOSPITAL · INSURER</a:t>
            </a:r>
            <a:endParaRPr lang="en-US" sz="850" dirty="0"/>
          </a:p>
        </p:txBody>
      </p:sp>
      <p:sp>
        <p:nvSpPr>
          <p:cNvPr id="7" name="Shape 5"/>
          <p:cNvSpPr/>
          <p:nvPr/>
        </p:nvSpPr>
        <p:spPr>
          <a:xfrm>
            <a:off x="457200" y="1051560"/>
            <a:ext cx="2560320" cy="1143000"/>
          </a:xfrm>
          <a:prstGeom prst="roundRect">
            <a:avLst>
              <a:gd name="adj" fmla="val 8000"/>
            </a:avLst>
          </a:prstGeom>
          <a:solidFill>
            <a:srgbClr val="141E30"/>
          </a:solidFill>
          <a:ln w="9525">
            <a:solidFill>
              <a:srgbClr val="FF9900"/>
            </a:solidFill>
            <a:prstDash val="solid"/>
          </a:ln>
        </p:spPr>
        <p:txBody>
          <a:bodyPr/>
          <a:lstStyle/>
          <a:p>
            <a:endParaRPr lang="en-AE"/>
          </a:p>
        </p:txBody>
      </p:sp>
      <p:sp>
        <p:nvSpPr>
          <p:cNvPr id="8" name="Text 6"/>
          <p:cNvSpPr/>
          <p:nvPr/>
        </p:nvSpPr>
        <p:spPr>
          <a:xfrm>
            <a:off x="594360" y="1124712"/>
            <a:ext cx="2286000" cy="320040"/>
          </a:xfrm>
          <a:prstGeom prst="rect">
            <a:avLst/>
          </a:prstGeom>
          <a:noFill/>
          <a:ln/>
        </p:spPr>
        <p:txBody>
          <a:bodyPr wrap="square" lIns="0" tIns="0" rIns="0" bIns="0" rtlCol="0" anchor="ctr"/>
          <a:lstStyle/>
          <a:p>
            <a:pPr marL="0" indent="0">
              <a:buNone/>
            </a:pPr>
            <a:r>
              <a:rPr lang="en-US" sz="1200" dirty="0">
                <a:solidFill>
                  <a:srgbClr val="FF9900"/>
                </a:solidFill>
                <a:latin typeface="Arial Black" pitchFamily="34" charset="0"/>
                <a:ea typeface="Arial Black" pitchFamily="34" charset="-122"/>
                <a:cs typeface="Arial Black" pitchFamily="34" charset="-120"/>
              </a:rPr>
              <a:t>📋  Check your cover</a:t>
            </a:r>
            <a:endParaRPr lang="en-US" sz="1200" dirty="0"/>
          </a:p>
        </p:txBody>
      </p:sp>
      <p:sp>
        <p:nvSpPr>
          <p:cNvPr id="9" name="Text 7"/>
          <p:cNvSpPr/>
          <p:nvPr/>
        </p:nvSpPr>
        <p:spPr>
          <a:xfrm>
            <a:off x="594360" y="1463040"/>
            <a:ext cx="2286000" cy="640080"/>
          </a:xfrm>
          <a:prstGeom prst="rect">
            <a:avLst/>
          </a:prstGeom>
          <a:noFill/>
          <a:ln/>
        </p:spPr>
        <p:txBody>
          <a:bodyPr wrap="square" lIns="0" tIns="0" rIns="0" bIns="0" rtlCol="0" anchor="t"/>
          <a:lstStyle/>
          <a:p>
            <a:pPr marL="0" indent="0">
              <a:lnSpc>
                <a:spcPts val="1300"/>
              </a:lnSpc>
              <a:buNone/>
            </a:pPr>
            <a:r>
              <a:rPr lang="en-US" sz="900" dirty="0">
                <a:solidFill>
                  <a:srgbClr val="A8B8CC"/>
                </a:solidFill>
                <a:latin typeface="Calibri" pitchFamily="34" charset="0"/>
                <a:ea typeface="Calibri" pitchFamily="34" charset="-122"/>
                <a:cs typeface="Calibri" pitchFamily="34" charset="-120"/>
              </a:rPr>
              <a:t>Reads the plan on the patient record and shows which providers accept it before booking.</a:t>
            </a:r>
            <a:endParaRPr lang="en-US" sz="900" dirty="0"/>
          </a:p>
        </p:txBody>
      </p:sp>
      <p:sp>
        <p:nvSpPr>
          <p:cNvPr id="10" name="Shape 8"/>
          <p:cNvSpPr/>
          <p:nvPr/>
        </p:nvSpPr>
        <p:spPr>
          <a:xfrm>
            <a:off x="3200400" y="1051560"/>
            <a:ext cx="2560320" cy="1143000"/>
          </a:xfrm>
          <a:prstGeom prst="roundRect">
            <a:avLst>
              <a:gd name="adj" fmla="val 8000"/>
            </a:avLst>
          </a:prstGeom>
          <a:solidFill>
            <a:srgbClr val="141E30"/>
          </a:solidFill>
          <a:ln w="9525">
            <a:solidFill>
              <a:srgbClr val="00D4FF"/>
            </a:solidFill>
            <a:prstDash val="solid"/>
          </a:ln>
        </p:spPr>
        <p:txBody>
          <a:bodyPr/>
          <a:lstStyle/>
          <a:p>
            <a:endParaRPr lang="en-AE"/>
          </a:p>
        </p:txBody>
      </p:sp>
      <p:sp>
        <p:nvSpPr>
          <p:cNvPr id="11" name="Text 9"/>
          <p:cNvSpPr/>
          <p:nvPr/>
        </p:nvSpPr>
        <p:spPr>
          <a:xfrm>
            <a:off x="3337560" y="1124712"/>
            <a:ext cx="2286000" cy="320040"/>
          </a:xfrm>
          <a:prstGeom prst="rect">
            <a:avLst/>
          </a:prstGeom>
          <a:noFill/>
          <a:ln/>
        </p:spPr>
        <p:txBody>
          <a:bodyPr wrap="square" lIns="0" tIns="0" rIns="0" bIns="0" rtlCol="0" anchor="ctr"/>
          <a:lstStyle/>
          <a:p>
            <a:pPr marL="0" indent="0">
              <a:buNone/>
            </a:pPr>
            <a:r>
              <a:rPr lang="en-US" sz="1200" dirty="0">
                <a:solidFill>
                  <a:srgbClr val="00D4FF"/>
                </a:solidFill>
                <a:latin typeface="Arial Black" pitchFamily="34" charset="0"/>
                <a:ea typeface="Arial Black" pitchFamily="34" charset="-122"/>
                <a:cs typeface="Arial Black" pitchFamily="34" charset="-120"/>
              </a:rPr>
              <a:t>🏥  Book the hospital</a:t>
            </a:r>
            <a:endParaRPr lang="en-US" sz="1200" dirty="0"/>
          </a:p>
        </p:txBody>
      </p:sp>
      <p:sp>
        <p:nvSpPr>
          <p:cNvPr id="12" name="Text 10"/>
          <p:cNvSpPr/>
          <p:nvPr/>
        </p:nvSpPr>
        <p:spPr>
          <a:xfrm>
            <a:off x="3337560" y="1463040"/>
            <a:ext cx="2286000" cy="640080"/>
          </a:xfrm>
          <a:prstGeom prst="rect">
            <a:avLst/>
          </a:prstGeom>
          <a:noFill/>
          <a:ln/>
        </p:spPr>
        <p:txBody>
          <a:bodyPr wrap="square" lIns="0" tIns="0" rIns="0" bIns="0" rtlCol="0" anchor="t"/>
          <a:lstStyle/>
          <a:p>
            <a:pPr marL="0" indent="0">
              <a:lnSpc>
                <a:spcPts val="1300"/>
              </a:lnSpc>
              <a:buNone/>
            </a:pPr>
            <a:r>
              <a:rPr lang="en-US" sz="900" dirty="0">
                <a:solidFill>
                  <a:srgbClr val="A8B8CC"/>
                </a:solidFill>
                <a:latin typeface="Calibri" pitchFamily="34" charset="0"/>
                <a:ea typeface="Calibri" pitchFamily="34" charset="-122"/>
                <a:cs typeface="Calibri" pitchFamily="34" charset="-120"/>
              </a:rPr>
              <a:t>Books through the tools API, or the voice agent phones the clinic and reports the slot.</a:t>
            </a:r>
            <a:endParaRPr lang="en-US" sz="900" dirty="0"/>
          </a:p>
        </p:txBody>
      </p:sp>
      <p:sp>
        <p:nvSpPr>
          <p:cNvPr id="13" name="Shape 11"/>
          <p:cNvSpPr/>
          <p:nvPr/>
        </p:nvSpPr>
        <p:spPr>
          <a:xfrm>
            <a:off x="457200" y="2377440"/>
            <a:ext cx="2560320" cy="1143000"/>
          </a:xfrm>
          <a:prstGeom prst="roundRect">
            <a:avLst>
              <a:gd name="adj" fmla="val 8000"/>
            </a:avLst>
          </a:prstGeom>
          <a:solidFill>
            <a:srgbClr val="141E30"/>
          </a:solidFill>
          <a:ln w="9525">
            <a:solidFill>
              <a:srgbClr val="A855F7"/>
            </a:solidFill>
            <a:prstDash val="solid"/>
          </a:ln>
        </p:spPr>
        <p:txBody>
          <a:bodyPr/>
          <a:lstStyle/>
          <a:p>
            <a:endParaRPr lang="en-AE"/>
          </a:p>
        </p:txBody>
      </p:sp>
      <p:sp>
        <p:nvSpPr>
          <p:cNvPr id="14" name="Text 12"/>
          <p:cNvSpPr/>
          <p:nvPr/>
        </p:nvSpPr>
        <p:spPr>
          <a:xfrm>
            <a:off x="594360" y="2450592"/>
            <a:ext cx="2286000" cy="320040"/>
          </a:xfrm>
          <a:prstGeom prst="rect">
            <a:avLst/>
          </a:prstGeom>
          <a:noFill/>
          <a:ln/>
        </p:spPr>
        <p:txBody>
          <a:bodyPr wrap="square" lIns="0" tIns="0" rIns="0" bIns="0" rtlCol="0" anchor="ctr"/>
          <a:lstStyle/>
          <a:p>
            <a:pPr marL="0" indent="0">
              <a:buNone/>
            </a:pPr>
            <a:r>
              <a:rPr lang="en-US" sz="1200" dirty="0">
                <a:solidFill>
                  <a:srgbClr val="A855F7"/>
                </a:solidFill>
                <a:latin typeface="Arial Black" pitchFamily="34" charset="0"/>
                <a:ea typeface="Arial Black" pitchFamily="34" charset="-122"/>
                <a:cs typeface="Arial Black" pitchFamily="34" charset="-120"/>
              </a:rPr>
              <a:t>🛡  Insurer pre-approval</a:t>
            </a:r>
            <a:endParaRPr lang="en-US" sz="1200" dirty="0"/>
          </a:p>
        </p:txBody>
      </p:sp>
      <p:sp>
        <p:nvSpPr>
          <p:cNvPr id="15" name="Text 13"/>
          <p:cNvSpPr/>
          <p:nvPr/>
        </p:nvSpPr>
        <p:spPr>
          <a:xfrm>
            <a:off x="594360" y="2788920"/>
            <a:ext cx="2286000" cy="640080"/>
          </a:xfrm>
          <a:prstGeom prst="rect">
            <a:avLst/>
          </a:prstGeom>
          <a:noFill/>
          <a:ln/>
        </p:spPr>
        <p:txBody>
          <a:bodyPr wrap="square" lIns="0" tIns="0" rIns="0" bIns="0" rtlCol="0" anchor="t"/>
          <a:lstStyle/>
          <a:p>
            <a:pPr marL="0" indent="0">
              <a:lnSpc>
                <a:spcPts val="1300"/>
              </a:lnSpc>
              <a:buNone/>
            </a:pPr>
            <a:r>
              <a:rPr lang="en-US" sz="900" dirty="0">
                <a:solidFill>
                  <a:srgbClr val="A8B8CC"/>
                </a:solidFill>
                <a:latin typeface="Calibri" pitchFamily="34" charset="0"/>
                <a:ea typeface="Calibri" pitchFamily="34" charset="-122"/>
                <a:cs typeface="Calibri" pitchFamily="34" charset="-120"/>
              </a:rPr>
              <a:t>The voice agent calls the insurer with visit details and returns approval or what's missing.</a:t>
            </a:r>
            <a:endParaRPr lang="en-US" sz="900" dirty="0"/>
          </a:p>
        </p:txBody>
      </p:sp>
      <p:sp>
        <p:nvSpPr>
          <p:cNvPr id="16" name="Shape 14"/>
          <p:cNvSpPr/>
          <p:nvPr/>
        </p:nvSpPr>
        <p:spPr>
          <a:xfrm>
            <a:off x="3200400" y="2377440"/>
            <a:ext cx="2560320" cy="1143000"/>
          </a:xfrm>
          <a:prstGeom prst="roundRect">
            <a:avLst>
              <a:gd name="adj" fmla="val 8000"/>
            </a:avLst>
          </a:prstGeom>
          <a:solidFill>
            <a:srgbClr val="141E30"/>
          </a:solidFill>
          <a:ln w="9525">
            <a:solidFill>
              <a:srgbClr val="7CFC00"/>
            </a:solidFill>
            <a:prstDash val="solid"/>
          </a:ln>
        </p:spPr>
        <p:txBody>
          <a:bodyPr/>
          <a:lstStyle/>
          <a:p>
            <a:endParaRPr lang="en-AE"/>
          </a:p>
        </p:txBody>
      </p:sp>
      <p:sp>
        <p:nvSpPr>
          <p:cNvPr id="17" name="Text 15"/>
          <p:cNvSpPr/>
          <p:nvPr/>
        </p:nvSpPr>
        <p:spPr>
          <a:xfrm>
            <a:off x="3337560" y="2450592"/>
            <a:ext cx="2286000" cy="320040"/>
          </a:xfrm>
          <a:prstGeom prst="rect">
            <a:avLst/>
          </a:prstGeom>
          <a:noFill/>
          <a:ln/>
        </p:spPr>
        <p:txBody>
          <a:bodyPr wrap="square" lIns="0" tIns="0" rIns="0" bIns="0" rtlCol="0" anchor="ctr"/>
          <a:lstStyle/>
          <a:p>
            <a:pPr marL="0" indent="0">
              <a:buNone/>
            </a:pPr>
            <a:r>
              <a:rPr lang="en-US" sz="1200" dirty="0">
                <a:solidFill>
                  <a:srgbClr val="7CFC00"/>
                </a:solidFill>
                <a:latin typeface="Arial Black" pitchFamily="34" charset="0"/>
                <a:ea typeface="Arial Black" pitchFamily="34" charset="-122"/>
                <a:cs typeface="Arial Black" pitchFamily="34" charset="-120"/>
              </a:rPr>
              <a:t>💡  Plan guidance</a:t>
            </a:r>
            <a:endParaRPr lang="en-US" sz="1200" dirty="0"/>
          </a:p>
        </p:txBody>
      </p:sp>
      <p:sp>
        <p:nvSpPr>
          <p:cNvPr id="18" name="Text 16"/>
          <p:cNvSpPr/>
          <p:nvPr/>
        </p:nvSpPr>
        <p:spPr>
          <a:xfrm>
            <a:off x="3337560" y="2788920"/>
            <a:ext cx="2286000" cy="640080"/>
          </a:xfrm>
          <a:prstGeom prst="rect">
            <a:avLst/>
          </a:prstGeom>
          <a:noFill/>
          <a:ln/>
        </p:spPr>
        <p:txBody>
          <a:bodyPr wrap="square" lIns="0" tIns="0" rIns="0" bIns="0" rtlCol="0" anchor="t"/>
          <a:lstStyle/>
          <a:p>
            <a:pPr marL="0" indent="0">
              <a:lnSpc>
                <a:spcPts val="1300"/>
              </a:lnSpc>
              <a:buNone/>
            </a:pPr>
            <a:r>
              <a:rPr lang="en-US" sz="900" dirty="0">
                <a:solidFill>
                  <a:srgbClr val="A8B8CC"/>
                </a:solidFill>
                <a:latin typeface="Calibri" pitchFamily="34" charset="0"/>
                <a:ea typeface="Calibri" pitchFamily="34" charset="-122"/>
                <a:cs typeface="Calibri" pitchFamily="34" charset="-120"/>
              </a:rPr>
              <a:t>For conditions already on record, shows plans covering the needed specialists. A licensed advisor confirms.</a:t>
            </a:r>
            <a:endParaRPr lang="en-US" sz="900" dirty="0"/>
          </a:p>
        </p:txBody>
      </p:sp>
      <p:sp>
        <p:nvSpPr>
          <p:cNvPr id="19" name="Shape 17"/>
          <p:cNvSpPr/>
          <p:nvPr/>
        </p:nvSpPr>
        <p:spPr>
          <a:xfrm>
            <a:off x="5669280" y="1051560"/>
            <a:ext cx="3108960" cy="2606040"/>
          </a:xfrm>
          <a:prstGeom prst="roundRect">
            <a:avLst>
              <a:gd name="adj" fmla="val 4211"/>
            </a:avLst>
          </a:prstGeom>
          <a:solidFill>
            <a:srgbClr val="0A0F1A"/>
          </a:solidFill>
          <a:ln w="9525">
            <a:solidFill>
              <a:srgbClr val="7CFC00"/>
            </a:solidFill>
            <a:prstDash val="dash"/>
          </a:ln>
        </p:spPr>
        <p:txBody>
          <a:bodyPr/>
          <a:lstStyle/>
          <a:p>
            <a:endParaRPr lang="en-AE"/>
          </a:p>
        </p:txBody>
      </p:sp>
      <p:sp>
        <p:nvSpPr>
          <p:cNvPr id="22" name="Shape 20"/>
          <p:cNvSpPr/>
          <p:nvPr/>
        </p:nvSpPr>
        <p:spPr>
          <a:xfrm>
            <a:off x="0" y="4663440"/>
            <a:ext cx="9144000" cy="480060"/>
          </a:xfrm>
          <a:prstGeom prst="rect">
            <a:avLst/>
          </a:prstGeom>
          <a:solidFill>
            <a:srgbClr val="080D18"/>
          </a:solidFill>
          <a:ln/>
        </p:spPr>
        <p:txBody>
          <a:bodyPr/>
          <a:lstStyle/>
          <a:p>
            <a:endParaRPr lang="en-AE"/>
          </a:p>
        </p:txBody>
      </p:sp>
      <p:sp>
        <p:nvSpPr>
          <p:cNvPr id="23" name="Shape 21"/>
          <p:cNvSpPr/>
          <p:nvPr/>
        </p:nvSpPr>
        <p:spPr>
          <a:xfrm>
            <a:off x="0" y="4663440"/>
            <a:ext cx="9144000" cy="45720"/>
          </a:xfrm>
          <a:prstGeom prst="rect">
            <a:avLst/>
          </a:prstGeom>
          <a:solidFill>
            <a:srgbClr val="FF9900"/>
          </a:solidFill>
          <a:ln/>
        </p:spPr>
        <p:txBody>
          <a:bodyPr/>
          <a:lstStyle/>
          <a:p>
            <a:endParaRPr lang="en-AE"/>
          </a:p>
        </p:txBody>
      </p:sp>
      <p:sp>
        <p:nvSpPr>
          <p:cNvPr id="24" name="Text 22"/>
          <p:cNvSpPr/>
          <p:nvPr/>
        </p:nvSpPr>
        <p:spPr>
          <a:xfrm>
            <a:off x="365760" y="4736592"/>
            <a:ext cx="8412480" cy="320040"/>
          </a:xfrm>
          <a:prstGeom prst="rect">
            <a:avLst/>
          </a:prstGeom>
          <a:noFill/>
          <a:ln/>
        </p:spPr>
        <p:txBody>
          <a:bodyPr wrap="square" lIns="0" tIns="0" rIns="0" bIns="0" rtlCol="0" anchor="ctr"/>
          <a:lstStyle/>
          <a:p>
            <a:pPr marL="0" indent="0" algn="ctr">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pic>
        <p:nvPicPr>
          <p:cNvPr id="25" name="Picture 24" descr="journey.png"/>
          <p:cNvPicPr>
            <a:picLocks noChangeAspect="1"/>
          </p:cNvPicPr>
          <p:nvPr/>
        </p:nvPicPr>
        <p:blipFill>
          <a:blip r:embed="rId3"/>
          <a:stretch>
            <a:fillRect/>
          </a:stretch>
        </p:blipFill>
        <p:spPr>
          <a:xfrm>
            <a:off x="5760720" y="1188720"/>
            <a:ext cx="2926080" cy="1828800"/>
          </a:xfrm>
          <a:prstGeom prst="rect">
            <a:avLst/>
          </a:prstGeom>
        </p:spPr>
      </p:pic>
      <p:sp>
        <p:nvSpPr>
          <p:cNvPr id="26" name="TextBox 25"/>
          <p:cNvSpPr txBox="1"/>
          <p:nvPr/>
        </p:nvSpPr>
        <p:spPr>
          <a:xfrm>
            <a:off x="5760720" y="3063240"/>
            <a:ext cx="2926080" cy="502920"/>
          </a:xfrm>
          <a:prstGeom prst="rect">
            <a:avLst/>
          </a:prstGeom>
          <a:noFill/>
        </p:spPr>
        <p:txBody>
          <a:bodyPr wrap="square" lIns="0" tIns="0" rIns="0" bIns="0" anchor="t">
            <a:spAutoFit/>
          </a:bodyPr>
          <a:lstStyle/>
          <a:p>
            <a:pPr algn="l">
              <a:spcAft>
                <a:spcPts val="200"/>
              </a:spcAft>
            </a:pPr>
            <a:r>
              <a:rPr sz="900" b="0">
                <a:solidFill>
                  <a:srgbClr val="A8B8CC"/>
                </a:solidFill>
                <a:latin typeface="Calibri"/>
              </a:rPr>
              <a:t>Journey tracker: intake → booking → insurance → pharmacy</a:t>
            </a:r>
          </a:p>
        </p:txBody>
      </p:sp>
      <p:sp>
        <p:nvSpPr>
          <p:cNvPr id="27" name="TextBox 26"/>
          <p:cNvSpPr txBox="1"/>
          <p:nvPr/>
        </p:nvSpPr>
        <p:spPr>
          <a:xfrm>
            <a:off x="457200" y="3749039"/>
            <a:ext cx="8229600" cy="457200"/>
          </a:xfrm>
          <a:prstGeom prst="rect">
            <a:avLst/>
          </a:prstGeom>
          <a:noFill/>
        </p:spPr>
        <p:txBody>
          <a:bodyPr wrap="square" lIns="0" tIns="0" rIns="0" bIns="0" anchor="t">
            <a:spAutoFit/>
          </a:bodyPr>
          <a:lstStyle/>
          <a:p>
            <a:pPr algn="l">
              <a:spcAft>
                <a:spcPts val="200"/>
              </a:spcAft>
            </a:pPr>
            <a:r>
              <a:rPr sz="1000" b="1">
                <a:solidFill>
                  <a:srgbClr val="FF9900"/>
                </a:solidFill>
                <a:latin typeface="Calibri"/>
              </a:rPr>
              <a:t>Today: </a:t>
            </a:r>
            <a:r>
              <a:rPr sz="1000" b="0">
                <a:solidFill>
                  <a:srgbClr val="A8B8CC"/>
                </a:solidFill>
                <a:latin typeface="Calibri"/>
              </a:rPr>
              <a:t>coverage-aware provider matching and clinic/insurer calls.  </a:t>
            </a:r>
            <a:r>
              <a:rPr sz="1000" b="1">
                <a:solidFill>
                  <a:srgbClr val="00D4FF"/>
                </a:solidFill>
                <a:latin typeface="Calibri"/>
              </a:rPr>
              <a:t>Next: </a:t>
            </a:r>
            <a:r>
              <a:rPr sz="1000" b="0">
                <a:solidFill>
                  <a:srgbClr val="A8B8CC"/>
                </a:solidFill>
                <a:latin typeface="Calibri"/>
              </a:rPr>
              <a:t>live eligibility checks and plan comparison with partner insurers. Guidance only — no diagnosis, no financial advice.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marL="0" indent="0" algn="r">
              <a:buNone/>
            </a:pPr>
            <a:r>
              <a:rPr lang="en-US" sz="900" dirty="0">
                <a:solidFill>
                  <a:srgbClr val="5C7090"/>
                </a:solidFill>
                <a:latin typeface="Consolas" pitchFamily="34" charset="0"/>
                <a:ea typeface="Consolas" pitchFamily="34" charset="-122"/>
                <a:cs typeface="Consolas" pitchFamily="34" charset="-120"/>
              </a:rPr>
              <a:t>5</a:t>
            </a:r>
            <a:endParaRPr lang="en-US" sz="900" dirty="0"/>
          </a:p>
        </p:txBody>
      </p:sp>
      <p:sp>
        <p:nvSpPr>
          <p:cNvPr id="3" name="Text 1"/>
          <p:cNvSpPr/>
          <p:nvPr/>
        </p:nvSpPr>
        <p:spPr>
          <a:xfrm>
            <a:off x="457200" y="182880"/>
            <a:ext cx="3657600" cy="502920"/>
          </a:xfrm>
          <a:prstGeom prst="rect">
            <a:avLst/>
          </a:prstGeom>
          <a:noFill/>
          <a:ln/>
        </p:spPr>
        <p:txBody>
          <a:bodyPr wrap="square" lIns="0" tIns="0" rIns="0" bIns="0" rtlCol="0" anchor="ctr"/>
          <a:lstStyle/>
          <a:p>
            <a:pPr marL="0" indent="0">
              <a:buNone/>
            </a:pPr>
            <a:r>
              <a:rPr lang="en-US" sz="2400" dirty="0">
                <a:solidFill>
                  <a:srgbClr val="FFFFFF"/>
                </a:solidFill>
                <a:latin typeface="Arial Black" pitchFamily="34" charset="0"/>
                <a:ea typeface="Arial Black" pitchFamily="34" charset="-122"/>
                <a:cs typeface="Arial Black" pitchFamily="34" charset="-120"/>
              </a:rPr>
              <a:t>AGENTIC FLOW</a:t>
            </a:r>
            <a:endParaRPr lang="en-US" sz="2400" dirty="0"/>
          </a:p>
        </p:txBody>
      </p:sp>
      <p:sp>
        <p:nvSpPr>
          <p:cNvPr id="4" name="Shape 2"/>
          <p:cNvSpPr/>
          <p:nvPr/>
        </p:nvSpPr>
        <p:spPr>
          <a:xfrm>
            <a:off x="457200" y="731520"/>
            <a:ext cx="1828800" cy="45720"/>
          </a:xfrm>
          <a:prstGeom prst="rect">
            <a:avLst/>
          </a:prstGeom>
          <a:solidFill>
            <a:srgbClr val="00D4FF"/>
          </a:solidFill>
          <a:ln/>
        </p:spPr>
        <p:txBody>
          <a:bodyPr/>
          <a:lstStyle/>
          <a:p>
            <a:endParaRPr lang="en-AE"/>
          </a:p>
        </p:txBody>
      </p:sp>
      <p:sp>
        <p:nvSpPr>
          <p:cNvPr id="5" name="Shape 3"/>
          <p:cNvSpPr/>
          <p:nvPr/>
        </p:nvSpPr>
        <p:spPr>
          <a:xfrm>
            <a:off x="6583680" y="228600"/>
            <a:ext cx="1828800" cy="274320"/>
          </a:xfrm>
          <a:prstGeom prst="roundRect">
            <a:avLst>
              <a:gd name="adj" fmla="val 50000"/>
            </a:avLst>
          </a:prstGeom>
          <a:solidFill>
            <a:srgbClr val="000000"/>
          </a:solidFill>
          <a:ln w="9525">
            <a:solidFill>
              <a:srgbClr val="00D4FF"/>
            </a:solidFill>
            <a:prstDash val="solid"/>
          </a:ln>
        </p:spPr>
        <p:txBody>
          <a:bodyPr/>
          <a:lstStyle/>
          <a:p>
            <a:endParaRPr lang="en-AE"/>
          </a:p>
        </p:txBody>
      </p:sp>
      <p:sp>
        <p:nvSpPr>
          <p:cNvPr id="6" name="Text 4"/>
          <p:cNvSpPr/>
          <p:nvPr/>
        </p:nvSpPr>
        <p:spPr>
          <a:xfrm>
            <a:off x="6583680" y="228600"/>
            <a:ext cx="1828800" cy="274320"/>
          </a:xfrm>
          <a:prstGeom prst="rect">
            <a:avLst/>
          </a:prstGeom>
          <a:noFill/>
          <a:ln/>
        </p:spPr>
        <p:txBody>
          <a:bodyPr wrap="square" lIns="0" tIns="0" rIns="0" bIns="0" rtlCol="0" anchor="ctr"/>
          <a:lstStyle/>
          <a:p>
            <a:pPr marL="0" indent="0" algn="ctr">
              <a:buNone/>
            </a:pPr>
            <a:r>
              <a:rPr lang="en-US" sz="850" b="1" dirty="0">
                <a:solidFill>
                  <a:srgbClr val="00D4FF"/>
                </a:solidFill>
                <a:latin typeface="Calibri" pitchFamily="34" charset="0"/>
                <a:ea typeface="Calibri" pitchFamily="34" charset="-122"/>
                <a:cs typeface="Calibri" pitchFamily="34" charset="-120"/>
              </a:rPr>
              <a:t>⚙ 25% — AGENTIC DEPTH</a:t>
            </a:r>
            <a:endParaRPr lang="en-US" sz="850" dirty="0"/>
          </a:p>
        </p:txBody>
      </p:sp>
      <p:sp>
        <p:nvSpPr>
          <p:cNvPr id="7" name="Shape 5"/>
          <p:cNvSpPr/>
          <p:nvPr/>
        </p:nvSpPr>
        <p:spPr>
          <a:xfrm>
            <a:off x="937260" y="978408"/>
            <a:ext cx="365760" cy="365760"/>
          </a:xfrm>
          <a:prstGeom prst="ellipse">
            <a:avLst/>
          </a:prstGeom>
          <a:solidFill>
            <a:srgbClr val="A8B8CC"/>
          </a:solidFill>
          <a:ln/>
        </p:spPr>
        <p:txBody>
          <a:bodyPr/>
          <a:lstStyle/>
          <a:p>
            <a:endParaRPr lang="en-AE"/>
          </a:p>
        </p:txBody>
      </p:sp>
      <p:sp>
        <p:nvSpPr>
          <p:cNvPr id="8" name="Text 6"/>
          <p:cNvSpPr/>
          <p:nvPr/>
        </p:nvSpPr>
        <p:spPr>
          <a:xfrm>
            <a:off x="937260" y="978408"/>
            <a:ext cx="365760" cy="365760"/>
          </a:xfrm>
          <a:prstGeom prst="rect">
            <a:avLst/>
          </a:prstGeom>
          <a:noFill/>
          <a:ln/>
        </p:spPr>
        <p:txBody>
          <a:bodyPr wrap="square" lIns="0" tIns="0" rIns="0" bIns="0" rtlCol="0" anchor="ctr"/>
          <a:lstStyle/>
          <a:p>
            <a:pPr marL="0" indent="0" algn="ctr">
              <a:buNone/>
            </a:pPr>
            <a:r>
              <a:rPr lang="en-US" sz="1400" dirty="0">
                <a:solidFill>
                  <a:srgbClr val="0B1120"/>
                </a:solidFill>
                <a:latin typeface="Arial Black" pitchFamily="34" charset="0"/>
                <a:ea typeface="Arial Black" pitchFamily="34" charset="-122"/>
                <a:cs typeface="Arial Black" pitchFamily="34" charset="-120"/>
              </a:rPr>
              <a:t>1</a:t>
            </a:r>
            <a:endParaRPr lang="en-US" sz="1400" dirty="0"/>
          </a:p>
        </p:txBody>
      </p:sp>
      <p:sp>
        <p:nvSpPr>
          <p:cNvPr id="9" name="Shape 7"/>
          <p:cNvSpPr/>
          <p:nvPr/>
        </p:nvSpPr>
        <p:spPr>
          <a:xfrm>
            <a:off x="502920" y="1417320"/>
            <a:ext cx="1234440" cy="1005840"/>
          </a:xfrm>
          <a:prstGeom prst="roundRect">
            <a:avLst>
              <a:gd name="adj" fmla="val 9091"/>
            </a:avLst>
          </a:prstGeom>
          <a:solidFill>
            <a:srgbClr val="141E30"/>
          </a:solidFill>
          <a:ln w="9525">
            <a:solidFill>
              <a:srgbClr val="A8B8CC"/>
            </a:solidFill>
            <a:prstDash val="solid"/>
          </a:ln>
        </p:spPr>
        <p:txBody>
          <a:bodyPr/>
          <a:lstStyle/>
          <a:p>
            <a:endParaRPr lang="en-AE"/>
          </a:p>
        </p:txBody>
      </p:sp>
      <p:sp>
        <p:nvSpPr>
          <p:cNvPr id="10" name="Text 8"/>
          <p:cNvSpPr/>
          <p:nvPr/>
        </p:nvSpPr>
        <p:spPr>
          <a:xfrm>
            <a:off x="502920" y="1490472"/>
            <a:ext cx="1234440" cy="548640"/>
          </a:xfrm>
          <a:prstGeom prst="rect">
            <a:avLst/>
          </a:prstGeom>
          <a:noFill/>
          <a:ln/>
        </p:spPr>
        <p:txBody>
          <a:bodyPr wrap="square" lIns="0" tIns="0" rIns="0" bIns="0" rtlCol="0" anchor="ctr"/>
          <a:lstStyle/>
          <a:p>
            <a:pPr marL="0" indent="0" algn="ctr">
              <a:lnSpc>
                <a:spcPts val="1500"/>
              </a:lnSpc>
              <a:buNone/>
            </a:pPr>
            <a:r>
              <a:rPr lang="en-US" sz="1100" dirty="0">
                <a:solidFill>
                  <a:srgbClr val="FFFFFF"/>
                </a:solidFill>
                <a:latin typeface="Arial Black" pitchFamily="34" charset="0"/>
                <a:ea typeface="Arial Black" pitchFamily="34" charset="-122"/>
                <a:cs typeface="Arial Black" pitchFamily="34" charset="-120"/>
              </a:rPr>
              <a:t>USER</a:t>
            </a:r>
            <a:endParaRPr lang="en-US" sz="1100" dirty="0"/>
          </a:p>
          <a:p>
            <a:pPr marL="0" indent="0" algn="ctr">
              <a:lnSpc>
                <a:spcPts val="1500"/>
              </a:lnSpc>
              <a:buNone/>
            </a:pPr>
            <a:r>
              <a:rPr lang="en-US" sz="1100" dirty="0">
                <a:solidFill>
                  <a:srgbClr val="FFFFFF"/>
                </a:solidFill>
                <a:latin typeface="Arial Black" pitchFamily="34" charset="0"/>
                <a:ea typeface="Arial Black" pitchFamily="34" charset="-122"/>
                <a:cs typeface="Arial Black" pitchFamily="34" charset="-120"/>
              </a:rPr>
              <a:t>INPUT</a:t>
            </a:r>
            <a:endParaRPr lang="en-US" sz="1100" dirty="0"/>
          </a:p>
        </p:txBody>
      </p:sp>
      <p:sp>
        <p:nvSpPr>
          <p:cNvPr id="11" name="Text 9"/>
          <p:cNvSpPr/>
          <p:nvPr/>
        </p:nvSpPr>
        <p:spPr>
          <a:xfrm>
            <a:off x="502920" y="2075688"/>
            <a:ext cx="1234440" cy="274320"/>
          </a:xfrm>
          <a:prstGeom prst="rect">
            <a:avLst/>
          </a:prstGeom>
          <a:noFill/>
          <a:ln/>
        </p:spPr>
        <p:txBody>
          <a:bodyPr wrap="square" lIns="0" tIns="0" rIns="0" bIns="0" rtlCol="0" anchor="ctr"/>
          <a:lstStyle/>
          <a:p>
            <a:pPr marL="0" indent="0" algn="ctr">
              <a:buNone/>
            </a:pPr>
            <a:r>
              <a:rPr lang="en-US" sz="800" dirty="0">
                <a:solidFill>
                  <a:srgbClr val="A8B8CC"/>
                </a:solidFill>
                <a:latin typeface="Consolas" pitchFamily="34" charset="0"/>
                <a:ea typeface="Consolas" pitchFamily="34" charset="-122"/>
                <a:cs typeface="Consolas" pitchFamily="34" charset="-120"/>
              </a:rPr>
              <a:t>Web app on Lambda</a:t>
            </a:r>
            <a:endParaRPr lang="en-US" sz="800" dirty="0"/>
          </a:p>
        </p:txBody>
      </p:sp>
      <p:sp>
        <p:nvSpPr>
          <p:cNvPr id="12" name="Text 10"/>
          <p:cNvSpPr/>
          <p:nvPr/>
        </p:nvSpPr>
        <p:spPr>
          <a:xfrm>
            <a:off x="1764792" y="1673352"/>
            <a:ext cx="329184" cy="411480"/>
          </a:xfrm>
          <a:prstGeom prst="rect">
            <a:avLst/>
          </a:prstGeom>
          <a:noFill/>
          <a:ln/>
        </p:spPr>
        <p:txBody>
          <a:bodyPr wrap="square" lIns="0" tIns="0" rIns="0" bIns="0" rtlCol="0" anchor="ctr"/>
          <a:lstStyle/>
          <a:p>
            <a:pPr marL="0" indent="0" algn="ctr">
              <a:buNone/>
            </a:pPr>
            <a:r>
              <a:rPr lang="en-US" sz="1800" dirty="0">
                <a:solidFill>
                  <a:srgbClr val="A8B8CC"/>
                </a:solidFill>
                <a:latin typeface="Calibri" pitchFamily="34" charset="0"/>
                <a:ea typeface="Calibri" pitchFamily="34" charset="-122"/>
                <a:cs typeface="Calibri" pitchFamily="34" charset="-120"/>
              </a:rPr>
              <a:t>▶</a:t>
            </a:r>
            <a:endParaRPr lang="en-US" sz="1800" dirty="0"/>
          </a:p>
        </p:txBody>
      </p:sp>
      <p:sp>
        <p:nvSpPr>
          <p:cNvPr id="13" name="Shape 11"/>
          <p:cNvSpPr/>
          <p:nvPr/>
        </p:nvSpPr>
        <p:spPr>
          <a:xfrm>
            <a:off x="2555748" y="978408"/>
            <a:ext cx="365760" cy="365760"/>
          </a:xfrm>
          <a:prstGeom prst="ellipse">
            <a:avLst/>
          </a:prstGeom>
          <a:solidFill>
            <a:srgbClr val="FF9900"/>
          </a:solidFill>
          <a:ln/>
        </p:spPr>
        <p:txBody>
          <a:bodyPr/>
          <a:lstStyle/>
          <a:p>
            <a:endParaRPr lang="en-AE"/>
          </a:p>
        </p:txBody>
      </p:sp>
      <p:sp>
        <p:nvSpPr>
          <p:cNvPr id="14" name="Text 12"/>
          <p:cNvSpPr/>
          <p:nvPr/>
        </p:nvSpPr>
        <p:spPr>
          <a:xfrm>
            <a:off x="2555748" y="978408"/>
            <a:ext cx="365760" cy="365760"/>
          </a:xfrm>
          <a:prstGeom prst="rect">
            <a:avLst/>
          </a:prstGeom>
          <a:noFill/>
          <a:ln/>
        </p:spPr>
        <p:txBody>
          <a:bodyPr wrap="square" lIns="0" tIns="0" rIns="0" bIns="0" rtlCol="0" anchor="ctr"/>
          <a:lstStyle/>
          <a:p>
            <a:pPr marL="0" indent="0" algn="ctr">
              <a:buNone/>
            </a:pPr>
            <a:r>
              <a:rPr lang="en-US" sz="1400" dirty="0">
                <a:solidFill>
                  <a:srgbClr val="0B1120"/>
                </a:solidFill>
                <a:latin typeface="Arial Black" pitchFamily="34" charset="0"/>
                <a:ea typeface="Arial Black" pitchFamily="34" charset="-122"/>
                <a:cs typeface="Arial Black" pitchFamily="34" charset="-120"/>
              </a:rPr>
              <a:t>2</a:t>
            </a:r>
            <a:endParaRPr lang="en-US" sz="1400" dirty="0"/>
          </a:p>
        </p:txBody>
      </p:sp>
      <p:sp>
        <p:nvSpPr>
          <p:cNvPr id="15" name="Shape 13"/>
          <p:cNvSpPr/>
          <p:nvPr/>
        </p:nvSpPr>
        <p:spPr>
          <a:xfrm>
            <a:off x="2121408" y="1417320"/>
            <a:ext cx="1234440" cy="1005840"/>
          </a:xfrm>
          <a:prstGeom prst="roundRect">
            <a:avLst>
              <a:gd name="adj" fmla="val 9091"/>
            </a:avLst>
          </a:prstGeom>
          <a:solidFill>
            <a:srgbClr val="141E30"/>
          </a:solidFill>
          <a:ln w="9525">
            <a:solidFill>
              <a:srgbClr val="FF9900"/>
            </a:solidFill>
            <a:prstDash val="solid"/>
          </a:ln>
        </p:spPr>
        <p:txBody>
          <a:bodyPr/>
          <a:lstStyle/>
          <a:p>
            <a:endParaRPr lang="en-AE"/>
          </a:p>
        </p:txBody>
      </p:sp>
      <p:sp>
        <p:nvSpPr>
          <p:cNvPr id="16" name="Text 14"/>
          <p:cNvSpPr/>
          <p:nvPr/>
        </p:nvSpPr>
        <p:spPr>
          <a:xfrm>
            <a:off x="2121408" y="1490472"/>
            <a:ext cx="1234440" cy="548640"/>
          </a:xfrm>
          <a:prstGeom prst="rect">
            <a:avLst/>
          </a:prstGeom>
          <a:noFill/>
          <a:ln/>
        </p:spPr>
        <p:txBody>
          <a:bodyPr wrap="square" lIns="0" tIns="0" rIns="0" bIns="0" rtlCol="0" anchor="ctr"/>
          <a:lstStyle/>
          <a:p>
            <a:pPr marL="0" indent="0" algn="ctr">
              <a:lnSpc>
                <a:spcPts val="1500"/>
              </a:lnSpc>
              <a:buNone/>
            </a:pPr>
            <a:r>
              <a:rPr lang="en-US" sz="1100" dirty="0">
                <a:solidFill>
                  <a:srgbClr val="FFFFFF"/>
                </a:solidFill>
                <a:latin typeface="Arial Black" pitchFamily="34" charset="0"/>
                <a:ea typeface="Arial Black" pitchFamily="34" charset="-122"/>
                <a:cs typeface="Arial Black" pitchFamily="34" charset="-120"/>
              </a:rPr>
              <a:t>AGENT</a:t>
            </a:r>
            <a:endParaRPr lang="en-US" sz="1100" dirty="0"/>
          </a:p>
          <a:p>
            <a:pPr marL="0" indent="0" algn="ctr">
              <a:lnSpc>
                <a:spcPts val="1500"/>
              </a:lnSpc>
              <a:buNone/>
            </a:pPr>
            <a:r>
              <a:rPr lang="en-US" sz="1100" dirty="0">
                <a:solidFill>
                  <a:srgbClr val="FFFFFF"/>
                </a:solidFill>
                <a:latin typeface="Arial Black" pitchFamily="34" charset="0"/>
                <a:ea typeface="Arial Black" pitchFamily="34" charset="-122"/>
                <a:cs typeface="Arial Black" pitchFamily="34" charset="-120"/>
              </a:rPr>
              <a:t>REASONING</a:t>
            </a:r>
            <a:endParaRPr lang="en-US" sz="1100" dirty="0"/>
          </a:p>
        </p:txBody>
      </p:sp>
      <p:sp>
        <p:nvSpPr>
          <p:cNvPr id="17" name="Text 15"/>
          <p:cNvSpPr/>
          <p:nvPr/>
        </p:nvSpPr>
        <p:spPr>
          <a:xfrm>
            <a:off x="2121408" y="2075688"/>
            <a:ext cx="1234440" cy="274320"/>
          </a:xfrm>
          <a:prstGeom prst="rect">
            <a:avLst/>
          </a:prstGeom>
          <a:noFill/>
          <a:ln/>
        </p:spPr>
        <p:txBody>
          <a:bodyPr wrap="square" lIns="0" tIns="0" rIns="0" bIns="0" rtlCol="0" anchor="ctr"/>
          <a:lstStyle/>
          <a:p>
            <a:pPr marL="0" indent="0" algn="ctr">
              <a:buNone/>
            </a:pPr>
            <a:r>
              <a:rPr lang="en-US" sz="800" dirty="0">
                <a:solidFill>
                  <a:srgbClr val="FF9900"/>
                </a:solidFill>
                <a:latin typeface="Consolas" pitchFamily="34" charset="0"/>
                <a:ea typeface="Consolas" pitchFamily="34" charset="-122"/>
                <a:cs typeface="Consolas" pitchFamily="34" charset="-120"/>
              </a:rPr>
              <a:t>Claude Sonnet 5</a:t>
            </a:r>
            <a:endParaRPr lang="en-US" sz="800" dirty="0"/>
          </a:p>
        </p:txBody>
      </p:sp>
      <p:sp>
        <p:nvSpPr>
          <p:cNvPr id="18" name="Text 16"/>
          <p:cNvSpPr/>
          <p:nvPr/>
        </p:nvSpPr>
        <p:spPr>
          <a:xfrm>
            <a:off x="3383280" y="1673352"/>
            <a:ext cx="329184" cy="411480"/>
          </a:xfrm>
          <a:prstGeom prst="rect">
            <a:avLst/>
          </a:prstGeom>
          <a:noFill/>
          <a:ln/>
        </p:spPr>
        <p:txBody>
          <a:bodyPr wrap="square" lIns="0" tIns="0" rIns="0" bIns="0" rtlCol="0" anchor="ctr"/>
          <a:lstStyle/>
          <a:p>
            <a:pPr marL="0" indent="0" algn="ctr">
              <a:buNone/>
            </a:pPr>
            <a:r>
              <a:rPr lang="en-US" sz="1800" dirty="0">
                <a:solidFill>
                  <a:srgbClr val="FF9900"/>
                </a:solidFill>
                <a:latin typeface="Calibri" pitchFamily="34" charset="0"/>
                <a:ea typeface="Calibri" pitchFamily="34" charset="-122"/>
                <a:cs typeface="Calibri" pitchFamily="34" charset="-120"/>
              </a:rPr>
              <a:t>▶</a:t>
            </a:r>
            <a:endParaRPr lang="en-US" sz="1800" dirty="0"/>
          </a:p>
        </p:txBody>
      </p:sp>
      <p:sp>
        <p:nvSpPr>
          <p:cNvPr id="19" name="Shape 17"/>
          <p:cNvSpPr/>
          <p:nvPr/>
        </p:nvSpPr>
        <p:spPr>
          <a:xfrm>
            <a:off x="4174236" y="978408"/>
            <a:ext cx="365760" cy="365760"/>
          </a:xfrm>
          <a:prstGeom prst="ellipse">
            <a:avLst/>
          </a:prstGeom>
          <a:solidFill>
            <a:srgbClr val="00D4FF"/>
          </a:solidFill>
          <a:ln/>
        </p:spPr>
        <p:txBody>
          <a:bodyPr/>
          <a:lstStyle/>
          <a:p>
            <a:endParaRPr lang="en-AE"/>
          </a:p>
        </p:txBody>
      </p:sp>
      <p:sp>
        <p:nvSpPr>
          <p:cNvPr id="20" name="Text 18"/>
          <p:cNvSpPr/>
          <p:nvPr/>
        </p:nvSpPr>
        <p:spPr>
          <a:xfrm>
            <a:off x="4174236" y="978408"/>
            <a:ext cx="365760" cy="365760"/>
          </a:xfrm>
          <a:prstGeom prst="rect">
            <a:avLst/>
          </a:prstGeom>
          <a:noFill/>
          <a:ln/>
        </p:spPr>
        <p:txBody>
          <a:bodyPr wrap="square" lIns="0" tIns="0" rIns="0" bIns="0" rtlCol="0" anchor="ctr"/>
          <a:lstStyle/>
          <a:p>
            <a:pPr marL="0" indent="0" algn="ctr">
              <a:buNone/>
            </a:pPr>
            <a:r>
              <a:rPr lang="en-US" sz="1400" dirty="0">
                <a:solidFill>
                  <a:srgbClr val="0B1120"/>
                </a:solidFill>
                <a:latin typeface="Arial Black" pitchFamily="34" charset="0"/>
                <a:ea typeface="Arial Black" pitchFamily="34" charset="-122"/>
                <a:cs typeface="Arial Black" pitchFamily="34" charset="-120"/>
              </a:rPr>
              <a:t>3</a:t>
            </a:r>
            <a:endParaRPr lang="en-US" sz="1400" dirty="0"/>
          </a:p>
        </p:txBody>
      </p:sp>
      <p:sp>
        <p:nvSpPr>
          <p:cNvPr id="21" name="Shape 19"/>
          <p:cNvSpPr/>
          <p:nvPr/>
        </p:nvSpPr>
        <p:spPr>
          <a:xfrm>
            <a:off x="3739896" y="1417320"/>
            <a:ext cx="1234440" cy="1005840"/>
          </a:xfrm>
          <a:prstGeom prst="roundRect">
            <a:avLst>
              <a:gd name="adj" fmla="val 9091"/>
            </a:avLst>
          </a:prstGeom>
          <a:solidFill>
            <a:srgbClr val="141E30"/>
          </a:solidFill>
          <a:ln w="9525">
            <a:solidFill>
              <a:srgbClr val="00D4FF"/>
            </a:solidFill>
            <a:prstDash val="solid"/>
          </a:ln>
        </p:spPr>
        <p:txBody>
          <a:bodyPr/>
          <a:lstStyle/>
          <a:p>
            <a:endParaRPr lang="en-AE"/>
          </a:p>
        </p:txBody>
      </p:sp>
      <p:sp>
        <p:nvSpPr>
          <p:cNvPr id="22" name="Text 20"/>
          <p:cNvSpPr/>
          <p:nvPr/>
        </p:nvSpPr>
        <p:spPr>
          <a:xfrm>
            <a:off x="3739896" y="1490472"/>
            <a:ext cx="1234440" cy="548640"/>
          </a:xfrm>
          <a:prstGeom prst="rect">
            <a:avLst/>
          </a:prstGeom>
          <a:noFill/>
          <a:ln/>
        </p:spPr>
        <p:txBody>
          <a:bodyPr wrap="square" lIns="0" tIns="0" rIns="0" bIns="0" rtlCol="0" anchor="ctr"/>
          <a:lstStyle/>
          <a:p>
            <a:pPr marL="0" indent="0" algn="ctr">
              <a:lnSpc>
                <a:spcPts val="1500"/>
              </a:lnSpc>
              <a:buNone/>
            </a:pPr>
            <a:r>
              <a:rPr lang="en-US" sz="1100" dirty="0">
                <a:solidFill>
                  <a:srgbClr val="FFFFFF"/>
                </a:solidFill>
                <a:latin typeface="Arial Black" pitchFamily="34" charset="0"/>
                <a:ea typeface="Arial Black" pitchFamily="34" charset="-122"/>
                <a:cs typeface="Arial Black" pitchFamily="34" charset="-120"/>
              </a:rPr>
              <a:t>TOOL</a:t>
            </a:r>
            <a:endParaRPr lang="en-US" sz="1100" dirty="0"/>
          </a:p>
          <a:p>
            <a:pPr marL="0" indent="0" algn="ctr">
              <a:lnSpc>
                <a:spcPts val="1500"/>
              </a:lnSpc>
              <a:buNone/>
            </a:pPr>
            <a:r>
              <a:rPr lang="en-US" sz="1100" dirty="0">
                <a:solidFill>
                  <a:srgbClr val="FFFFFF"/>
                </a:solidFill>
                <a:latin typeface="Arial Black" pitchFamily="34" charset="0"/>
                <a:ea typeface="Arial Black" pitchFamily="34" charset="-122"/>
                <a:cs typeface="Arial Black" pitchFamily="34" charset="-120"/>
              </a:rPr>
              <a:t>CALLS</a:t>
            </a:r>
            <a:endParaRPr lang="en-US" sz="1100" dirty="0"/>
          </a:p>
        </p:txBody>
      </p:sp>
      <p:sp>
        <p:nvSpPr>
          <p:cNvPr id="23" name="Text 21"/>
          <p:cNvSpPr/>
          <p:nvPr/>
        </p:nvSpPr>
        <p:spPr>
          <a:xfrm>
            <a:off x="3739896" y="2075688"/>
            <a:ext cx="1234440" cy="274320"/>
          </a:xfrm>
          <a:prstGeom prst="rect">
            <a:avLst/>
          </a:prstGeom>
          <a:noFill/>
          <a:ln/>
        </p:spPr>
        <p:txBody>
          <a:bodyPr wrap="square" lIns="0" tIns="0" rIns="0" bIns="0" rtlCol="0" anchor="ctr"/>
          <a:lstStyle/>
          <a:p>
            <a:pPr marL="0" indent="0" algn="ctr">
              <a:buNone/>
            </a:pPr>
            <a:r>
              <a:rPr lang="en-US" sz="800" dirty="0">
                <a:solidFill>
                  <a:srgbClr val="00D4FF"/>
                </a:solidFill>
                <a:latin typeface="Consolas" pitchFamily="34" charset="0"/>
                <a:ea typeface="Consolas" pitchFamily="34" charset="-122"/>
                <a:cs typeface="Consolas" pitchFamily="34" charset="-120"/>
              </a:rPr>
              <a:t>AgentCore Gateway</a:t>
            </a:r>
            <a:endParaRPr lang="en-US" sz="800" dirty="0"/>
          </a:p>
        </p:txBody>
      </p:sp>
      <p:sp>
        <p:nvSpPr>
          <p:cNvPr id="24" name="Text 22"/>
          <p:cNvSpPr/>
          <p:nvPr/>
        </p:nvSpPr>
        <p:spPr>
          <a:xfrm>
            <a:off x="5001768" y="1673352"/>
            <a:ext cx="329184" cy="411480"/>
          </a:xfrm>
          <a:prstGeom prst="rect">
            <a:avLst/>
          </a:prstGeom>
          <a:noFill/>
          <a:ln/>
        </p:spPr>
        <p:txBody>
          <a:bodyPr wrap="square" lIns="0" tIns="0" rIns="0" bIns="0" rtlCol="0" anchor="ctr"/>
          <a:lstStyle/>
          <a:p>
            <a:pPr marL="0" indent="0" algn="ctr">
              <a:buNone/>
            </a:pPr>
            <a:r>
              <a:rPr lang="en-US" sz="1800" dirty="0">
                <a:solidFill>
                  <a:srgbClr val="00D4FF"/>
                </a:solidFill>
                <a:latin typeface="Calibri" pitchFamily="34" charset="0"/>
                <a:ea typeface="Calibri" pitchFamily="34" charset="-122"/>
                <a:cs typeface="Calibri" pitchFamily="34" charset="-120"/>
              </a:rPr>
              <a:t>▶</a:t>
            </a:r>
            <a:endParaRPr lang="en-US" sz="1800" dirty="0"/>
          </a:p>
        </p:txBody>
      </p:sp>
      <p:sp>
        <p:nvSpPr>
          <p:cNvPr id="25" name="Shape 23"/>
          <p:cNvSpPr/>
          <p:nvPr/>
        </p:nvSpPr>
        <p:spPr>
          <a:xfrm>
            <a:off x="5792724" y="978408"/>
            <a:ext cx="365760" cy="365760"/>
          </a:xfrm>
          <a:prstGeom prst="ellipse">
            <a:avLst/>
          </a:prstGeom>
          <a:solidFill>
            <a:srgbClr val="A855F7"/>
          </a:solidFill>
          <a:ln/>
        </p:spPr>
        <p:txBody>
          <a:bodyPr/>
          <a:lstStyle/>
          <a:p>
            <a:endParaRPr lang="en-AE"/>
          </a:p>
        </p:txBody>
      </p:sp>
      <p:sp>
        <p:nvSpPr>
          <p:cNvPr id="26" name="Text 24"/>
          <p:cNvSpPr/>
          <p:nvPr/>
        </p:nvSpPr>
        <p:spPr>
          <a:xfrm>
            <a:off x="5792724" y="978408"/>
            <a:ext cx="365760" cy="365760"/>
          </a:xfrm>
          <a:prstGeom prst="rect">
            <a:avLst/>
          </a:prstGeom>
          <a:noFill/>
          <a:ln/>
        </p:spPr>
        <p:txBody>
          <a:bodyPr wrap="square" lIns="0" tIns="0" rIns="0" bIns="0" rtlCol="0" anchor="ctr"/>
          <a:lstStyle/>
          <a:p>
            <a:pPr marL="0" indent="0" algn="ctr">
              <a:buNone/>
            </a:pPr>
            <a:r>
              <a:rPr lang="en-US" sz="1400" dirty="0">
                <a:solidFill>
                  <a:srgbClr val="0B1120"/>
                </a:solidFill>
                <a:latin typeface="Arial Black" pitchFamily="34" charset="0"/>
                <a:ea typeface="Arial Black" pitchFamily="34" charset="-122"/>
                <a:cs typeface="Arial Black" pitchFamily="34" charset="-120"/>
              </a:rPr>
              <a:t>4</a:t>
            </a:r>
            <a:endParaRPr lang="en-US" sz="1400" dirty="0"/>
          </a:p>
        </p:txBody>
      </p:sp>
      <p:sp>
        <p:nvSpPr>
          <p:cNvPr id="27" name="Shape 25"/>
          <p:cNvSpPr/>
          <p:nvPr/>
        </p:nvSpPr>
        <p:spPr>
          <a:xfrm>
            <a:off x="5358384" y="1417320"/>
            <a:ext cx="1234440" cy="1005840"/>
          </a:xfrm>
          <a:prstGeom prst="roundRect">
            <a:avLst>
              <a:gd name="adj" fmla="val 9091"/>
            </a:avLst>
          </a:prstGeom>
          <a:solidFill>
            <a:srgbClr val="141E30"/>
          </a:solidFill>
          <a:ln w="9525">
            <a:solidFill>
              <a:srgbClr val="A855F7"/>
            </a:solidFill>
            <a:prstDash val="solid"/>
          </a:ln>
        </p:spPr>
        <p:txBody>
          <a:bodyPr/>
          <a:lstStyle/>
          <a:p>
            <a:endParaRPr lang="en-AE"/>
          </a:p>
        </p:txBody>
      </p:sp>
      <p:sp>
        <p:nvSpPr>
          <p:cNvPr id="28" name="Text 26"/>
          <p:cNvSpPr/>
          <p:nvPr/>
        </p:nvSpPr>
        <p:spPr>
          <a:xfrm>
            <a:off x="5358384" y="1490472"/>
            <a:ext cx="1234440" cy="548640"/>
          </a:xfrm>
          <a:prstGeom prst="rect">
            <a:avLst/>
          </a:prstGeom>
          <a:noFill/>
          <a:ln/>
        </p:spPr>
        <p:txBody>
          <a:bodyPr wrap="square" lIns="0" tIns="0" rIns="0" bIns="0" rtlCol="0" anchor="ctr"/>
          <a:lstStyle/>
          <a:p>
            <a:pPr marL="0" indent="0" algn="ctr">
              <a:lnSpc>
                <a:spcPts val="1500"/>
              </a:lnSpc>
              <a:buNone/>
            </a:pPr>
            <a:r>
              <a:rPr lang="en-US" sz="1100" dirty="0">
                <a:solidFill>
                  <a:srgbClr val="FFFFFF"/>
                </a:solidFill>
                <a:latin typeface="Arial Black" pitchFamily="34" charset="0"/>
                <a:ea typeface="Arial Black" pitchFamily="34" charset="-122"/>
                <a:cs typeface="Arial Black" pitchFamily="34" charset="-120"/>
              </a:rPr>
              <a:t>EXTERNAL</a:t>
            </a:r>
            <a:endParaRPr lang="en-US" sz="1100" dirty="0"/>
          </a:p>
          <a:p>
            <a:pPr marL="0" indent="0" algn="ctr">
              <a:lnSpc>
                <a:spcPts val="1500"/>
              </a:lnSpc>
              <a:buNone/>
            </a:pPr>
            <a:r>
              <a:rPr lang="en-US" sz="1100" dirty="0">
                <a:solidFill>
                  <a:srgbClr val="FFFFFF"/>
                </a:solidFill>
                <a:latin typeface="Arial Black" pitchFamily="34" charset="0"/>
                <a:ea typeface="Arial Black" pitchFamily="34" charset="-122"/>
                <a:cs typeface="Arial Black" pitchFamily="34" charset="-120"/>
              </a:rPr>
              <a:t>SYSTEMS</a:t>
            </a:r>
            <a:endParaRPr lang="en-US" sz="1100" dirty="0"/>
          </a:p>
        </p:txBody>
      </p:sp>
      <p:sp>
        <p:nvSpPr>
          <p:cNvPr id="29" name="Text 27"/>
          <p:cNvSpPr/>
          <p:nvPr/>
        </p:nvSpPr>
        <p:spPr>
          <a:xfrm>
            <a:off x="5358384" y="2075688"/>
            <a:ext cx="1234440" cy="274320"/>
          </a:xfrm>
          <a:prstGeom prst="rect">
            <a:avLst/>
          </a:prstGeom>
          <a:noFill/>
          <a:ln/>
        </p:spPr>
        <p:txBody>
          <a:bodyPr wrap="square" lIns="0" tIns="0" rIns="0" bIns="0" rtlCol="0" anchor="ctr"/>
          <a:lstStyle/>
          <a:p>
            <a:pPr marL="0" indent="0" algn="ctr">
              <a:buNone/>
            </a:pPr>
            <a:r>
              <a:rPr lang="en-US" sz="800" dirty="0">
                <a:solidFill>
                  <a:srgbClr val="A855F7"/>
                </a:solidFill>
                <a:latin typeface="Consolas" pitchFamily="34" charset="0"/>
                <a:ea typeface="Consolas" pitchFamily="34" charset="-122"/>
                <a:cs typeface="Consolas" pitchFamily="34" charset="-120"/>
              </a:rPr>
              <a:t>DynamoDB · KB · Twilio</a:t>
            </a:r>
            <a:endParaRPr lang="en-US" sz="800" dirty="0"/>
          </a:p>
        </p:txBody>
      </p:sp>
      <p:sp>
        <p:nvSpPr>
          <p:cNvPr id="30" name="Text 28"/>
          <p:cNvSpPr/>
          <p:nvPr/>
        </p:nvSpPr>
        <p:spPr>
          <a:xfrm>
            <a:off x="6620256" y="1673352"/>
            <a:ext cx="329184" cy="411480"/>
          </a:xfrm>
          <a:prstGeom prst="rect">
            <a:avLst/>
          </a:prstGeom>
          <a:noFill/>
          <a:ln/>
        </p:spPr>
        <p:txBody>
          <a:bodyPr wrap="square" lIns="0" tIns="0" rIns="0" bIns="0" rtlCol="0" anchor="ctr"/>
          <a:lstStyle/>
          <a:p>
            <a:pPr marL="0" indent="0" algn="ctr">
              <a:buNone/>
            </a:pPr>
            <a:r>
              <a:rPr lang="en-US" sz="1800" dirty="0">
                <a:solidFill>
                  <a:srgbClr val="A855F7"/>
                </a:solidFill>
                <a:latin typeface="Calibri" pitchFamily="34" charset="0"/>
                <a:ea typeface="Calibri" pitchFamily="34" charset="-122"/>
                <a:cs typeface="Calibri" pitchFamily="34" charset="-120"/>
              </a:rPr>
              <a:t>▶</a:t>
            </a:r>
            <a:endParaRPr lang="en-US" sz="1800" dirty="0"/>
          </a:p>
        </p:txBody>
      </p:sp>
      <p:sp>
        <p:nvSpPr>
          <p:cNvPr id="31" name="Shape 29"/>
          <p:cNvSpPr/>
          <p:nvPr/>
        </p:nvSpPr>
        <p:spPr>
          <a:xfrm>
            <a:off x="7411212" y="978408"/>
            <a:ext cx="365760" cy="365760"/>
          </a:xfrm>
          <a:prstGeom prst="ellipse">
            <a:avLst/>
          </a:prstGeom>
          <a:solidFill>
            <a:srgbClr val="7CFC00"/>
          </a:solidFill>
          <a:ln/>
        </p:spPr>
        <p:txBody>
          <a:bodyPr/>
          <a:lstStyle/>
          <a:p>
            <a:endParaRPr lang="en-AE"/>
          </a:p>
        </p:txBody>
      </p:sp>
      <p:sp>
        <p:nvSpPr>
          <p:cNvPr id="32" name="Text 30"/>
          <p:cNvSpPr/>
          <p:nvPr/>
        </p:nvSpPr>
        <p:spPr>
          <a:xfrm>
            <a:off x="7411212" y="978408"/>
            <a:ext cx="365760" cy="365760"/>
          </a:xfrm>
          <a:prstGeom prst="rect">
            <a:avLst/>
          </a:prstGeom>
          <a:noFill/>
          <a:ln/>
        </p:spPr>
        <p:txBody>
          <a:bodyPr wrap="square" lIns="0" tIns="0" rIns="0" bIns="0" rtlCol="0" anchor="ctr"/>
          <a:lstStyle/>
          <a:p>
            <a:pPr marL="0" indent="0" algn="ctr">
              <a:buNone/>
            </a:pPr>
            <a:r>
              <a:rPr lang="en-US" sz="1400" dirty="0">
                <a:solidFill>
                  <a:srgbClr val="0B1120"/>
                </a:solidFill>
                <a:latin typeface="Arial Black" pitchFamily="34" charset="0"/>
                <a:ea typeface="Arial Black" pitchFamily="34" charset="-122"/>
                <a:cs typeface="Arial Black" pitchFamily="34" charset="-120"/>
              </a:rPr>
              <a:t>5</a:t>
            </a:r>
            <a:endParaRPr lang="en-US" sz="1400" dirty="0"/>
          </a:p>
        </p:txBody>
      </p:sp>
      <p:sp>
        <p:nvSpPr>
          <p:cNvPr id="33" name="Shape 31"/>
          <p:cNvSpPr/>
          <p:nvPr/>
        </p:nvSpPr>
        <p:spPr>
          <a:xfrm>
            <a:off x="6976872" y="1417320"/>
            <a:ext cx="1234440" cy="1005840"/>
          </a:xfrm>
          <a:prstGeom prst="roundRect">
            <a:avLst>
              <a:gd name="adj" fmla="val 9091"/>
            </a:avLst>
          </a:prstGeom>
          <a:solidFill>
            <a:srgbClr val="141E30"/>
          </a:solidFill>
          <a:ln w="9525">
            <a:solidFill>
              <a:srgbClr val="7CFC00"/>
            </a:solidFill>
            <a:prstDash val="solid"/>
          </a:ln>
        </p:spPr>
        <p:txBody>
          <a:bodyPr/>
          <a:lstStyle/>
          <a:p>
            <a:endParaRPr lang="en-AE"/>
          </a:p>
        </p:txBody>
      </p:sp>
      <p:sp>
        <p:nvSpPr>
          <p:cNvPr id="34" name="Text 32"/>
          <p:cNvSpPr/>
          <p:nvPr/>
        </p:nvSpPr>
        <p:spPr>
          <a:xfrm>
            <a:off x="6976872" y="1490472"/>
            <a:ext cx="1234440" cy="548640"/>
          </a:xfrm>
          <a:prstGeom prst="rect">
            <a:avLst/>
          </a:prstGeom>
          <a:noFill/>
          <a:ln/>
        </p:spPr>
        <p:txBody>
          <a:bodyPr wrap="square" lIns="0" tIns="0" rIns="0" bIns="0" rtlCol="0" anchor="ctr"/>
          <a:lstStyle/>
          <a:p>
            <a:pPr marL="0" indent="0" algn="ctr">
              <a:lnSpc>
                <a:spcPts val="1500"/>
              </a:lnSpc>
              <a:buNone/>
            </a:pPr>
            <a:r>
              <a:rPr lang="en-US" sz="1100" dirty="0">
                <a:solidFill>
                  <a:srgbClr val="FFFFFF"/>
                </a:solidFill>
                <a:latin typeface="Arial Black" pitchFamily="34" charset="0"/>
                <a:ea typeface="Arial Black" pitchFamily="34" charset="-122"/>
                <a:cs typeface="Arial Black" pitchFamily="34" charset="-120"/>
              </a:rPr>
              <a:t>FINAL</a:t>
            </a:r>
            <a:endParaRPr lang="en-US" sz="1100" dirty="0"/>
          </a:p>
          <a:p>
            <a:pPr marL="0" indent="0" algn="ctr">
              <a:lnSpc>
                <a:spcPts val="1500"/>
              </a:lnSpc>
              <a:buNone/>
            </a:pPr>
            <a:r>
              <a:rPr lang="en-US" sz="1100" dirty="0">
                <a:solidFill>
                  <a:srgbClr val="FFFFFF"/>
                </a:solidFill>
                <a:latin typeface="Arial Black" pitchFamily="34" charset="0"/>
                <a:ea typeface="Arial Black" pitchFamily="34" charset="-122"/>
                <a:cs typeface="Arial Black" pitchFamily="34" charset="-120"/>
              </a:rPr>
              <a:t>OUTPUT</a:t>
            </a:r>
            <a:endParaRPr lang="en-US" sz="1100" dirty="0"/>
          </a:p>
        </p:txBody>
      </p:sp>
      <p:sp>
        <p:nvSpPr>
          <p:cNvPr id="35" name="Text 33"/>
          <p:cNvSpPr/>
          <p:nvPr/>
        </p:nvSpPr>
        <p:spPr>
          <a:xfrm>
            <a:off x="6976872" y="2075688"/>
            <a:ext cx="1234440" cy="274320"/>
          </a:xfrm>
          <a:prstGeom prst="rect">
            <a:avLst/>
          </a:prstGeom>
          <a:noFill/>
          <a:ln/>
        </p:spPr>
        <p:txBody>
          <a:bodyPr wrap="square" lIns="0" tIns="0" rIns="0" bIns="0" rtlCol="0" anchor="ctr"/>
          <a:lstStyle/>
          <a:p>
            <a:pPr marL="0" indent="0" algn="ctr">
              <a:buNone/>
            </a:pPr>
            <a:r>
              <a:rPr lang="en-US" sz="800" dirty="0">
                <a:solidFill>
                  <a:srgbClr val="7CFC00"/>
                </a:solidFill>
                <a:latin typeface="Consolas" pitchFamily="34" charset="0"/>
                <a:ea typeface="Consolas" pitchFamily="34" charset="-122"/>
                <a:cs typeface="Consolas" pitchFamily="34" charset="-120"/>
              </a:rPr>
              <a:t>Answer · booking · call</a:t>
            </a:r>
            <a:endParaRPr lang="en-US" sz="800" dirty="0"/>
          </a:p>
        </p:txBody>
      </p:sp>
      <p:sp>
        <p:nvSpPr>
          <p:cNvPr id="36" name="Shape 34"/>
          <p:cNvSpPr/>
          <p:nvPr/>
        </p:nvSpPr>
        <p:spPr>
          <a:xfrm>
            <a:off x="457200" y="2788920"/>
            <a:ext cx="8229600" cy="1463040"/>
          </a:xfrm>
          <a:prstGeom prst="roundRect">
            <a:avLst>
              <a:gd name="adj" fmla="val 6250"/>
            </a:avLst>
          </a:prstGeom>
          <a:solidFill>
            <a:srgbClr val="0A0F1A"/>
          </a:solidFill>
          <a:ln w="9525">
            <a:solidFill>
              <a:srgbClr val="5C7090"/>
            </a:solidFill>
            <a:prstDash val="solid"/>
          </a:ln>
        </p:spPr>
        <p:txBody>
          <a:bodyPr/>
          <a:lstStyle/>
          <a:p>
            <a:endParaRPr lang="en-AE"/>
          </a:p>
        </p:txBody>
      </p:sp>
      <p:sp>
        <p:nvSpPr>
          <p:cNvPr id="38" name="Shape 36"/>
          <p:cNvSpPr/>
          <p:nvPr/>
        </p:nvSpPr>
        <p:spPr>
          <a:xfrm>
            <a:off x="0" y="4663440"/>
            <a:ext cx="9144000" cy="480060"/>
          </a:xfrm>
          <a:prstGeom prst="rect">
            <a:avLst/>
          </a:prstGeom>
          <a:solidFill>
            <a:srgbClr val="080D18"/>
          </a:solidFill>
          <a:ln/>
        </p:spPr>
        <p:txBody>
          <a:bodyPr/>
          <a:lstStyle/>
          <a:p>
            <a:endParaRPr lang="en-AE"/>
          </a:p>
        </p:txBody>
      </p:sp>
      <p:sp>
        <p:nvSpPr>
          <p:cNvPr id="39" name="Shape 37"/>
          <p:cNvSpPr/>
          <p:nvPr/>
        </p:nvSpPr>
        <p:spPr>
          <a:xfrm>
            <a:off x="0" y="4663440"/>
            <a:ext cx="9144000" cy="45720"/>
          </a:xfrm>
          <a:prstGeom prst="rect">
            <a:avLst/>
          </a:prstGeom>
          <a:solidFill>
            <a:srgbClr val="FF9900"/>
          </a:solidFill>
          <a:ln/>
        </p:spPr>
        <p:txBody>
          <a:bodyPr/>
          <a:lstStyle/>
          <a:p>
            <a:endParaRPr lang="en-AE"/>
          </a:p>
        </p:txBody>
      </p:sp>
      <p:sp>
        <p:nvSpPr>
          <p:cNvPr id="40" name="Text 38"/>
          <p:cNvSpPr/>
          <p:nvPr/>
        </p:nvSpPr>
        <p:spPr>
          <a:xfrm>
            <a:off x="365760" y="4736592"/>
            <a:ext cx="8412480" cy="320040"/>
          </a:xfrm>
          <a:prstGeom prst="rect">
            <a:avLst/>
          </a:prstGeom>
          <a:noFill/>
          <a:ln/>
        </p:spPr>
        <p:txBody>
          <a:bodyPr wrap="square" lIns="0" tIns="0" rIns="0" bIns="0" rtlCol="0" anchor="ctr"/>
          <a:lstStyle/>
          <a:p>
            <a:pPr marL="0" indent="0" algn="ctr">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pic>
        <p:nvPicPr>
          <p:cNvPr id="41" name="Picture 40" descr="workflow.png"/>
          <p:cNvPicPr>
            <a:picLocks noChangeAspect="1"/>
          </p:cNvPicPr>
          <p:nvPr/>
        </p:nvPicPr>
        <p:blipFill>
          <a:blip r:embed="rId3"/>
          <a:stretch>
            <a:fillRect/>
          </a:stretch>
        </p:blipFill>
        <p:spPr>
          <a:xfrm>
            <a:off x="548640" y="2834640"/>
            <a:ext cx="2890157" cy="1371600"/>
          </a:xfrm>
          <a:prstGeom prst="rect">
            <a:avLst/>
          </a:prstGeom>
        </p:spPr>
      </p:pic>
      <p:sp>
        <p:nvSpPr>
          <p:cNvPr id="42" name="TextBox 41"/>
          <p:cNvSpPr txBox="1"/>
          <p:nvPr/>
        </p:nvSpPr>
        <p:spPr>
          <a:xfrm>
            <a:off x="3657600" y="2852928"/>
            <a:ext cx="4937760" cy="1371600"/>
          </a:xfrm>
          <a:prstGeom prst="rect">
            <a:avLst/>
          </a:prstGeom>
          <a:noFill/>
        </p:spPr>
        <p:txBody>
          <a:bodyPr wrap="square" lIns="0" tIns="0" rIns="0" bIns="0" anchor="t">
            <a:spAutoFit/>
          </a:bodyPr>
          <a:lstStyle/>
          <a:p>
            <a:pPr algn="l">
              <a:spcAft>
                <a:spcPts val="500"/>
              </a:spcAft>
            </a:pPr>
            <a:r>
              <a:rPr sz="1000" b="1">
                <a:solidFill>
                  <a:srgbClr val="FF9900"/>
                </a:solidFill>
                <a:latin typeface="Calibri"/>
              </a:rPr>
              <a:t>◆ Decision 1 — Guardrail: </a:t>
            </a:r>
            <a:r>
              <a:rPr sz="1000" b="0">
                <a:solidFill>
                  <a:srgbClr val="A8B8CC"/>
                </a:solidFill>
                <a:latin typeface="Calibri"/>
              </a:rPr>
              <a:t>diagnosis or dose request? → refuse with a safe next step, model never called</a:t>
            </a:r>
          </a:p>
          <a:p>
            <a:pPr algn="l">
              <a:spcAft>
                <a:spcPts val="500"/>
              </a:spcAft>
            </a:pPr>
            <a:r>
              <a:rPr sz="1000" b="1">
                <a:solidFill>
                  <a:srgbClr val="FF6B6B"/>
                </a:solidFill>
                <a:latin typeface="Calibri"/>
              </a:rPr>
              <a:t>◆ Decision 2 — Red flag: </a:t>
            </a:r>
            <a:r>
              <a:rPr sz="1000" b="0">
                <a:solidFill>
                  <a:srgbClr val="A8B8CC"/>
                </a:solidFill>
                <a:latin typeface="Calibri"/>
              </a:rPr>
              <a:t>worst headache, weakness, vision loss? → emergency now, no booking</a:t>
            </a:r>
          </a:p>
          <a:p>
            <a:pPr algn="l">
              <a:spcAft>
                <a:spcPts val="500"/>
              </a:spcAft>
            </a:pPr>
            <a:r>
              <a:rPr sz="1000" b="1">
                <a:solidFill>
                  <a:srgbClr val="00D4FF"/>
                </a:solidFill>
                <a:latin typeface="Calibri"/>
              </a:rPr>
              <a:t>↻ Tool loop: </a:t>
            </a:r>
            <a:r>
              <a:rPr sz="1000" b="0">
                <a:solidFill>
                  <a:srgbClr val="A8B8CC"/>
                </a:solidFill>
                <a:latin typeface="Calibri"/>
              </a:rPr>
              <a:t>the agent keeps calling tools (profile, triage guidance, providers) until it can act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marL="0" indent="0" algn="r">
              <a:buNone/>
            </a:pPr>
            <a:r>
              <a:rPr lang="en-US" sz="900" dirty="0">
                <a:solidFill>
                  <a:srgbClr val="5C7090"/>
                </a:solidFill>
                <a:latin typeface="Consolas" pitchFamily="34" charset="0"/>
                <a:ea typeface="Consolas" pitchFamily="34" charset="-122"/>
                <a:cs typeface="Consolas" pitchFamily="34" charset="-120"/>
              </a:rPr>
              <a:t>6</a:t>
            </a:r>
            <a:endParaRPr lang="en-US" sz="900" dirty="0"/>
          </a:p>
        </p:txBody>
      </p:sp>
      <p:sp>
        <p:nvSpPr>
          <p:cNvPr id="3" name="Text 1"/>
          <p:cNvSpPr/>
          <p:nvPr/>
        </p:nvSpPr>
        <p:spPr>
          <a:xfrm>
            <a:off x="457200" y="182880"/>
            <a:ext cx="3657600" cy="502920"/>
          </a:xfrm>
          <a:prstGeom prst="rect">
            <a:avLst/>
          </a:prstGeom>
          <a:noFill/>
          <a:ln/>
        </p:spPr>
        <p:txBody>
          <a:bodyPr wrap="square" lIns="0" tIns="0" rIns="0" bIns="0" rtlCol="0" anchor="ctr"/>
          <a:lstStyle/>
          <a:p>
            <a:pPr marL="0" indent="0">
              <a:buNone/>
            </a:pPr>
            <a:r>
              <a:rPr lang="en-US" sz="2400" dirty="0">
                <a:solidFill>
                  <a:srgbClr val="FFFFFF"/>
                </a:solidFill>
                <a:latin typeface="Arial Black" pitchFamily="34" charset="0"/>
                <a:ea typeface="Arial Black" pitchFamily="34" charset="-122"/>
                <a:cs typeface="Arial Black" pitchFamily="34" charset="-120"/>
              </a:rPr>
              <a:t>ARCHITECTURE</a:t>
            </a:r>
            <a:endParaRPr lang="en-US" sz="2400" dirty="0"/>
          </a:p>
        </p:txBody>
      </p:sp>
      <p:sp>
        <p:nvSpPr>
          <p:cNvPr id="4" name="Shape 2"/>
          <p:cNvSpPr/>
          <p:nvPr/>
        </p:nvSpPr>
        <p:spPr>
          <a:xfrm>
            <a:off x="457200" y="731520"/>
            <a:ext cx="1828800" cy="45720"/>
          </a:xfrm>
          <a:prstGeom prst="rect">
            <a:avLst/>
          </a:prstGeom>
          <a:solidFill>
            <a:srgbClr val="00D4FF"/>
          </a:solidFill>
          <a:ln/>
        </p:spPr>
        <p:txBody>
          <a:bodyPr/>
          <a:lstStyle/>
          <a:p>
            <a:endParaRPr lang="en-AE"/>
          </a:p>
        </p:txBody>
      </p:sp>
      <p:sp>
        <p:nvSpPr>
          <p:cNvPr id="5" name="Shape 3"/>
          <p:cNvSpPr/>
          <p:nvPr/>
        </p:nvSpPr>
        <p:spPr>
          <a:xfrm>
            <a:off x="6583680" y="228600"/>
            <a:ext cx="1828800" cy="274320"/>
          </a:xfrm>
          <a:prstGeom prst="roundRect">
            <a:avLst>
              <a:gd name="adj" fmla="val 50000"/>
            </a:avLst>
          </a:prstGeom>
          <a:solidFill>
            <a:srgbClr val="000000"/>
          </a:solidFill>
          <a:ln w="9525">
            <a:solidFill>
              <a:srgbClr val="00D4FF"/>
            </a:solidFill>
            <a:prstDash val="solid"/>
          </a:ln>
        </p:spPr>
        <p:txBody>
          <a:bodyPr/>
          <a:lstStyle/>
          <a:p>
            <a:endParaRPr lang="en-AE"/>
          </a:p>
        </p:txBody>
      </p:sp>
      <p:sp>
        <p:nvSpPr>
          <p:cNvPr id="6" name="Text 4"/>
          <p:cNvSpPr/>
          <p:nvPr/>
        </p:nvSpPr>
        <p:spPr>
          <a:xfrm>
            <a:off x="6583680" y="228600"/>
            <a:ext cx="1828800" cy="274320"/>
          </a:xfrm>
          <a:prstGeom prst="rect">
            <a:avLst/>
          </a:prstGeom>
          <a:noFill/>
          <a:ln/>
        </p:spPr>
        <p:txBody>
          <a:bodyPr wrap="square" lIns="0" tIns="0" rIns="0" bIns="0" rtlCol="0" anchor="ctr"/>
          <a:lstStyle/>
          <a:p>
            <a:pPr marL="0" indent="0" algn="ctr">
              <a:buNone/>
            </a:pPr>
            <a:r>
              <a:rPr lang="en-US" sz="850" b="1" dirty="0">
                <a:solidFill>
                  <a:srgbClr val="00D4FF"/>
                </a:solidFill>
                <a:latin typeface="Calibri" pitchFamily="34" charset="0"/>
                <a:ea typeface="Calibri" pitchFamily="34" charset="-122"/>
                <a:cs typeface="Calibri" pitchFamily="34" charset="-120"/>
              </a:rPr>
              <a:t>⚙ 25% — TECH EXECUTION</a:t>
            </a:r>
            <a:endParaRPr lang="en-US" sz="850" dirty="0"/>
          </a:p>
        </p:txBody>
      </p:sp>
      <p:sp>
        <p:nvSpPr>
          <p:cNvPr id="7" name="Shape 5"/>
          <p:cNvSpPr/>
          <p:nvPr/>
        </p:nvSpPr>
        <p:spPr>
          <a:xfrm>
            <a:off x="457200" y="1051560"/>
            <a:ext cx="8229600" cy="3108960"/>
          </a:xfrm>
          <a:prstGeom prst="roundRect">
            <a:avLst>
              <a:gd name="adj" fmla="val 4412"/>
            </a:avLst>
          </a:prstGeom>
          <a:solidFill>
            <a:srgbClr val="080D18"/>
          </a:solidFill>
          <a:ln w="12700">
            <a:solidFill>
              <a:srgbClr val="5C7090"/>
            </a:solidFill>
            <a:prstDash val="dash"/>
          </a:ln>
        </p:spPr>
        <p:txBody>
          <a:bodyPr/>
          <a:lstStyle/>
          <a:p>
            <a:endParaRPr lang="en-AE"/>
          </a:p>
        </p:txBody>
      </p:sp>
      <p:sp>
        <p:nvSpPr>
          <p:cNvPr id="13" name="Shape 11"/>
          <p:cNvSpPr/>
          <p:nvPr/>
        </p:nvSpPr>
        <p:spPr>
          <a:xfrm>
            <a:off x="0" y="4663440"/>
            <a:ext cx="9144000" cy="480060"/>
          </a:xfrm>
          <a:prstGeom prst="rect">
            <a:avLst/>
          </a:prstGeom>
          <a:solidFill>
            <a:srgbClr val="080D18"/>
          </a:solidFill>
          <a:ln/>
        </p:spPr>
        <p:txBody>
          <a:bodyPr/>
          <a:lstStyle/>
          <a:p>
            <a:endParaRPr lang="en-AE"/>
          </a:p>
        </p:txBody>
      </p:sp>
      <p:sp>
        <p:nvSpPr>
          <p:cNvPr id="14" name="Shape 12"/>
          <p:cNvSpPr/>
          <p:nvPr/>
        </p:nvSpPr>
        <p:spPr>
          <a:xfrm>
            <a:off x="0" y="4663440"/>
            <a:ext cx="9144000" cy="45720"/>
          </a:xfrm>
          <a:prstGeom prst="rect">
            <a:avLst/>
          </a:prstGeom>
          <a:solidFill>
            <a:srgbClr val="FF9900"/>
          </a:solidFill>
          <a:ln/>
        </p:spPr>
        <p:txBody>
          <a:bodyPr/>
          <a:lstStyle/>
          <a:p>
            <a:endParaRPr lang="en-AE"/>
          </a:p>
        </p:txBody>
      </p:sp>
      <p:sp>
        <p:nvSpPr>
          <p:cNvPr id="15" name="Text 13"/>
          <p:cNvSpPr/>
          <p:nvPr/>
        </p:nvSpPr>
        <p:spPr>
          <a:xfrm>
            <a:off x="365760" y="4736592"/>
            <a:ext cx="8412480" cy="320040"/>
          </a:xfrm>
          <a:prstGeom prst="rect">
            <a:avLst/>
          </a:prstGeom>
          <a:noFill/>
          <a:ln/>
        </p:spPr>
        <p:txBody>
          <a:bodyPr wrap="square" lIns="0" tIns="0" rIns="0" bIns="0" rtlCol="0" anchor="ctr"/>
          <a:lstStyle/>
          <a:p>
            <a:pPr marL="0" indent="0" algn="ctr">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pic>
        <p:nvPicPr>
          <p:cNvPr id="16" name="Picture 15" descr="architecture.png"/>
          <p:cNvPicPr>
            <a:picLocks noChangeAspect="1"/>
          </p:cNvPicPr>
          <p:nvPr/>
        </p:nvPicPr>
        <p:blipFill>
          <a:blip r:embed="rId3"/>
          <a:stretch>
            <a:fillRect/>
          </a:stretch>
        </p:blipFill>
        <p:spPr>
          <a:xfrm>
            <a:off x="1572768" y="1097280"/>
            <a:ext cx="5840361" cy="301752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marL="0" indent="0" algn="r">
              <a:buNone/>
            </a:pPr>
            <a:r>
              <a:rPr lang="en-US" sz="900" dirty="0">
                <a:solidFill>
                  <a:srgbClr val="5C7090"/>
                </a:solidFill>
                <a:latin typeface="Consolas" pitchFamily="34" charset="0"/>
                <a:ea typeface="Consolas" pitchFamily="34" charset="-122"/>
                <a:cs typeface="Consolas" pitchFamily="34" charset="-120"/>
              </a:rPr>
              <a:t>7</a:t>
            </a:r>
            <a:endParaRPr lang="en-US" sz="900" dirty="0"/>
          </a:p>
        </p:txBody>
      </p:sp>
      <p:sp>
        <p:nvSpPr>
          <p:cNvPr id="3" name="Text 1"/>
          <p:cNvSpPr/>
          <p:nvPr/>
        </p:nvSpPr>
        <p:spPr>
          <a:xfrm>
            <a:off x="457200" y="182880"/>
            <a:ext cx="4572000" cy="502920"/>
          </a:xfrm>
          <a:prstGeom prst="rect">
            <a:avLst/>
          </a:prstGeom>
          <a:noFill/>
          <a:ln/>
        </p:spPr>
        <p:txBody>
          <a:bodyPr wrap="square" lIns="0" tIns="0" rIns="0" bIns="0" rtlCol="0" anchor="ctr"/>
          <a:lstStyle/>
          <a:p>
            <a:pPr marL="0" indent="0">
              <a:buNone/>
            </a:pPr>
            <a:r>
              <a:rPr lang="en-US" sz="2400" dirty="0">
                <a:solidFill>
                  <a:srgbClr val="FFFFFF"/>
                </a:solidFill>
                <a:latin typeface="Arial Black" pitchFamily="34" charset="0"/>
                <a:ea typeface="Arial Black" pitchFamily="34" charset="-122"/>
                <a:cs typeface="Arial Black" pitchFamily="34" charset="-120"/>
              </a:rPr>
              <a:t>REGIONAL RELEVANCE</a:t>
            </a:r>
            <a:endParaRPr lang="en-US" sz="2400" dirty="0"/>
          </a:p>
        </p:txBody>
      </p:sp>
      <p:sp>
        <p:nvSpPr>
          <p:cNvPr id="4" name="Shape 2"/>
          <p:cNvSpPr/>
          <p:nvPr/>
        </p:nvSpPr>
        <p:spPr>
          <a:xfrm>
            <a:off x="457200" y="731520"/>
            <a:ext cx="1828800" cy="45720"/>
          </a:xfrm>
          <a:prstGeom prst="rect">
            <a:avLst/>
          </a:prstGeom>
          <a:solidFill>
            <a:srgbClr val="7CFC00"/>
          </a:solidFill>
          <a:ln/>
        </p:spPr>
        <p:txBody>
          <a:bodyPr/>
          <a:lstStyle/>
          <a:p>
            <a:endParaRPr lang="en-AE"/>
          </a:p>
        </p:txBody>
      </p:sp>
      <p:sp>
        <p:nvSpPr>
          <p:cNvPr id="5" name="Shape 3"/>
          <p:cNvSpPr/>
          <p:nvPr/>
        </p:nvSpPr>
        <p:spPr>
          <a:xfrm>
            <a:off x="6583680" y="228600"/>
            <a:ext cx="1828800" cy="274320"/>
          </a:xfrm>
          <a:prstGeom prst="roundRect">
            <a:avLst>
              <a:gd name="adj" fmla="val 50000"/>
            </a:avLst>
          </a:prstGeom>
          <a:solidFill>
            <a:srgbClr val="000000"/>
          </a:solidFill>
          <a:ln w="9525">
            <a:solidFill>
              <a:srgbClr val="7CFC00"/>
            </a:solidFill>
            <a:prstDash val="solid"/>
          </a:ln>
        </p:spPr>
        <p:txBody>
          <a:bodyPr/>
          <a:lstStyle/>
          <a:p>
            <a:endParaRPr lang="en-AE"/>
          </a:p>
        </p:txBody>
      </p:sp>
      <p:sp>
        <p:nvSpPr>
          <p:cNvPr id="6" name="Text 4"/>
          <p:cNvSpPr/>
          <p:nvPr/>
        </p:nvSpPr>
        <p:spPr>
          <a:xfrm>
            <a:off x="6583680" y="228600"/>
            <a:ext cx="1828800" cy="274320"/>
          </a:xfrm>
          <a:prstGeom prst="rect">
            <a:avLst/>
          </a:prstGeom>
          <a:noFill/>
          <a:ln/>
        </p:spPr>
        <p:txBody>
          <a:bodyPr wrap="square" lIns="0" tIns="0" rIns="0" bIns="0" rtlCol="0" anchor="ctr"/>
          <a:lstStyle/>
          <a:p>
            <a:pPr marL="0" indent="0" algn="ctr">
              <a:buNone/>
            </a:pPr>
            <a:r>
              <a:rPr lang="en-US" sz="850" b="1" dirty="0">
                <a:solidFill>
                  <a:srgbClr val="7CFC00"/>
                </a:solidFill>
                <a:latin typeface="Calibri" pitchFamily="34" charset="0"/>
                <a:ea typeface="Calibri" pitchFamily="34" charset="-122"/>
                <a:cs typeface="Calibri" pitchFamily="34" charset="-120"/>
              </a:rPr>
              <a:t>🌍 10% — EASY POINTS!</a:t>
            </a:r>
            <a:endParaRPr lang="en-US" sz="850" dirty="0"/>
          </a:p>
        </p:txBody>
      </p:sp>
      <p:sp>
        <p:nvSpPr>
          <p:cNvPr id="7" name="Shape 5"/>
          <p:cNvSpPr/>
          <p:nvPr/>
        </p:nvSpPr>
        <p:spPr>
          <a:xfrm>
            <a:off x="457200" y="1051560"/>
            <a:ext cx="2560320" cy="1143000"/>
          </a:xfrm>
          <a:prstGeom prst="roundRect">
            <a:avLst>
              <a:gd name="adj" fmla="val 8000"/>
            </a:avLst>
          </a:prstGeom>
          <a:solidFill>
            <a:srgbClr val="141E30"/>
          </a:solidFill>
          <a:ln w="9525">
            <a:solidFill>
              <a:srgbClr val="FF9900"/>
            </a:solidFill>
            <a:prstDash val="solid"/>
          </a:ln>
        </p:spPr>
        <p:txBody>
          <a:bodyPr/>
          <a:lstStyle/>
          <a:p>
            <a:endParaRPr lang="en-AE"/>
          </a:p>
        </p:txBody>
      </p:sp>
      <p:sp>
        <p:nvSpPr>
          <p:cNvPr id="8" name="Text 6"/>
          <p:cNvSpPr/>
          <p:nvPr/>
        </p:nvSpPr>
        <p:spPr>
          <a:xfrm>
            <a:off x="594360" y="1124712"/>
            <a:ext cx="2286000" cy="320040"/>
          </a:xfrm>
          <a:prstGeom prst="rect">
            <a:avLst/>
          </a:prstGeom>
          <a:noFill/>
          <a:ln/>
        </p:spPr>
        <p:txBody>
          <a:bodyPr wrap="square" lIns="0" tIns="0" rIns="0" bIns="0" rtlCol="0" anchor="ctr"/>
          <a:lstStyle/>
          <a:p>
            <a:pPr marL="0" indent="0">
              <a:buNone/>
            </a:pPr>
            <a:r>
              <a:rPr lang="en-US" sz="1200" dirty="0">
                <a:solidFill>
                  <a:srgbClr val="FF9900"/>
                </a:solidFill>
                <a:latin typeface="Arial Black" pitchFamily="34" charset="0"/>
                <a:ea typeface="Arial Black" pitchFamily="34" charset="-122"/>
                <a:cs typeface="Arial Black" pitchFamily="34" charset="-120"/>
              </a:rPr>
              <a:t>📝  Arabic &amp; RTL</a:t>
            </a:r>
            <a:endParaRPr lang="en-US" sz="1200" dirty="0"/>
          </a:p>
        </p:txBody>
      </p:sp>
      <p:sp>
        <p:nvSpPr>
          <p:cNvPr id="9" name="Text 7"/>
          <p:cNvSpPr/>
          <p:nvPr/>
        </p:nvSpPr>
        <p:spPr>
          <a:xfrm>
            <a:off x="594360" y="1463040"/>
            <a:ext cx="2286000" cy="640080"/>
          </a:xfrm>
          <a:prstGeom prst="rect">
            <a:avLst/>
          </a:prstGeom>
          <a:noFill/>
          <a:ln/>
        </p:spPr>
        <p:txBody>
          <a:bodyPr wrap="square" lIns="0" tIns="0" rIns="0" bIns="0" rtlCol="0" anchor="t"/>
          <a:lstStyle/>
          <a:p>
            <a:pPr marL="0" indent="0">
              <a:lnSpc>
                <a:spcPts val="1300"/>
              </a:lnSpc>
              <a:buNone/>
            </a:pPr>
            <a:r>
              <a:rPr lang="en-US" sz="900" dirty="0">
                <a:solidFill>
                  <a:srgbClr val="A8B8CC"/>
                </a:solidFill>
                <a:latin typeface="Calibri" pitchFamily="34" charset="0"/>
                <a:ea typeface="Calibri" pitchFamily="34" charset="-122"/>
                <a:cs typeface="Calibri" pitchFamily="34" charset="-120"/>
              </a:rPr>
              <a:t>Full Arabic UI with right-to-left layout and one-tap switching; call scripts in Arabic and English.</a:t>
            </a:r>
            <a:endParaRPr lang="en-US" sz="900" dirty="0"/>
          </a:p>
        </p:txBody>
      </p:sp>
      <p:sp>
        <p:nvSpPr>
          <p:cNvPr id="10" name="Shape 8"/>
          <p:cNvSpPr/>
          <p:nvPr/>
        </p:nvSpPr>
        <p:spPr>
          <a:xfrm>
            <a:off x="3200400" y="1051560"/>
            <a:ext cx="2560320" cy="1143000"/>
          </a:xfrm>
          <a:prstGeom prst="roundRect">
            <a:avLst>
              <a:gd name="adj" fmla="val 8000"/>
            </a:avLst>
          </a:prstGeom>
          <a:solidFill>
            <a:srgbClr val="141E30"/>
          </a:solidFill>
          <a:ln w="9525">
            <a:solidFill>
              <a:srgbClr val="00D4FF"/>
            </a:solidFill>
            <a:prstDash val="solid"/>
          </a:ln>
        </p:spPr>
        <p:txBody>
          <a:bodyPr/>
          <a:lstStyle/>
          <a:p>
            <a:endParaRPr lang="en-AE"/>
          </a:p>
        </p:txBody>
      </p:sp>
      <p:sp>
        <p:nvSpPr>
          <p:cNvPr id="11" name="Text 9"/>
          <p:cNvSpPr/>
          <p:nvPr/>
        </p:nvSpPr>
        <p:spPr>
          <a:xfrm>
            <a:off x="3337560" y="1124712"/>
            <a:ext cx="2286000" cy="320040"/>
          </a:xfrm>
          <a:prstGeom prst="rect">
            <a:avLst/>
          </a:prstGeom>
          <a:noFill/>
          <a:ln/>
        </p:spPr>
        <p:txBody>
          <a:bodyPr wrap="square" lIns="0" tIns="0" rIns="0" bIns="0" rtlCol="0" anchor="ctr"/>
          <a:lstStyle/>
          <a:p>
            <a:pPr marL="0" indent="0">
              <a:buNone/>
            </a:pPr>
            <a:r>
              <a:rPr lang="en-US" sz="1200" dirty="0">
                <a:solidFill>
                  <a:srgbClr val="00D4FF"/>
                </a:solidFill>
                <a:latin typeface="Arial Black" pitchFamily="34" charset="0"/>
                <a:ea typeface="Arial Black" pitchFamily="34" charset="-122"/>
                <a:cs typeface="Arial Black" pitchFamily="34" charset="-120"/>
              </a:rPr>
              <a:t>♿  Accessibility</a:t>
            </a:r>
            <a:endParaRPr lang="en-US" sz="1200" dirty="0"/>
          </a:p>
        </p:txBody>
      </p:sp>
      <p:sp>
        <p:nvSpPr>
          <p:cNvPr id="12" name="Text 10"/>
          <p:cNvSpPr/>
          <p:nvPr/>
        </p:nvSpPr>
        <p:spPr>
          <a:xfrm>
            <a:off x="3337560" y="1463040"/>
            <a:ext cx="2286000" cy="640080"/>
          </a:xfrm>
          <a:prstGeom prst="rect">
            <a:avLst/>
          </a:prstGeom>
          <a:noFill/>
          <a:ln/>
        </p:spPr>
        <p:txBody>
          <a:bodyPr wrap="square" lIns="0" tIns="0" rIns="0" bIns="0" rtlCol="0" anchor="t"/>
          <a:lstStyle/>
          <a:p>
            <a:pPr marL="0" indent="0">
              <a:lnSpc>
                <a:spcPts val="1300"/>
              </a:lnSpc>
              <a:buNone/>
            </a:pPr>
            <a:r>
              <a:rPr lang="en-US" sz="900" dirty="0">
                <a:solidFill>
                  <a:srgbClr val="A8B8CC"/>
                </a:solidFill>
                <a:latin typeface="Calibri" pitchFamily="34" charset="0"/>
                <a:ea typeface="Calibri" pitchFamily="34" charset="-122"/>
                <a:cs typeface="Calibri" pitchFamily="34" charset="-120"/>
              </a:rPr>
              <a:t>Plain-language answers, mic input in chat, and a voice agent that makes calls for the patient.</a:t>
            </a:r>
            <a:endParaRPr lang="en-US" sz="900" dirty="0"/>
          </a:p>
        </p:txBody>
      </p:sp>
      <p:sp>
        <p:nvSpPr>
          <p:cNvPr id="13" name="Shape 11"/>
          <p:cNvSpPr/>
          <p:nvPr/>
        </p:nvSpPr>
        <p:spPr>
          <a:xfrm>
            <a:off x="457200" y="2377440"/>
            <a:ext cx="2560320" cy="1143000"/>
          </a:xfrm>
          <a:prstGeom prst="roundRect">
            <a:avLst>
              <a:gd name="adj" fmla="val 8000"/>
            </a:avLst>
          </a:prstGeom>
          <a:solidFill>
            <a:srgbClr val="141E30"/>
          </a:solidFill>
          <a:ln w="9525">
            <a:solidFill>
              <a:srgbClr val="A855F7"/>
            </a:solidFill>
            <a:prstDash val="solid"/>
          </a:ln>
        </p:spPr>
        <p:txBody>
          <a:bodyPr/>
          <a:lstStyle/>
          <a:p>
            <a:endParaRPr lang="en-AE"/>
          </a:p>
        </p:txBody>
      </p:sp>
      <p:sp>
        <p:nvSpPr>
          <p:cNvPr id="14" name="Text 12"/>
          <p:cNvSpPr/>
          <p:nvPr/>
        </p:nvSpPr>
        <p:spPr>
          <a:xfrm>
            <a:off x="594360" y="2450592"/>
            <a:ext cx="2286000" cy="320040"/>
          </a:xfrm>
          <a:prstGeom prst="rect">
            <a:avLst/>
          </a:prstGeom>
          <a:noFill/>
          <a:ln/>
        </p:spPr>
        <p:txBody>
          <a:bodyPr wrap="square" lIns="0" tIns="0" rIns="0" bIns="0" rtlCol="0" anchor="ctr"/>
          <a:lstStyle/>
          <a:p>
            <a:pPr marL="0" indent="0">
              <a:buNone/>
            </a:pPr>
            <a:r>
              <a:rPr lang="en-US" sz="1200" dirty="0">
                <a:solidFill>
                  <a:srgbClr val="A855F7"/>
                </a:solidFill>
                <a:latin typeface="Arial Black" pitchFamily="34" charset="0"/>
                <a:ea typeface="Arial Black" pitchFamily="34" charset="-122"/>
                <a:cs typeface="Arial Black" pitchFamily="34" charset="-120"/>
              </a:rPr>
              <a:t>🔒  Data Privacy</a:t>
            </a:r>
            <a:endParaRPr lang="en-US" sz="1200" dirty="0"/>
          </a:p>
        </p:txBody>
      </p:sp>
      <p:sp>
        <p:nvSpPr>
          <p:cNvPr id="15" name="Text 13"/>
          <p:cNvSpPr/>
          <p:nvPr/>
        </p:nvSpPr>
        <p:spPr>
          <a:xfrm>
            <a:off x="594360" y="2788920"/>
            <a:ext cx="2286000" cy="640080"/>
          </a:xfrm>
          <a:prstGeom prst="rect">
            <a:avLst/>
          </a:prstGeom>
          <a:noFill/>
          <a:ln/>
        </p:spPr>
        <p:txBody>
          <a:bodyPr wrap="square" lIns="0" tIns="0" rIns="0" bIns="0" rtlCol="0" anchor="t"/>
          <a:lstStyle/>
          <a:p>
            <a:pPr marL="0" indent="0">
              <a:lnSpc>
                <a:spcPts val="1300"/>
              </a:lnSpc>
              <a:buNone/>
            </a:pPr>
            <a:r>
              <a:rPr lang="en-US" sz="900" dirty="0">
                <a:solidFill>
                  <a:srgbClr val="A8B8CC"/>
                </a:solidFill>
                <a:latin typeface="Calibri" pitchFamily="34" charset="0"/>
                <a:ea typeface="Calibri" pitchFamily="34" charset="-122"/>
                <a:cs typeface="Calibri" pitchFamily="34" charset="-120"/>
              </a:rPr>
              <a:t>Encrypted in transit and at rest, minimal data, no patient data in logs. Production: AWS UAE region, UAE PDPL.</a:t>
            </a:r>
            <a:endParaRPr lang="en-US" sz="900" dirty="0"/>
          </a:p>
        </p:txBody>
      </p:sp>
      <p:sp>
        <p:nvSpPr>
          <p:cNvPr id="16" name="Shape 14"/>
          <p:cNvSpPr/>
          <p:nvPr/>
        </p:nvSpPr>
        <p:spPr>
          <a:xfrm>
            <a:off x="3200400" y="2377440"/>
            <a:ext cx="2560320" cy="1143000"/>
          </a:xfrm>
          <a:prstGeom prst="roundRect">
            <a:avLst>
              <a:gd name="adj" fmla="val 8000"/>
            </a:avLst>
          </a:prstGeom>
          <a:solidFill>
            <a:srgbClr val="141E30"/>
          </a:solidFill>
          <a:ln w="9525">
            <a:solidFill>
              <a:srgbClr val="7CFC00"/>
            </a:solidFill>
            <a:prstDash val="solid"/>
          </a:ln>
        </p:spPr>
        <p:txBody>
          <a:bodyPr/>
          <a:lstStyle/>
          <a:p>
            <a:endParaRPr lang="en-AE"/>
          </a:p>
        </p:txBody>
      </p:sp>
      <p:sp>
        <p:nvSpPr>
          <p:cNvPr id="17" name="Text 15"/>
          <p:cNvSpPr/>
          <p:nvPr/>
        </p:nvSpPr>
        <p:spPr>
          <a:xfrm>
            <a:off x="3337560" y="2450592"/>
            <a:ext cx="2286000" cy="320040"/>
          </a:xfrm>
          <a:prstGeom prst="rect">
            <a:avLst/>
          </a:prstGeom>
          <a:noFill/>
          <a:ln/>
        </p:spPr>
        <p:txBody>
          <a:bodyPr wrap="square" lIns="0" tIns="0" rIns="0" bIns="0" rtlCol="0" anchor="ctr"/>
          <a:lstStyle/>
          <a:p>
            <a:pPr marL="0" indent="0">
              <a:buNone/>
            </a:pPr>
            <a:r>
              <a:rPr lang="en-US" sz="1200" dirty="0">
                <a:solidFill>
                  <a:srgbClr val="7CFC00"/>
                </a:solidFill>
                <a:latin typeface="Arial Black" pitchFamily="34" charset="0"/>
                <a:ea typeface="Arial Black" pitchFamily="34" charset="-122"/>
                <a:cs typeface="Arial Black" pitchFamily="34" charset="-120"/>
              </a:rPr>
              <a:t>🏗  Local Workflows</a:t>
            </a:r>
            <a:endParaRPr lang="en-US" sz="1200" dirty="0"/>
          </a:p>
        </p:txBody>
      </p:sp>
      <p:sp>
        <p:nvSpPr>
          <p:cNvPr id="18" name="Text 16"/>
          <p:cNvSpPr/>
          <p:nvPr/>
        </p:nvSpPr>
        <p:spPr>
          <a:xfrm>
            <a:off x="3337560" y="2788920"/>
            <a:ext cx="2286000" cy="640080"/>
          </a:xfrm>
          <a:prstGeom prst="rect">
            <a:avLst/>
          </a:prstGeom>
          <a:noFill/>
          <a:ln/>
        </p:spPr>
        <p:txBody>
          <a:bodyPr wrap="square" lIns="0" tIns="0" rIns="0" bIns="0" rtlCol="0" anchor="t"/>
          <a:lstStyle/>
          <a:p>
            <a:pPr marL="0" indent="0">
              <a:lnSpc>
                <a:spcPts val="1300"/>
              </a:lnSpc>
              <a:buNone/>
            </a:pPr>
            <a:r>
              <a:rPr lang="en-US" sz="900" dirty="0">
                <a:solidFill>
                  <a:srgbClr val="A8B8CC"/>
                </a:solidFill>
                <a:latin typeface="Calibri" pitchFamily="34" charset="0"/>
                <a:ea typeface="Calibri" pitchFamily="34" charset="-122"/>
                <a:cs typeface="Calibri" pitchFamily="34" charset="-120"/>
              </a:rPr>
              <a:t>Designed for UAE care: +971 clinic and insurer calls, insurer pre-approval, DHA/DoH next steps.</a:t>
            </a:r>
            <a:endParaRPr lang="en-US" sz="900" dirty="0"/>
          </a:p>
        </p:txBody>
      </p:sp>
      <p:sp>
        <p:nvSpPr>
          <p:cNvPr id="19" name="Shape 17"/>
          <p:cNvSpPr/>
          <p:nvPr/>
        </p:nvSpPr>
        <p:spPr>
          <a:xfrm>
            <a:off x="5669280" y="1051560"/>
            <a:ext cx="3108960" cy="2606040"/>
          </a:xfrm>
          <a:prstGeom prst="roundRect">
            <a:avLst>
              <a:gd name="adj" fmla="val 4211"/>
            </a:avLst>
          </a:prstGeom>
          <a:solidFill>
            <a:srgbClr val="0A0F1A"/>
          </a:solidFill>
          <a:ln w="9525">
            <a:solidFill>
              <a:srgbClr val="7CFC00"/>
            </a:solidFill>
            <a:prstDash val="dash"/>
          </a:ln>
        </p:spPr>
        <p:txBody>
          <a:bodyPr/>
          <a:lstStyle/>
          <a:p>
            <a:endParaRPr lang="en-AE"/>
          </a:p>
        </p:txBody>
      </p:sp>
      <p:sp>
        <p:nvSpPr>
          <p:cNvPr id="22" name="Shape 20"/>
          <p:cNvSpPr/>
          <p:nvPr/>
        </p:nvSpPr>
        <p:spPr>
          <a:xfrm>
            <a:off x="0" y="4663440"/>
            <a:ext cx="9144000" cy="480060"/>
          </a:xfrm>
          <a:prstGeom prst="rect">
            <a:avLst/>
          </a:prstGeom>
          <a:solidFill>
            <a:srgbClr val="080D18"/>
          </a:solidFill>
          <a:ln/>
        </p:spPr>
        <p:txBody>
          <a:bodyPr/>
          <a:lstStyle/>
          <a:p>
            <a:endParaRPr lang="en-AE"/>
          </a:p>
        </p:txBody>
      </p:sp>
      <p:sp>
        <p:nvSpPr>
          <p:cNvPr id="23" name="Shape 21"/>
          <p:cNvSpPr/>
          <p:nvPr/>
        </p:nvSpPr>
        <p:spPr>
          <a:xfrm>
            <a:off x="0" y="4663440"/>
            <a:ext cx="9144000" cy="45720"/>
          </a:xfrm>
          <a:prstGeom prst="rect">
            <a:avLst/>
          </a:prstGeom>
          <a:solidFill>
            <a:srgbClr val="FF9900"/>
          </a:solidFill>
          <a:ln/>
        </p:spPr>
        <p:txBody>
          <a:bodyPr/>
          <a:lstStyle/>
          <a:p>
            <a:endParaRPr lang="en-AE"/>
          </a:p>
        </p:txBody>
      </p:sp>
      <p:sp>
        <p:nvSpPr>
          <p:cNvPr id="24" name="Text 22"/>
          <p:cNvSpPr/>
          <p:nvPr/>
        </p:nvSpPr>
        <p:spPr>
          <a:xfrm>
            <a:off x="365760" y="4736592"/>
            <a:ext cx="8412480" cy="320040"/>
          </a:xfrm>
          <a:prstGeom prst="rect">
            <a:avLst/>
          </a:prstGeom>
          <a:noFill/>
          <a:ln/>
        </p:spPr>
        <p:txBody>
          <a:bodyPr wrap="square" lIns="0" tIns="0" rIns="0" bIns="0" rtlCol="0" anchor="ctr"/>
          <a:lstStyle/>
          <a:p>
            <a:pPr marL="0" indent="0" algn="ctr">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pic>
        <p:nvPicPr>
          <p:cNvPr id="25" name="Picture 24" descr="home-ar.png"/>
          <p:cNvPicPr>
            <a:picLocks noChangeAspect="1"/>
          </p:cNvPicPr>
          <p:nvPr/>
        </p:nvPicPr>
        <p:blipFill>
          <a:blip r:embed="rId3"/>
          <a:stretch>
            <a:fillRect/>
          </a:stretch>
        </p:blipFill>
        <p:spPr>
          <a:xfrm>
            <a:off x="5852160" y="1188720"/>
            <a:ext cx="2743200" cy="1714500"/>
          </a:xfrm>
          <a:prstGeom prst="rect">
            <a:avLst/>
          </a:prstGeom>
        </p:spPr>
      </p:pic>
      <p:sp>
        <p:nvSpPr>
          <p:cNvPr id="26" name="TextBox 25"/>
          <p:cNvSpPr txBox="1"/>
          <p:nvPr/>
        </p:nvSpPr>
        <p:spPr>
          <a:xfrm>
            <a:off x="5852160" y="2971800"/>
            <a:ext cx="2743200" cy="365760"/>
          </a:xfrm>
          <a:prstGeom prst="rect">
            <a:avLst/>
          </a:prstGeom>
          <a:noFill/>
        </p:spPr>
        <p:txBody>
          <a:bodyPr wrap="square" lIns="0" tIns="0" rIns="0" bIns="0" anchor="t">
            <a:spAutoFit/>
          </a:bodyPr>
          <a:lstStyle/>
          <a:p>
            <a:pPr algn="l">
              <a:spcAft>
                <a:spcPts val="200"/>
              </a:spcAft>
            </a:pPr>
            <a:r>
              <a:rPr sz="900" b="0">
                <a:solidFill>
                  <a:srgbClr val="A8B8CC"/>
                </a:solidFill>
                <a:latin typeface="Calibri"/>
              </a:rPr>
              <a:t>Live Arabic, right-to-left landing page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marL="0" indent="0" algn="r">
              <a:buNone/>
            </a:pPr>
            <a:r>
              <a:rPr lang="en-US" sz="900" dirty="0">
                <a:solidFill>
                  <a:srgbClr val="5C7090"/>
                </a:solidFill>
                <a:latin typeface="Consolas" pitchFamily="34" charset="0"/>
                <a:ea typeface="Consolas" pitchFamily="34" charset="-122"/>
                <a:cs typeface="Consolas" pitchFamily="34" charset="-120"/>
              </a:rPr>
              <a:t>8</a:t>
            </a:r>
            <a:endParaRPr lang="en-US" sz="900" dirty="0"/>
          </a:p>
        </p:txBody>
      </p:sp>
      <p:sp>
        <p:nvSpPr>
          <p:cNvPr id="3" name="Text 1"/>
          <p:cNvSpPr/>
          <p:nvPr/>
        </p:nvSpPr>
        <p:spPr>
          <a:xfrm>
            <a:off x="457200" y="182880"/>
            <a:ext cx="3657600" cy="502920"/>
          </a:xfrm>
          <a:prstGeom prst="rect">
            <a:avLst/>
          </a:prstGeom>
          <a:noFill/>
          <a:ln/>
        </p:spPr>
        <p:txBody>
          <a:bodyPr wrap="square" lIns="0" tIns="0" rIns="0" bIns="0" rtlCol="0" anchor="ctr"/>
          <a:lstStyle/>
          <a:p>
            <a:pPr marL="0" indent="0">
              <a:buNone/>
            </a:pPr>
            <a:r>
              <a:rPr lang="en-US" sz="2400" dirty="0">
                <a:solidFill>
                  <a:srgbClr val="FFFFFF"/>
                </a:solidFill>
                <a:latin typeface="Arial Black" pitchFamily="34" charset="0"/>
                <a:ea typeface="Arial Black" pitchFamily="34" charset="-122"/>
                <a:cs typeface="Arial Black" pitchFamily="34" charset="-120"/>
              </a:rPr>
              <a:t>DATA PROTECTION</a:t>
            </a:r>
            <a:endParaRPr lang="en-US" sz="2400" dirty="0"/>
          </a:p>
        </p:txBody>
      </p:sp>
      <p:sp>
        <p:nvSpPr>
          <p:cNvPr id="4" name="Shape 2"/>
          <p:cNvSpPr/>
          <p:nvPr/>
        </p:nvSpPr>
        <p:spPr>
          <a:xfrm>
            <a:off x="457200" y="731520"/>
            <a:ext cx="1828800" cy="45720"/>
          </a:xfrm>
          <a:prstGeom prst="rect">
            <a:avLst/>
          </a:prstGeom>
          <a:solidFill>
            <a:srgbClr val="00D4FF"/>
          </a:solidFill>
          <a:ln/>
        </p:spPr>
        <p:txBody>
          <a:bodyPr/>
          <a:lstStyle/>
          <a:p>
            <a:endParaRPr lang="en-AE"/>
          </a:p>
        </p:txBody>
      </p:sp>
      <p:sp>
        <p:nvSpPr>
          <p:cNvPr id="5" name="Shape 3"/>
          <p:cNvSpPr/>
          <p:nvPr/>
        </p:nvSpPr>
        <p:spPr>
          <a:xfrm>
            <a:off x="6583680" y="228600"/>
            <a:ext cx="1828800" cy="274320"/>
          </a:xfrm>
          <a:prstGeom prst="roundRect">
            <a:avLst>
              <a:gd name="adj" fmla="val 50000"/>
            </a:avLst>
          </a:prstGeom>
          <a:solidFill>
            <a:srgbClr val="000000"/>
          </a:solidFill>
          <a:ln w="9525">
            <a:solidFill>
              <a:srgbClr val="00D4FF"/>
            </a:solidFill>
            <a:prstDash val="solid"/>
          </a:ln>
        </p:spPr>
        <p:txBody>
          <a:bodyPr/>
          <a:lstStyle/>
          <a:p>
            <a:endParaRPr lang="en-AE"/>
          </a:p>
        </p:txBody>
      </p:sp>
      <p:sp>
        <p:nvSpPr>
          <p:cNvPr id="6" name="Text 4"/>
          <p:cNvSpPr/>
          <p:nvPr/>
        </p:nvSpPr>
        <p:spPr>
          <a:xfrm>
            <a:off x="6583680" y="228600"/>
            <a:ext cx="1828800" cy="274320"/>
          </a:xfrm>
          <a:prstGeom prst="rect">
            <a:avLst/>
          </a:prstGeom>
          <a:noFill/>
          <a:ln/>
        </p:spPr>
        <p:txBody>
          <a:bodyPr wrap="square" lIns="0" tIns="0" rIns="0" bIns="0" rtlCol="0" anchor="ctr"/>
          <a:lstStyle/>
          <a:p>
            <a:pPr marL="0" indent="0" algn="ctr">
              <a:buNone/>
            </a:pPr>
            <a:r>
              <a:rPr lang="en-US" sz="850" b="1" dirty="0">
                <a:solidFill>
                  <a:srgbClr val="00D4FF"/>
                </a:solidFill>
                <a:latin typeface="Calibri" pitchFamily="34" charset="0"/>
                <a:ea typeface="Calibri" pitchFamily="34" charset="-122"/>
                <a:cs typeface="Calibri" pitchFamily="34" charset="-120"/>
              </a:rPr>
              <a:t>🔒 UAE PDPL</a:t>
            </a:r>
            <a:endParaRPr lang="en-US" sz="850" dirty="0"/>
          </a:p>
        </p:txBody>
      </p:sp>
      <p:sp>
        <p:nvSpPr>
          <p:cNvPr id="7" name="Shape 5"/>
          <p:cNvSpPr/>
          <p:nvPr/>
        </p:nvSpPr>
        <p:spPr>
          <a:xfrm>
            <a:off x="457200" y="1051560"/>
            <a:ext cx="8229600" cy="3108960"/>
          </a:xfrm>
          <a:prstGeom prst="roundRect">
            <a:avLst>
              <a:gd name="adj" fmla="val 4412"/>
            </a:avLst>
          </a:prstGeom>
          <a:solidFill>
            <a:srgbClr val="080D18"/>
          </a:solidFill>
          <a:ln w="12700">
            <a:solidFill>
              <a:srgbClr val="5C7090"/>
            </a:solidFill>
            <a:prstDash val="dash"/>
          </a:ln>
        </p:spPr>
        <p:txBody>
          <a:bodyPr/>
          <a:lstStyle/>
          <a:p>
            <a:endParaRPr lang="en-AE"/>
          </a:p>
        </p:txBody>
      </p:sp>
      <p:sp>
        <p:nvSpPr>
          <p:cNvPr id="13" name="Shape 11"/>
          <p:cNvSpPr/>
          <p:nvPr/>
        </p:nvSpPr>
        <p:spPr>
          <a:xfrm>
            <a:off x="0" y="4663440"/>
            <a:ext cx="9144000" cy="480060"/>
          </a:xfrm>
          <a:prstGeom prst="rect">
            <a:avLst/>
          </a:prstGeom>
          <a:solidFill>
            <a:srgbClr val="080D18"/>
          </a:solidFill>
          <a:ln/>
        </p:spPr>
        <p:txBody>
          <a:bodyPr/>
          <a:lstStyle/>
          <a:p>
            <a:endParaRPr lang="en-AE"/>
          </a:p>
        </p:txBody>
      </p:sp>
      <p:sp>
        <p:nvSpPr>
          <p:cNvPr id="14" name="Shape 12"/>
          <p:cNvSpPr/>
          <p:nvPr/>
        </p:nvSpPr>
        <p:spPr>
          <a:xfrm>
            <a:off x="0" y="4663440"/>
            <a:ext cx="9144000" cy="45720"/>
          </a:xfrm>
          <a:prstGeom prst="rect">
            <a:avLst/>
          </a:prstGeom>
          <a:solidFill>
            <a:srgbClr val="FF9900"/>
          </a:solidFill>
          <a:ln/>
        </p:spPr>
        <p:txBody>
          <a:bodyPr/>
          <a:lstStyle/>
          <a:p>
            <a:endParaRPr lang="en-AE"/>
          </a:p>
        </p:txBody>
      </p:sp>
      <p:sp>
        <p:nvSpPr>
          <p:cNvPr id="15" name="Text 13"/>
          <p:cNvSpPr/>
          <p:nvPr/>
        </p:nvSpPr>
        <p:spPr>
          <a:xfrm>
            <a:off x="365760" y="4736592"/>
            <a:ext cx="8412480" cy="320040"/>
          </a:xfrm>
          <a:prstGeom prst="rect">
            <a:avLst/>
          </a:prstGeom>
          <a:noFill/>
          <a:ln/>
        </p:spPr>
        <p:txBody>
          <a:bodyPr wrap="square" lIns="0" tIns="0" rIns="0" bIns="0" rtlCol="0" anchor="ctr"/>
          <a:lstStyle/>
          <a:p>
            <a:pPr marL="0" indent="0" algn="ctr">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graphicFrame>
        <p:nvGraphicFramePr>
          <p:cNvPr id="16" name="Table 15"/>
          <p:cNvGraphicFramePr>
            <a:graphicFrameLocks noGrp="1"/>
          </p:cNvGraphicFramePr>
          <p:nvPr/>
        </p:nvGraphicFramePr>
        <p:xfrm>
          <a:off x="548640" y="1143000"/>
          <a:ext cx="4389120" cy="265176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tblGrid>
              <a:tr h="530352">
                <a:tc>
                  <a:txBody>
                    <a:bodyPr/>
                    <a:lstStyle/>
                    <a:p>
                      <a:r>
                        <a:rPr sz="900" b="1">
                          <a:solidFill>
                            <a:srgbClr val="FF9900"/>
                          </a:solidFill>
                          <a:latin typeface="Calibri"/>
                        </a:rPr>
                        <a:t>UAE law or standard</a:t>
                      </a:r>
                    </a:p>
                  </a:txBody>
                  <a:tcPr marL="73152" marR="73152" marT="36576" marB="36576">
                    <a:solidFill>
                      <a:srgbClr val="1C2A42"/>
                    </a:solidFill>
                  </a:tcPr>
                </a:tc>
                <a:tc>
                  <a:txBody>
                    <a:bodyPr/>
                    <a:lstStyle/>
                    <a:p>
                      <a:r>
                        <a:rPr sz="900" b="1">
                          <a:solidFill>
                            <a:srgbClr val="FF9900"/>
                          </a:solidFill>
                          <a:latin typeface="Calibri"/>
                        </a:rPr>
                        <a:t>What it means for us</a:t>
                      </a:r>
                    </a:p>
                  </a:txBody>
                  <a:tcPr marL="73152" marR="73152" marT="36576" marB="36576">
                    <a:solidFill>
                      <a:srgbClr val="1C2A42"/>
                    </a:solidFill>
                  </a:tcPr>
                </a:tc>
                <a:extLst>
                  <a:ext uri="{0D108BD9-81ED-4DB2-BD59-A6C34878D82A}">
                    <a16:rowId xmlns:a16="http://schemas.microsoft.com/office/drawing/2014/main" val="10000"/>
                  </a:ext>
                </a:extLst>
              </a:tr>
              <a:tr h="530352">
                <a:tc>
                  <a:txBody>
                    <a:bodyPr/>
                    <a:lstStyle/>
                    <a:p>
                      <a:r>
                        <a:rPr sz="900" b="1">
                          <a:solidFill>
                            <a:srgbClr val="FFFFFF"/>
                          </a:solidFill>
                          <a:latin typeface="Calibri"/>
                        </a:rPr>
                        <a:t>Federal Decree-Law No. 45 of 2021 (PDPL) · UAE Data Office</a:t>
                      </a:r>
                    </a:p>
                  </a:txBody>
                  <a:tcPr marL="73152" marR="73152" marT="36576" marB="36576">
                    <a:solidFill>
                      <a:srgbClr val="141E30"/>
                    </a:solidFill>
                  </a:tcPr>
                </a:tc>
                <a:tc>
                  <a:txBody>
                    <a:bodyPr/>
                    <a:lstStyle/>
                    <a:p>
                      <a:r>
                        <a:rPr sz="900" b="0">
                          <a:solidFill>
                            <a:srgbClr val="A8B8CC"/>
                          </a:solidFill>
                          <a:latin typeface="Calibri"/>
                        </a:rPr>
                        <a:t>Consent, purpose limitation, minimisation; health data is sensitive</a:t>
                      </a:r>
                    </a:p>
                  </a:txBody>
                  <a:tcPr marL="73152" marR="73152" marT="36576" marB="36576">
                    <a:solidFill>
                      <a:srgbClr val="141E30"/>
                    </a:solidFill>
                  </a:tcPr>
                </a:tc>
                <a:extLst>
                  <a:ext uri="{0D108BD9-81ED-4DB2-BD59-A6C34878D82A}">
                    <a16:rowId xmlns:a16="http://schemas.microsoft.com/office/drawing/2014/main" val="10001"/>
                  </a:ext>
                </a:extLst>
              </a:tr>
              <a:tr h="530352">
                <a:tc>
                  <a:txBody>
                    <a:bodyPr/>
                    <a:lstStyle/>
                    <a:p>
                      <a:r>
                        <a:rPr sz="900" b="1">
                          <a:solidFill>
                            <a:srgbClr val="FFFFFF"/>
                          </a:solidFill>
                          <a:latin typeface="Calibri"/>
                        </a:rPr>
                        <a:t>Federal Law No. 2 of 2019 (ICT in Health Fields)</a:t>
                      </a:r>
                    </a:p>
                  </a:txBody>
                  <a:tcPr marL="73152" marR="73152" marT="36576" marB="36576">
                    <a:solidFill>
                      <a:srgbClr val="141E30"/>
                    </a:solidFill>
                  </a:tcPr>
                </a:tc>
                <a:tc>
                  <a:txBody>
                    <a:bodyPr/>
                    <a:lstStyle/>
                    <a:p>
                      <a:r>
                        <a:rPr sz="900" b="0">
                          <a:solidFill>
                            <a:srgbClr val="A8B8CC"/>
                          </a:solidFill>
                          <a:latin typeface="Calibri"/>
                        </a:rPr>
                        <a:t>Health data stored and processed in the UAE</a:t>
                      </a:r>
                    </a:p>
                  </a:txBody>
                  <a:tcPr marL="73152" marR="73152" marT="36576" marB="36576">
                    <a:solidFill>
                      <a:srgbClr val="141E30"/>
                    </a:solidFill>
                  </a:tcPr>
                </a:tc>
                <a:extLst>
                  <a:ext uri="{0D108BD9-81ED-4DB2-BD59-A6C34878D82A}">
                    <a16:rowId xmlns:a16="http://schemas.microsoft.com/office/drawing/2014/main" val="10002"/>
                  </a:ext>
                </a:extLst>
              </a:tr>
              <a:tr h="530352">
                <a:tc>
                  <a:txBody>
                    <a:bodyPr/>
                    <a:lstStyle/>
                    <a:p>
                      <a:r>
                        <a:rPr sz="900" b="1">
                          <a:solidFill>
                            <a:srgbClr val="FFFFFF"/>
                          </a:solidFill>
                          <a:latin typeface="Calibri"/>
                        </a:rPr>
                        <a:t>DIFC DP Law No. 5 of 2020 · ADGM DP Regulations 2021</a:t>
                      </a:r>
                    </a:p>
                  </a:txBody>
                  <a:tcPr marL="73152" marR="73152" marT="36576" marB="36576">
                    <a:solidFill>
                      <a:srgbClr val="141E30"/>
                    </a:solidFill>
                  </a:tcPr>
                </a:tc>
                <a:tc>
                  <a:txBody>
                    <a:bodyPr/>
                    <a:lstStyle/>
                    <a:p>
                      <a:r>
                        <a:rPr sz="900" b="0">
                          <a:solidFill>
                            <a:srgbClr val="A8B8CC"/>
                          </a:solidFill>
                          <a:latin typeface="Calibri"/>
                        </a:rPr>
                        <a:t>Free-zone partners follow their own regime</a:t>
                      </a:r>
                    </a:p>
                  </a:txBody>
                  <a:tcPr marL="73152" marR="73152" marT="36576" marB="36576">
                    <a:solidFill>
                      <a:srgbClr val="141E30"/>
                    </a:solidFill>
                  </a:tcPr>
                </a:tc>
                <a:extLst>
                  <a:ext uri="{0D108BD9-81ED-4DB2-BD59-A6C34878D82A}">
                    <a16:rowId xmlns:a16="http://schemas.microsoft.com/office/drawing/2014/main" val="10003"/>
                  </a:ext>
                </a:extLst>
              </a:tr>
              <a:tr h="530352">
                <a:tc>
                  <a:txBody>
                    <a:bodyPr/>
                    <a:lstStyle/>
                    <a:p>
                      <a:r>
                        <a:rPr sz="900" b="1">
                          <a:solidFill>
                            <a:srgbClr val="FFFFFF"/>
                          </a:solidFill>
                          <a:latin typeface="Calibri"/>
                        </a:rPr>
                        <a:t>DoH Abu Dhabi · DHA standards</a:t>
                      </a:r>
                    </a:p>
                  </a:txBody>
                  <a:tcPr marL="73152" marR="73152" marT="36576" marB="36576">
                    <a:solidFill>
                      <a:srgbClr val="141E30"/>
                    </a:solidFill>
                  </a:tcPr>
                </a:tc>
                <a:tc>
                  <a:txBody>
                    <a:bodyPr/>
                    <a:lstStyle/>
                    <a:p>
                      <a:r>
                        <a:rPr sz="900" b="0">
                          <a:solidFill>
                            <a:srgbClr val="A8B8CC"/>
                          </a:solidFill>
                          <a:latin typeface="Calibri"/>
                        </a:rPr>
                        <a:t>Health information security controls</a:t>
                      </a:r>
                    </a:p>
                  </a:txBody>
                  <a:tcPr marL="73152" marR="73152" marT="36576" marB="36576">
                    <a:solidFill>
                      <a:srgbClr val="141E30"/>
                    </a:solidFill>
                  </a:tcPr>
                </a:tc>
                <a:extLst>
                  <a:ext uri="{0D108BD9-81ED-4DB2-BD59-A6C34878D82A}">
                    <a16:rowId xmlns:a16="http://schemas.microsoft.com/office/drawing/2014/main" val="10004"/>
                  </a:ext>
                </a:extLst>
              </a:tr>
            </a:tbl>
          </a:graphicData>
        </a:graphic>
      </p:graphicFrame>
      <p:sp>
        <p:nvSpPr>
          <p:cNvPr id="17" name="Rounded Rectangle 16"/>
          <p:cNvSpPr/>
          <p:nvPr/>
        </p:nvSpPr>
        <p:spPr>
          <a:xfrm>
            <a:off x="5120640" y="1143000"/>
            <a:ext cx="3474720" cy="3017520"/>
          </a:xfrm>
          <a:prstGeom prst="roundRect">
            <a:avLst>
              <a:gd name="adj" fmla="val 8000"/>
            </a:avLst>
          </a:prstGeom>
          <a:solidFill>
            <a:srgbClr val="141E30"/>
          </a:solidFill>
          <a:ln w="9525">
            <a:solidFill>
              <a:srgbClr val="00D4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257800" y="1216152"/>
            <a:ext cx="3200400" cy="274320"/>
          </a:xfrm>
          <a:prstGeom prst="rect">
            <a:avLst/>
          </a:prstGeom>
          <a:noFill/>
        </p:spPr>
        <p:txBody>
          <a:bodyPr wrap="square" lIns="0" tIns="0" rIns="0" bIns="0" anchor="t">
            <a:spAutoFit/>
          </a:bodyPr>
          <a:lstStyle/>
          <a:p>
            <a:pPr algn="l">
              <a:spcAft>
                <a:spcPts val="200"/>
              </a:spcAft>
            </a:pPr>
            <a:r>
              <a:rPr sz="1200" b="0">
                <a:solidFill>
                  <a:srgbClr val="00D4FF"/>
                </a:solidFill>
                <a:latin typeface="Arial Black"/>
              </a:rPr>
              <a:t>Privacy by design</a:t>
            </a:r>
          </a:p>
        </p:txBody>
      </p:sp>
      <p:sp>
        <p:nvSpPr>
          <p:cNvPr id="19" name="TextBox 18"/>
          <p:cNvSpPr txBox="1"/>
          <p:nvPr/>
        </p:nvSpPr>
        <p:spPr>
          <a:xfrm>
            <a:off x="5257800" y="1554480"/>
            <a:ext cx="3246120" cy="2560320"/>
          </a:xfrm>
          <a:prstGeom prst="rect">
            <a:avLst/>
          </a:prstGeom>
          <a:noFill/>
        </p:spPr>
        <p:txBody>
          <a:bodyPr wrap="square" lIns="0" tIns="0" rIns="0" bIns="0" anchor="t">
            <a:spAutoFit/>
          </a:bodyPr>
          <a:lstStyle/>
          <a:p>
            <a:pPr algn="l">
              <a:spcAft>
                <a:spcPts val="200"/>
              </a:spcAft>
            </a:pPr>
            <a:r>
              <a:rPr sz="900" b="1">
                <a:solidFill>
                  <a:srgbClr val="7CFC00"/>
                </a:solidFill>
                <a:latin typeface="Calibri"/>
              </a:rPr>
              <a:t>● </a:t>
            </a:r>
            <a:r>
              <a:rPr sz="900" b="0">
                <a:solidFill>
                  <a:srgbClr val="A8B8CC"/>
                </a:solidFill>
                <a:latin typeface="Calibri"/>
              </a:rPr>
              <a:t>Data minimisation: tools return only the fields a step needs</a:t>
            </a:r>
          </a:p>
          <a:p>
            <a:pPr algn="l">
              <a:spcAft>
                <a:spcPts val="200"/>
              </a:spcAft>
            </a:pPr>
            <a:r>
              <a:rPr sz="900" b="1">
                <a:solidFill>
                  <a:srgbClr val="7CFC00"/>
                </a:solidFill>
                <a:latin typeface="Calibri"/>
              </a:rPr>
              <a:t>● </a:t>
            </a:r>
            <a:r>
              <a:rPr sz="900" b="0">
                <a:solidFill>
                  <a:srgbClr val="A8B8CC"/>
                </a:solidFill>
                <a:latin typeface="Calibri"/>
              </a:rPr>
              <a:t>Encrypted in transit (TLS) and at rest (DynamoDB, S3)</a:t>
            </a:r>
          </a:p>
          <a:p>
            <a:pPr algn="l">
              <a:spcAft>
                <a:spcPts val="200"/>
              </a:spcAft>
            </a:pPr>
            <a:r>
              <a:rPr sz="900" b="1">
                <a:solidFill>
                  <a:srgbClr val="7CFC00"/>
                </a:solidFill>
                <a:latin typeface="Calibri"/>
              </a:rPr>
              <a:t>● </a:t>
            </a:r>
            <a:r>
              <a:rPr sz="900" b="0">
                <a:solidFill>
                  <a:srgbClr val="A8B8CC"/>
                </a:solidFill>
                <a:latin typeface="Calibri"/>
              </a:rPr>
              <a:t>Least-privilege IAM role per service; keys never in the browser</a:t>
            </a:r>
          </a:p>
          <a:p>
            <a:pPr algn="l">
              <a:spcAft>
                <a:spcPts val="200"/>
              </a:spcAft>
            </a:pPr>
            <a:r>
              <a:rPr sz="900" b="1">
                <a:solidFill>
                  <a:srgbClr val="7CFC00"/>
                </a:solidFill>
                <a:latin typeface="Calibri"/>
              </a:rPr>
              <a:t>● </a:t>
            </a:r>
            <a:r>
              <a:rPr sz="900" b="0">
                <a:solidFill>
                  <a:srgbClr val="A8B8CC"/>
                </a:solidFill>
                <a:latin typeface="Calibri"/>
              </a:rPr>
              <a:t>No patient data in logs; call records auto-expire in 7 days</a:t>
            </a:r>
          </a:p>
          <a:p>
            <a:pPr algn="l">
              <a:spcAft>
                <a:spcPts val="200"/>
              </a:spcAft>
            </a:pPr>
            <a:r>
              <a:rPr sz="900" b="1">
                <a:solidFill>
                  <a:srgbClr val="7CFC00"/>
                </a:solidFill>
                <a:latin typeface="Calibri"/>
              </a:rPr>
              <a:t>● </a:t>
            </a:r>
            <a:r>
              <a:rPr sz="900" b="0">
                <a:solidFill>
                  <a:srgbClr val="A8B8CC"/>
                </a:solidFill>
                <a:latin typeface="Calibri"/>
              </a:rPr>
              <a:t>Guardrails block diagnosis and dosing before the model runs</a:t>
            </a:r>
          </a:p>
          <a:p>
            <a:pPr algn="l">
              <a:spcAft>
                <a:spcPts val="200"/>
              </a:spcAft>
            </a:pPr>
            <a:r>
              <a:rPr sz="900" b="1">
                <a:solidFill>
                  <a:srgbClr val="FF9900"/>
                </a:solidFill>
                <a:latin typeface="Calibri"/>
              </a:rPr>
              <a:t>○ </a:t>
            </a:r>
            <a:r>
              <a:rPr sz="900" b="0">
                <a:solidFill>
                  <a:srgbClr val="A8B8CC"/>
                </a:solidFill>
                <a:latin typeface="Calibri"/>
              </a:rPr>
              <a:t>Salted hashing of Emirates ID and phone numbers (defeats rainbow-table attacks)</a:t>
            </a:r>
          </a:p>
          <a:p>
            <a:pPr algn="l">
              <a:spcAft>
                <a:spcPts val="200"/>
              </a:spcAft>
            </a:pPr>
            <a:r>
              <a:rPr sz="900" b="1">
                <a:solidFill>
                  <a:srgbClr val="FF9900"/>
                </a:solidFill>
                <a:latin typeface="Calibri"/>
              </a:rPr>
              <a:t>○ </a:t>
            </a:r>
            <a:r>
              <a:rPr sz="900" b="0">
                <a:solidFill>
                  <a:srgbClr val="A8B8CC"/>
                </a:solidFill>
                <a:latin typeface="Calibri"/>
              </a:rPr>
              <a:t>Explicit consent, purpose limitation, access and deletion requests</a:t>
            </a:r>
          </a:p>
          <a:p>
            <a:pPr algn="l">
              <a:spcAft>
                <a:spcPts val="200"/>
              </a:spcAft>
            </a:pPr>
            <a:r>
              <a:rPr sz="900" b="1">
                <a:solidFill>
                  <a:srgbClr val="FF9900"/>
                </a:solidFill>
                <a:latin typeface="Calibri"/>
              </a:rPr>
              <a:t>○ </a:t>
            </a:r>
            <a:r>
              <a:rPr sz="900" b="0">
                <a:solidFill>
                  <a:srgbClr val="A8B8CC"/>
                </a:solidFill>
                <a:latin typeface="Calibri"/>
              </a:rPr>
              <a:t>UAE data residency (AWS me-central-1) and a DPIA</a:t>
            </a:r>
          </a:p>
        </p:txBody>
      </p:sp>
      <p:sp>
        <p:nvSpPr>
          <p:cNvPr id="20" name="TextBox 19"/>
          <p:cNvSpPr txBox="1"/>
          <p:nvPr/>
        </p:nvSpPr>
        <p:spPr>
          <a:xfrm>
            <a:off x="548640" y="3931920"/>
            <a:ext cx="4389120" cy="274320"/>
          </a:xfrm>
          <a:prstGeom prst="rect">
            <a:avLst/>
          </a:prstGeom>
          <a:noFill/>
        </p:spPr>
        <p:txBody>
          <a:bodyPr wrap="square" lIns="0" tIns="0" rIns="0" bIns="0" anchor="t">
            <a:spAutoFit/>
          </a:bodyPr>
          <a:lstStyle/>
          <a:p>
            <a:pPr algn="l">
              <a:spcAft>
                <a:spcPts val="200"/>
              </a:spcAft>
            </a:pPr>
            <a:r>
              <a:rPr sz="900" b="1">
                <a:solidFill>
                  <a:srgbClr val="7CFC00"/>
                </a:solidFill>
                <a:latin typeface="Calibri"/>
              </a:rPr>
              <a:t>● </a:t>
            </a:r>
            <a:r>
              <a:rPr sz="900" b="0">
                <a:solidFill>
                  <a:srgbClr val="5C7090"/>
                </a:solidFill>
                <a:latin typeface="Calibri"/>
              </a:rPr>
              <a:t>in place today   </a:t>
            </a:r>
            <a:r>
              <a:rPr sz="900" b="1">
                <a:solidFill>
                  <a:srgbClr val="FF9900"/>
                </a:solidFill>
                <a:latin typeface="Calibri"/>
              </a:rPr>
              <a:t>○ </a:t>
            </a:r>
            <a:r>
              <a:rPr sz="900" b="0">
                <a:solidFill>
                  <a:srgbClr val="5C7090"/>
                </a:solidFill>
                <a:latin typeface="Calibri"/>
              </a:rPr>
              <a:t>before production   ·   not legal advice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marL="0" indent="0" algn="r">
              <a:buNone/>
            </a:pPr>
            <a:r>
              <a:rPr lang="en-US" sz="900" dirty="0">
                <a:solidFill>
                  <a:srgbClr val="5C7090"/>
                </a:solidFill>
                <a:latin typeface="Consolas" pitchFamily="34" charset="0"/>
                <a:ea typeface="Consolas" pitchFamily="34" charset="-122"/>
                <a:cs typeface="Consolas" pitchFamily="34" charset="-120"/>
              </a:rPr>
              <a:t>9</a:t>
            </a:r>
            <a:endParaRPr lang="en-US" sz="900" dirty="0"/>
          </a:p>
        </p:txBody>
      </p:sp>
      <p:sp>
        <p:nvSpPr>
          <p:cNvPr id="3" name="Text 1"/>
          <p:cNvSpPr/>
          <p:nvPr/>
        </p:nvSpPr>
        <p:spPr>
          <a:xfrm>
            <a:off x="914400" y="548640"/>
            <a:ext cx="7315200" cy="1828800"/>
          </a:xfrm>
          <a:prstGeom prst="rect">
            <a:avLst/>
          </a:prstGeom>
          <a:noFill/>
          <a:ln/>
        </p:spPr>
        <p:txBody>
          <a:bodyPr wrap="square" lIns="0" tIns="0" rIns="0" bIns="0" rtlCol="0" anchor="ctr"/>
          <a:lstStyle/>
          <a:p>
            <a:pPr marL="0" indent="0" algn="ctr">
              <a:buNone/>
            </a:pPr>
            <a:r>
              <a:rPr lang="en-US" sz="5600" dirty="0">
                <a:solidFill>
                  <a:srgbClr val="FFFFFF"/>
                </a:solidFill>
                <a:latin typeface="Arial Black" pitchFamily="34" charset="0"/>
                <a:ea typeface="Arial Black" pitchFamily="34" charset="-122"/>
                <a:cs typeface="Arial Black" pitchFamily="34" charset="-120"/>
              </a:rPr>
              <a:t>LIVE DEMO</a:t>
            </a:r>
            <a:endParaRPr lang="en-US" sz="5600" dirty="0"/>
          </a:p>
        </p:txBody>
      </p:sp>
      <p:sp>
        <p:nvSpPr>
          <p:cNvPr id="4" name="Shape 2"/>
          <p:cNvSpPr/>
          <p:nvPr/>
        </p:nvSpPr>
        <p:spPr>
          <a:xfrm>
            <a:off x="2286000" y="2423160"/>
            <a:ext cx="4572000" cy="45720"/>
          </a:xfrm>
          <a:prstGeom prst="rect">
            <a:avLst/>
          </a:prstGeom>
          <a:solidFill>
            <a:srgbClr val="FF9900"/>
          </a:solidFill>
          <a:ln/>
        </p:spPr>
        <p:txBody>
          <a:bodyPr/>
          <a:lstStyle/>
          <a:p>
            <a:endParaRPr lang="en-AE"/>
          </a:p>
        </p:txBody>
      </p:sp>
      <p:sp>
        <p:nvSpPr>
          <p:cNvPr id="5" name="Text 3"/>
          <p:cNvSpPr/>
          <p:nvPr/>
        </p:nvSpPr>
        <p:spPr>
          <a:xfrm>
            <a:off x="1828800" y="2606040"/>
            <a:ext cx="5486400" cy="457200"/>
          </a:xfrm>
          <a:prstGeom prst="rect">
            <a:avLst/>
          </a:prstGeom>
          <a:noFill/>
          <a:ln/>
        </p:spPr>
        <p:txBody>
          <a:bodyPr wrap="square" lIns="0" tIns="0" rIns="0" bIns="0" rtlCol="0" anchor="ctr"/>
          <a:lstStyle/>
          <a:p>
            <a:pPr marL="0" indent="0" algn="ctr">
              <a:buNone/>
            </a:pPr>
            <a:r>
              <a:rPr lang="en-US" sz="1800" dirty="0">
                <a:solidFill>
                  <a:srgbClr val="A8B8CC"/>
                </a:solidFill>
                <a:latin typeface="Calibri" pitchFamily="34" charset="0"/>
                <a:ea typeface="Calibri" pitchFamily="34" charset="-122"/>
                <a:cs typeface="Calibri" pitchFamily="34" charset="-120"/>
              </a:rPr>
              <a:t>Watch our agent in action</a:t>
            </a:r>
            <a:endParaRPr lang="en-US" sz="1800" dirty="0"/>
          </a:p>
        </p:txBody>
      </p:sp>
      <p:sp>
        <p:nvSpPr>
          <p:cNvPr id="6" name="Shape 4"/>
          <p:cNvSpPr/>
          <p:nvPr/>
        </p:nvSpPr>
        <p:spPr>
          <a:xfrm>
            <a:off x="1828800" y="3246120"/>
            <a:ext cx="5486400" cy="502920"/>
          </a:xfrm>
          <a:prstGeom prst="roundRect">
            <a:avLst>
              <a:gd name="adj" fmla="val 18182"/>
            </a:avLst>
          </a:prstGeom>
          <a:solidFill>
            <a:srgbClr val="141E30"/>
          </a:solidFill>
          <a:ln w="9525">
            <a:solidFill>
              <a:srgbClr val="FF9900"/>
            </a:solidFill>
            <a:prstDash val="solid"/>
          </a:ln>
        </p:spPr>
        <p:txBody>
          <a:bodyPr/>
          <a:lstStyle/>
          <a:p>
            <a:endParaRPr lang="en-AE"/>
          </a:p>
        </p:txBody>
      </p:sp>
      <p:sp>
        <p:nvSpPr>
          <p:cNvPr id="7" name="Text 5"/>
          <p:cNvSpPr/>
          <p:nvPr/>
        </p:nvSpPr>
        <p:spPr>
          <a:xfrm>
            <a:off x="1828800" y="3246120"/>
            <a:ext cx="5486400" cy="502920"/>
          </a:xfrm>
          <a:prstGeom prst="rect">
            <a:avLst/>
          </a:prstGeom>
          <a:noFill/>
          <a:ln/>
        </p:spPr>
        <p:txBody>
          <a:bodyPr wrap="square" lIns="0" tIns="0" rIns="0" bIns="0" rtlCol="0" anchor="ctr"/>
          <a:lstStyle/>
          <a:p>
            <a:pPr marL="0" indent="0" algn="ctr">
              <a:buNone/>
            </a:pPr>
            <a:r>
              <a:rPr lang="en-US" sz="1500" dirty="0">
                <a:solidFill>
                  <a:srgbClr val="FF9900"/>
                </a:solidFill>
                <a:latin typeface="Consolas" pitchFamily="34" charset="0"/>
                <a:ea typeface="Consolas" pitchFamily="34" charset="-122"/>
                <a:cs typeface="Consolas" pitchFamily="34" charset="-120"/>
              </a:rPr>
              <a:t>wzihykguzzj72v3ptpba2zpgri0psctu.lambda-url.us-west-2.on.aws/en/intake</a:t>
            </a:r>
            <a:endParaRPr lang="en-US" sz="1500" dirty="0"/>
          </a:p>
        </p:txBody>
      </p:sp>
      <p:sp>
        <p:nvSpPr>
          <p:cNvPr id="8" name="Shape 6"/>
          <p:cNvSpPr/>
          <p:nvPr/>
        </p:nvSpPr>
        <p:spPr>
          <a:xfrm>
            <a:off x="914400" y="3977640"/>
            <a:ext cx="7315200" cy="411480"/>
          </a:xfrm>
          <a:prstGeom prst="roundRect">
            <a:avLst>
              <a:gd name="adj" fmla="val 22222"/>
            </a:avLst>
          </a:prstGeom>
          <a:solidFill>
            <a:srgbClr val="0D0D0D"/>
          </a:solidFill>
          <a:ln w="9525">
            <a:solidFill>
              <a:srgbClr val="FFB84D"/>
            </a:solidFill>
            <a:prstDash val="solid"/>
          </a:ln>
        </p:spPr>
        <p:txBody>
          <a:bodyPr/>
          <a:lstStyle/>
          <a:p>
            <a:endParaRPr lang="en-AE"/>
          </a:p>
        </p:txBody>
      </p:sp>
      <p:sp>
        <p:nvSpPr>
          <p:cNvPr id="9" name="Text 7"/>
          <p:cNvSpPr/>
          <p:nvPr/>
        </p:nvSpPr>
        <p:spPr>
          <a:xfrm>
            <a:off x="914400" y="3977640"/>
            <a:ext cx="7315200" cy="411480"/>
          </a:xfrm>
          <a:prstGeom prst="rect">
            <a:avLst/>
          </a:prstGeom>
          <a:noFill/>
          <a:ln/>
        </p:spPr>
        <p:txBody>
          <a:bodyPr wrap="square" lIns="0" tIns="0" rIns="0" bIns="0" rtlCol="0" anchor="ctr"/>
          <a:lstStyle/>
          <a:p>
            <a:pPr marL="0" indent="0" algn="ctr">
              <a:buNone/>
            </a:pPr>
            <a:r>
              <a:rPr lang="en-US" sz="1050" b="1" dirty="0">
                <a:solidFill>
                  <a:srgbClr val="FFB84D"/>
                </a:solidFill>
                <a:latin typeface="Calibri" pitchFamily="34" charset="0"/>
                <a:ea typeface="Calibri" pitchFamily="34" charset="-122"/>
                <a:cs typeface="Calibri" pitchFamily="34" charset="-120"/>
              </a:rPr>
              <a:t>💡 Aha: “worst headache of my life” → instant emergency instruction, no booking</a:t>
            </a:r>
            <a:endParaRPr lang="en-US" sz="1050" dirty="0"/>
          </a:p>
        </p:txBody>
      </p:sp>
      <p:sp>
        <p:nvSpPr>
          <p:cNvPr id="10" name="Shape 8"/>
          <p:cNvSpPr/>
          <p:nvPr/>
        </p:nvSpPr>
        <p:spPr>
          <a:xfrm>
            <a:off x="0" y="4663440"/>
            <a:ext cx="9144000" cy="480060"/>
          </a:xfrm>
          <a:prstGeom prst="rect">
            <a:avLst/>
          </a:prstGeom>
          <a:solidFill>
            <a:srgbClr val="080D18"/>
          </a:solidFill>
          <a:ln/>
        </p:spPr>
        <p:txBody>
          <a:bodyPr/>
          <a:lstStyle/>
          <a:p>
            <a:endParaRPr lang="en-AE"/>
          </a:p>
        </p:txBody>
      </p:sp>
      <p:sp>
        <p:nvSpPr>
          <p:cNvPr id="11" name="Shape 9"/>
          <p:cNvSpPr/>
          <p:nvPr/>
        </p:nvSpPr>
        <p:spPr>
          <a:xfrm>
            <a:off x="0" y="4663440"/>
            <a:ext cx="9144000" cy="45720"/>
          </a:xfrm>
          <a:prstGeom prst="rect">
            <a:avLst/>
          </a:prstGeom>
          <a:solidFill>
            <a:srgbClr val="FF9900"/>
          </a:solidFill>
          <a:ln/>
        </p:spPr>
        <p:txBody>
          <a:bodyPr/>
          <a:lstStyle/>
          <a:p>
            <a:endParaRPr lang="en-AE"/>
          </a:p>
        </p:txBody>
      </p:sp>
      <p:sp>
        <p:nvSpPr>
          <p:cNvPr id="12" name="Text 10"/>
          <p:cNvSpPr/>
          <p:nvPr/>
        </p:nvSpPr>
        <p:spPr>
          <a:xfrm>
            <a:off x="365760" y="4736592"/>
            <a:ext cx="8412480" cy="320040"/>
          </a:xfrm>
          <a:prstGeom prst="rect">
            <a:avLst/>
          </a:prstGeom>
          <a:noFill/>
          <a:ln/>
        </p:spPr>
        <p:txBody>
          <a:bodyPr wrap="square" lIns="0" tIns="0" rIns="0" bIns="0" rtlCol="0" anchor="ctr"/>
          <a:lstStyle/>
          <a:p>
            <a:pPr marL="0" indent="0" algn="ctr">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name="Slide 8">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marL="0" indent="0" algn="r">
              <a:buNone/>
            </a:pPr>
            <a:r>
              <a:rPr lang="en-US" sz="900" dirty="0">
                <a:solidFill>
                  <a:srgbClr val="5C7090"/>
                </a:solidFill>
                <a:latin typeface="Consolas" pitchFamily="34" charset="0"/>
                <a:ea typeface="Consolas" pitchFamily="34" charset="-122"/>
                <a:cs typeface="Consolas" pitchFamily="34" charset="-120"/>
              </a:rPr>
              <a:t>10</a:t>
            </a:r>
            <a:endParaRPr lang="en-US" sz="900" dirty="0"/>
          </a:p>
        </p:txBody>
      </p:sp>
      <p:sp>
        <p:nvSpPr>
          <p:cNvPr id="3" name="Text 1"/>
          <p:cNvSpPr/>
          <p:nvPr/>
        </p:nvSpPr>
        <p:spPr>
          <a:xfrm>
            <a:off x="457200" y="164592"/>
            <a:ext cx="4572000" cy="438912"/>
          </a:xfrm>
          <a:prstGeom prst="rect">
            <a:avLst/>
          </a:prstGeom>
          <a:noFill/>
          <a:ln/>
        </p:spPr>
        <p:txBody>
          <a:bodyPr wrap="square" lIns="0" tIns="0" rIns="0" bIns="0" rtlCol="0" anchor="ctr"/>
          <a:lstStyle/>
          <a:p>
            <a:pPr marL="0" indent="0">
              <a:buNone/>
            </a:pPr>
            <a:r>
              <a:rPr lang="en-US" sz="2000" dirty="0">
                <a:solidFill>
                  <a:srgbClr val="FFFFFF"/>
                </a:solidFill>
                <a:latin typeface="Arial Black" pitchFamily="34" charset="0"/>
                <a:ea typeface="Arial Black" pitchFamily="34" charset="-122"/>
                <a:cs typeface="Arial Black" pitchFamily="34" charset="-120"/>
              </a:rPr>
              <a:t>DEMO TALKING POINTS</a:t>
            </a:r>
            <a:endParaRPr lang="en-US" sz="2000" dirty="0"/>
          </a:p>
        </p:txBody>
      </p:sp>
      <p:sp>
        <p:nvSpPr>
          <p:cNvPr id="4" name="Shape 2"/>
          <p:cNvSpPr/>
          <p:nvPr/>
        </p:nvSpPr>
        <p:spPr>
          <a:xfrm>
            <a:off x="457200" y="640080"/>
            <a:ext cx="1828800" cy="45720"/>
          </a:xfrm>
          <a:prstGeom prst="rect">
            <a:avLst/>
          </a:prstGeom>
          <a:solidFill>
            <a:srgbClr val="FF6B6B"/>
          </a:solidFill>
          <a:ln/>
        </p:spPr>
        <p:txBody>
          <a:bodyPr/>
          <a:lstStyle/>
          <a:p>
            <a:endParaRPr lang="en-AE"/>
          </a:p>
        </p:txBody>
      </p:sp>
      <p:sp>
        <p:nvSpPr>
          <p:cNvPr id="5" name="Shape 3"/>
          <p:cNvSpPr/>
          <p:nvPr/>
        </p:nvSpPr>
        <p:spPr>
          <a:xfrm>
            <a:off x="6035040" y="182880"/>
            <a:ext cx="2834640" cy="274320"/>
          </a:xfrm>
          <a:prstGeom prst="roundRect">
            <a:avLst>
              <a:gd name="adj" fmla="val 50000"/>
            </a:avLst>
          </a:prstGeom>
          <a:solidFill>
            <a:srgbClr val="2A0A0A"/>
          </a:solidFill>
          <a:ln w="9525">
            <a:solidFill>
              <a:srgbClr val="FF6B6B"/>
            </a:solidFill>
            <a:prstDash val="solid"/>
          </a:ln>
        </p:spPr>
        <p:txBody>
          <a:bodyPr/>
          <a:lstStyle/>
          <a:p>
            <a:endParaRPr lang="en-AE"/>
          </a:p>
        </p:txBody>
      </p:sp>
      <p:sp>
        <p:nvSpPr>
          <p:cNvPr id="6" name="Text 4"/>
          <p:cNvSpPr/>
          <p:nvPr/>
        </p:nvSpPr>
        <p:spPr>
          <a:xfrm>
            <a:off x="6035040" y="182880"/>
            <a:ext cx="2834640" cy="274320"/>
          </a:xfrm>
          <a:prstGeom prst="rect">
            <a:avLst/>
          </a:prstGeom>
          <a:noFill/>
          <a:ln/>
        </p:spPr>
        <p:txBody>
          <a:bodyPr wrap="square" lIns="0" tIns="0" rIns="0" bIns="0" rtlCol="0" anchor="ctr"/>
          <a:lstStyle/>
          <a:p>
            <a:pPr marL="0" indent="0" algn="ctr">
              <a:buNone/>
            </a:pPr>
            <a:r>
              <a:rPr lang="en-US" sz="850" b="1" dirty="0">
                <a:solidFill>
                  <a:srgbClr val="FF6B6B"/>
                </a:solidFill>
                <a:latin typeface="Calibri" pitchFamily="34" charset="0"/>
                <a:ea typeface="Calibri" pitchFamily="34" charset="-122"/>
                <a:cs typeface="Calibri" pitchFamily="34" charset="-120"/>
              </a:rPr>
              <a:t>🚫 HIDDEN SLIDE — Presenter Only</a:t>
            </a:r>
            <a:endParaRPr lang="en-US" sz="850" dirty="0"/>
          </a:p>
        </p:txBody>
      </p:sp>
      <p:sp>
        <p:nvSpPr>
          <p:cNvPr id="7" name="Shape 5"/>
          <p:cNvSpPr/>
          <p:nvPr/>
        </p:nvSpPr>
        <p:spPr>
          <a:xfrm>
            <a:off x="457200" y="914400"/>
            <a:ext cx="1143000" cy="292608"/>
          </a:xfrm>
          <a:prstGeom prst="roundRect">
            <a:avLst>
              <a:gd name="adj" fmla="val 25000"/>
            </a:avLst>
          </a:prstGeom>
          <a:solidFill>
            <a:srgbClr val="FF9900"/>
          </a:solidFill>
          <a:ln/>
        </p:spPr>
        <p:txBody>
          <a:bodyPr/>
          <a:lstStyle/>
          <a:p>
            <a:endParaRPr lang="en-AE"/>
          </a:p>
        </p:txBody>
      </p:sp>
      <p:sp>
        <p:nvSpPr>
          <p:cNvPr id="8" name="Text 6"/>
          <p:cNvSpPr/>
          <p:nvPr/>
        </p:nvSpPr>
        <p:spPr>
          <a:xfrm>
            <a:off x="457200" y="914400"/>
            <a:ext cx="1143000" cy="292608"/>
          </a:xfrm>
          <a:prstGeom prst="rect">
            <a:avLst/>
          </a:prstGeom>
          <a:noFill/>
          <a:ln/>
        </p:spPr>
        <p:txBody>
          <a:bodyPr wrap="square" lIns="0" tIns="0" rIns="0" bIns="0" rtlCol="0" anchor="ctr"/>
          <a:lstStyle/>
          <a:p>
            <a:pPr marL="0" indent="0" algn="ctr">
              <a:buNone/>
            </a:pPr>
            <a:r>
              <a:rPr lang="en-US" sz="900" dirty="0">
                <a:solidFill>
                  <a:srgbClr val="0B1120"/>
                </a:solidFill>
                <a:latin typeface="Arial Black" pitchFamily="34" charset="0"/>
                <a:ea typeface="Arial Black" pitchFamily="34" charset="-122"/>
                <a:cs typeface="Arial Black" pitchFamily="34" charset="-120"/>
              </a:rPr>
              <a:t>0:00-0:30</a:t>
            </a:r>
            <a:endParaRPr lang="en-US" sz="900" dirty="0"/>
          </a:p>
        </p:txBody>
      </p:sp>
      <p:sp>
        <p:nvSpPr>
          <p:cNvPr id="9" name="Text 7"/>
          <p:cNvSpPr/>
          <p:nvPr/>
        </p:nvSpPr>
        <p:spPr>
          <a:xfrm>
            <a:off x="1737360" y="914400"/>
            <a:ext cx="2286000" cy="292608"/>
          </a:xfrm>
          <a:prstGeom prst="rect">
            <a:avLst/>
          </a:prstGeom>
          <a:noFill/>
          <a:ln/>
        </p:spPr>
        <p:txBody>
          <a:bodyPr wrap="square" lIns="0" tIns="0" rIns="0" bIns="0" rtlCol="0" anchor="ctr"/>
          <a:lstStyle/>
          <a:p>
            <a:pPr marL="0" indent="0">
              <a:buNone/>
            </a:pPr>
            <a:r>
              <a:rPr lang="en-US" sz="1300" dirty="0">
                <a:solidFill>
                  <a:srgbClr val="FF9900"/>
                </a:solidFill>
                <a:latin typeface="Arial Black" pitchFamily="34" charset="0"/>
                <a:ea typeface="Arial Black" pitchFamily="34" charset="-122"/>
                <a:cs typeface="Arial Black" pitchFamily="34" charset="-120"/>
              </a:rPr>
              <a:t>AHA MOMENT</a:t>
            </a:r>
            <a:endParaRPr lang="en-US" sz="1300" dirty="0"/>
          </a:p>
        </p:txBody>
      </p:sp>
      <p:sp>
        <p:nvSpPr>
          <p:cNvPr id="10" name="Text 8"/>
          <p:cNvSpPr/>
          <p:nvPr/>
        </p:nvSpPr>
        <p:spPr>
          <a:xfrm>
            <a:off x="1737360" y="1225296"/>
            <a:ext cx="6949440" cy="384048"/>
          </a:xfrm>
          <a:prstGeom prst="rect">
            <a:avLst/>
          </a:prstGeom>
          <a:noFill/>
          <a:ln/>
        </p:spPr>
        <p:txBody>
          <a:bodyPr wrap="square" lIns="0" tIns="0" rIns="0" bIns="0" rtlCol="0" anchor="t"/>
          <a:lstStyle/>
          <a:p>
            <a:pPr marL="0" indent="0">
              <a:lnSpc>
                <a:spcPts val="1300"/>
              </a:lnSpc>
              <a:buNone/>
            </a:pPr>
            <a:r>
              <a:rPr lang="en-US" sz="900" dirty="0">
                <a:solidFill>
                  <a:srgbClr val="A8B8CC"/>
                </a:solidFill>
                <a:latin typeface="Calibri" pitchFamily="34" charset="0"/>
                <a:ea typeface="Calibri" pitchFamily="34" charset="-122"/>
                <a:cs typeface="Calibri" pitchFamily="34" charset="-120"/>
              </a:rPr>
              <a:t>Type: “It suddenly became the worst headache of my life.” → emergency instruction in seconds, no booking. The agent reasoned about urgency.</a:t>
            </a:r>
            <a:endParaRPr lang="en-US" sz="900" dirty="0"/>
          </a:p>
        </p:txBody>
      </p:sp>
      <p:sp>
        <p:nvSpPr>
          <p:cNvPr id="11" name="Shape 9"/>
          <p:cNvSpPr/>
          <p:nvPr/>
        </p:nvSpPr>
        <p:spPr>
          <a:xfrm>
            <a:off x="457200" y="1691640"/>
            <a:ext cx="1143000" cy="292608"/>
          </a:xfrm>
          <a:prstGeom prst="roundRect">
            <a:avLst>
              <a:gd name="adj" fmla="val 25000"/>
            </a:avLst>
          </a:prstGeom>
          <a:solidFill>
            <a:srgbClr val="7CFC00"/>
          </a:solidFill>
          <a:ln/>
        </p:spPr>
        <p:txBody>
          <a:bodyPr/>
          <a:lstStyle/>
          <a:p>
            <a:endParaRPr lang="en-AE"/>
          </a:p>
        </p:txBody>
      </p:sp>
      <p:sp>
        <p:nvSpPr>
          <p:cNvPr id="12" name="Text 10"/>
          <p:cNvSpPr/>
          <p:nvPr/>
        </p:nvSpPr>
        <p:spPr>
          <a:xfrm>
            <a:off x="457200" y="1691640"/>
            <a:ext cx="1143000" cy="292608"/>
          </a:xfrm>
          <a:prstGeom prst="rect">
            <a:avLst/>
          </a:prstGeom>
          <a:noFill/>
          <a:ln/>
        </p:spPr>
        <p:txBody>
          <a:bodyPr wrap="square" lIns="0" tIns="0" rIns="0" bIns="0" rtlCol="0" anchor="ctr"/>
          <a:lstStyle/>
          <a:p>
            <a:pPr marL="0" indent="0" algn="ctr">
              <a:buNone/>
            </a:pPr>
            <a:r>
              <a:rPr lang="en-US" sz="900" dirty="0">
                <a:solidFill>
                  <a:srgbClr val="0B1120"/>
                </a:solidFill>
                <a:latin typeface="Arial Black" pitchFamily="34" charset="0"/>
                <a:ea typeface="Arial Black" pitchFamily="34" charset="-122"/>
                <a:cs typeface="Arial Black" pitchFamily="34" charset="-120"/>
              </a:rPr>
              <a:t>0:30-2:00</a:t>
            </a:r>
            <a:endParaRPr lang="en-US" sz="900" dirty="0"/>
          </a:p>
        </p:txBody>
      </p:sp>
      <p:sp>
        <p:nvSpPr>
          <p:cNvPr id="13" name="Text 11"/>
          <p:cNvSpPr/>
          <p:nvPr/>
        </p:nvSpPr>
        <p:spPr>
          <a:xfrm>
            <a:off x="1737360" y="1691640"/>
            <a:ext cx="2286000" cy="292608"/>
          </a:xfrm>
          <a:prstGeom prst="rect">
            <a:avLst/>
          </a:prstGeom>
          <a:noFill/>
          <a:ln/>
        </p:spPr>
        <p:txBody>
          <a:bodyPr wrap="square" lIns="0" tIns="0" rIns="0" bIns="0" rtlCol="0" anchor="ctr"/>
          <a:lstStyle/>
          <a:p>
            <a:pPr marL="0" indent="0">
              <a:buNone/>
            </a:pPr>
            <a:r>
              <a:rPr lang="en-US" sz="1300" dirty="0">
                <a:solidFill>
                  <a:srgbClr val="7CFC00"/>
                </a:solidFill>
                <a:latin typeface="Arial Black" pitchFamily="34" charset="0"/>
                <a:ea typeface="Arial Black" pitchFamily="34" charset="-122"/>
                <a:cs typeface="Arial Black" pitchFamily="34" charset="-120"/>
              </a:rPr>
              <a:t>HAPPY PATH</a:t>
            </a:r>
            <a:endParaRPr lang="en-US" sz="1300" dirty="0"/>
          </a:p>
        </p:txBody>
      </p:sp>
      <p:sp>
        <p:nvSpPr>
          <p:cNvPr id="14" name="Text 12"/>
          <p:cNvSpPr/>
          <p:nvPr/>
        </p:nvSpPr>
        <p:spPr>
          <a:xfrm>
            <a:off x="1737360" y="2002536"/>
            <a:ext cx="6949440" cy="384048"/>
          </a:xfrm>
          <a:prstGeom prst="rect">
            <a:avLst/>
          </a:prstGeom>
          <a:noFill/>
          <a:ln/>
        </p:spPr>
        <p:txBody>
          <a:bodyPr wrap="square" lIns="0" tIns="0" rIns="0" bIns="0" rtlCol="0" anchor="t"/>
          <a:lstStyle/>
          <a:p>
            <a:pPr marL="0" indent="0">
              <a:lnSpc>
                <a:spcPts val="1300"/>
              </a:lnSpc>
              <a:buNone/>
            </a:pPr>
            <a:r>
              <a:rPr lang="en-US" sz="900" dirty="0">
                <a:solidFill>
                  <a:srgbClr val="A8B8CC"/>
                </a:solidFill>
                <a:latin typeface="Calibri" pitchFamily="34" charset="0"/>
                <a:ea typeface="Calibri" pitchFamily="34" charset="-122"/>
                <a:cs typeface="Calibri" pitchFamily="34" charset="-120"/>
              </a:rPr>
              <a:t>“I have had a headache and blurry vision for 3 days.” → asks follow-ups, uses her hypertension and amlodipine, suggests a specialist, offers booking; then press Call now.</a:t>
            </a:r>
            <a:endParaRPr lang="en-US" sz="900" dirty="0"/>
          </a:p>
        </p:txBody>
      </p:sp>
      <p:sp>
        <p:nvSpPr>
          <p:cNvPr id="15" name="Shape 13"/>
          <p:cNvSpPr/>
          <p:nvPr/>
        </p:nvSpPr>
        <p:spPr>
          <a:xfrm>
            <a:off x="457200" y="2468880"/>
            <a:ext cx="1143000" cy="292608"/>
          </a:xfrm>
          <a:prstGeom prst="roundRect">
            <a:avLst>
              <a:gd name="adj" fmla="val 25000"/>
            </a:avLst>
          </a:prstGeom>
          <a:solidFill>
            <a:srgbClr val="00D4FF"/>
          </a:solidFill>
          <a:ln/>
        </p:spPr>
        <p:txBody>
          <a:bodyPr/>
          <a:lstStyle/>
          <a:p>
            <a:endParaRPr lang="en-AE"/>
          </a:p>
        </p:txBody>
      </p:sp>
      <p:sp>
        <p:nvSpPr>
          <p:cNvPr id="16" name="Text 14"/>
          <p:cNvSpPr/>
          <p:nvPr/>
        </p:nvSpPr>
        <p:spPr>
          <a:xfrm>
            <a:off x="457200" y="2468880"/>
            <a:ext cx="1143000" cy="292608"/>
          </a:xfrm>
          <a:prstGeom prst="rect">
            <a:avLst/>
          </a:prstGeom>
          <a:noFill/>
          <a:ln/>
        </p:spPr>
        <p:txBody>
          <a:bodyPr wrap="square" lIns="0" tIns="0" rIns="0" bIns="0" rtlCol="0" anchor="ctr"/>
          <a:lstStyle/>
          <a:p>
            <a:pPr marL="0" indent="0" algn="ctr">
              <a:buNone/>
            </a:pPr>
            <a:r>
              <a:rPr lang="en-US" sz="900" dirty="0">
                <a:solidFill>
                  <a:srgbClr val="0B1120"/>
                </a:solidFill>
                <a:latin typeface="Arial Black" pitchFamily="34" charset="0"/>
                <a:ea typeface="Arial Black" pitchFamily="34" charset="-122"/>
                <a:cs typeface="Arial Black" pitchFamily="34" charset="-120"/>
              </a:rPr>
              <a:t>2:00-2:30</a:t>
            </a:r>
            <a:endParaRPr lang="en-US" sz="900" dirty="0"/>
          </a:p>
        </p:txBody>
      </p:sp>
      <p:sp>
        <p:nvSpPr>
          <p:cNvPr id="17" name="Text 15"/>
          <p:cNvSpPr/>
          <p:nvPr/>
        </p:nvSpPr>
        <p:spPr>
          <a:xfrm>
            <a:off x="1737360" y="2468880"/>
            <a:ext cx="2286000" cy="292608"/>
          </a:xfrm>
          <a:prstGeom prst="rect">
            <a:avLst/>
          </a:prstGeom>
          <a:noFill/>
          <a:ln/>
        </p:spPr>
        <p:txBody>
          <a:bodyPr wrap="square" lIns="0" tIns="0" rIns="0" bIns="0" rtlCol="0" anchor="ctr"/>
          <a:lstStyle/>
          <a:p>
            <a:pPr marL="0" indent="0">
              <a:buNone/>
            </a:pPr>
            <a:r>
              <a:rPr lang="en-US" sz="1300" dirty="0">
                <a:solidFill>
                  <a:srgbClr val="00D4FF"/>
                </a:solidFill>
                <a:latin typeface="Arial Black" pitchFamily="34" charset="0"/>
                <a:ea typeface="Arial Black" pitchFamily="34" charset="-122"/>
                <a:cs typeface="Arial Black" pitchFamily="34" charset="-120"/>
              </a:rPr>
              <a:t>EDGE CASE</a:t>
            </a:r>
            <a:endParaRPr lang="en-US" sz="1300" dirty="0"/>
          </a:p>
        </p:txBody>
      </p:sp>
      <p:sp>
        <p:nvSpPr>
          <p:cNvPr id="18" name="Text 16"/>
          <p:cNvSpPr/>
          <p:nvPr/>
        </p:nvSpPr>
        <p:spPr>
          <a:xfrm>
            <a:off x="1737360" y="2779776"/>
            <a:ext cx="6949440" cy="384048"/>
          </a:xfrm>
          <a:prstGeom prst="rect">
            <a:avLst/>
          </a:prstGeom>
          <a:noFill/>
          <a:ln/>
        </p:spPr>
        <p:txBody>
          <a:bodyPr wrap="square" lIns="0" tIns="0" rIns="0" bIns="0" rtlCol="0" anchor="t"/>
          <a:lstStyle/>
          <a:p>
            <a:pPr marL="0" indent="0">
              <a:lnSpc>
                <a:spcPts val="1300"/>
              </a:lnSpc>
              <a:buNone/>
            </a:pPr>
            <a:r>
              <a:rPr lang="en-US" sz="900" dirty="0">
                <a:solidFill>
                  <a:srgbClr val="A8B8CC"/>
                </a:solidFill>
                <a:latin typeface="Calibri" pitchFamily="34" charset="0"/>
                <a:ea typeface="Calibri" pitchFamily="34" charset="-122"/>
                <a:cs typeface="Calibri" pitchFamily="34" charset="-120"/>
              </a:rPr>
              <a:t>“Just tell me what medication and dose to take.” → the guardrail refuses and offers a doctor instead. Say: the model never saw this question.</a:t>
            </a:r>
            <a:endParaRPr lang="en-US" sz="900" dirty="0"/>
          </a:p>
        </p:txBody>
      </p:sp>
      <p:sp>
        <p:nvSpPr>
          <p:cNvPr id="19" name="Shape 17"/>
          <p:cNvSpPr/>
          <p:nvPr/>
        </p:nvSpPr>
        <p:spPr>
          <a:xfrm>
            <a:off x="457200" y="3246120"/>
            <a:ext cx="1143000" cy="292608"/>
          </a:xfrm>
          <a:prstGeom prst="roundRect">
            <a:avLst>
              <a:gd name="adj" fmla="val 25000"/>
            </a:avLst>
          </a:prstGeom>
          <a:solidFill>
            <a:srgbClr val="A855F7"/>
          </a:solidFill>
          <a:ln/>
        </p:spPr>
        <p:txBody>
          <a:bodyPr/>
          <a:lstStyle/>
          <a:p>
            <a:endParaRPr lang="en-AE"/>
          </a:p>
        </p:txBody>
      </p:sp>
      <p:sp>
        <p:nvSpPr>
          <p:cNvPr id="20" name="Text 18"/>
          <p:cNvSpPr/>
          <p:nvPr/>
        </p:nvSpPr>
        <p:spPr>
          <a:xfrm>
            <a:off x="457200" y="3246120"/>
            <a:ext cx="1143000" cy="292608"/>
          </a:xfrm>
          <a:prstGeom prst="rect">
            <a:avLst/>
          </a:prstGeom>
          <a:noFill/>
          <a:ln/>
        </p:spPr>
        <p:txBody>
          <a:bodyPr wrap="square" lIns="0" tIns="0" rIns="0" bIns="0" rtlCol="0" anchor="ctr"/>
          <a:lstStyle/>
          <a:p>
            <a:pPr marL="0" indent="0" algn="ctr">
              <a:buNone/>
            </a:pPr>
            <a:r>
              <a:rPr lang="en-US" sz="900" dirty="0">
                <a:solidFill>
                  <a:srgbClr val="0B1120"/>
                </a:solidFill>
                <a:latin typeface="Arial Black" pitchFamily="34" charset="0"/>
                <a:ea typeface="Arial Black" pitchFamily="34" charset="-122"/>
                <a:cs typeface="Arial Black" pitchFamily="34" charset="-120"/>
              </a:rPr>
              <a:t>2:30-3:00</a:t>
            </a:r>
            <a:endParaRPr lang="en-US" sz="900" dirty="0"/>
          </a:p>
        </p:txBody>
      </p:sp>
      <p:sp>
        <p:nvSpPr>
          <p:cNvPr id="21" name="Text 19"/>
          <p:cNvSpPr/>
          <p:nvPr/>
        </p:nvSpPr>
        <p:spPr>
          <a:xfrm>
            <a:off x="1737360" y="3246120"/>
            <a:ext cx="2286000" cy="292608"/>
          </a:xfrm>
          <a:prstGeom prst="rect">
            <a:avLst/>
          </a:prstGeom>
          <a:noFill/>
          <a:ln/>
        </p:spPr>
        <p:txBody>
          <a:bodyPr wrap="square" lIns="0" tIns="0" rIns="0" bIns="0" rtlCol="0" anchor="ctr"/>
          <a:lstStyle/>
          <a:p>
            <a:pPr marL="0" indent="0">
              <a:buNone/>
            </a:pPr>
            <a:r>
              <a:rPr lang="en-US" sz="1300" dirty="0">
                <a:solidFill>
                  <a:srgbClr val="A855F7"/>
                </a:solidFill>
                <a:latin typeface="Arial Black" pitchFamily="34" charset="0"/>
                <a:ea typeface="Arial Black" pitchFamily="34" charset="-122"/>
                <a:cs typeface="Arial Black" pitchFamily="34" charset="-120"/>
              </a:rPr>
              <a:t>CLOSING MOMENT</a:t>
            </a:r>
            <a:endParaRPr lang="en-US" sz="1300" dirty="0"/>
          </a:p>
        </p:txBody>
      </p:sp>
      <p:sp>
        <p:nvSpPr>
          <p:cNvPr id="22" name="Text 20"/>
          <p:cNvSpPr/>
          <p:nvPr/>
        </p:nvSpPr>
        <p:spPr>
          <a:xfrm>
            <a:off x="1737360" y="3557016"/>
            <a:ext cx="6949440" cy="384048"/>
          </a:xfrm>
          <a:prstGeom prst="rect">
            <a:avLst/>
          </a:prstGeom>
          <a:noFill/>
          <a:ln/>
        </p:spPr>
        <p:txBody>
          <a:bodyPr wrap="square" lIns="0" tIns="0" rIns="0" bIns="0" rtlCol="0" anchor="t"/>
          <a:lstStyle/>
          <a:p>
            <a:pPr marL="0" indent="0">
              <a:lnSpc>
                <a:spcPts val="1300"/>
              </a:lnSpc>
              <a:buNone/>
            </a:pPr>
            <a:r>
              <a:rPr lang="en-US" sz="900" dirty="0">
                <a:solidFill>
                  <a:srgbClr val="A8B8CC"/>
                </a:solidFill>
                <a:latin typeface="Calibri" pitchFamily="34" charset="0"/>
                <a:ea typeface="Calibri" pitchFamily="34" charset="-122"/>
                <a:cs typeface="Calibri" pitchFamily="34" charset="-120"/>
              </a:rPr>
              <a:t>Show the booking call transcript or the journey page: from “I feel unwell” to a booked specialist in one conversation.</a:t>
            </a:r>
            <a:endParaRPr lang="en-US" sz="900" dirty="0"/>
          </a:p>
        </p:txBody>
      </p:sp>
      <p:sp>
        <p:nvSpPr>
          <p:cNvPr id="23" name="Shape 21"/>
          <p:cNvSpPr/>
          <p:nvPr/>
        </p:nvSpPr>
        <p:spPr>
          <a:xfrm>
            <a:off x="457200" y="4069080"/>
            <a:ext cx="8229600" cy="457200"/>
          </a:xfrm>
          <a:prstGeom prst="roundRect">
            <a:avLst>
              <a:gd name="adj" fmla="val 20000"/>
            </a:avLst>
          </a:prstGeom>
          <a:solidFill>
            <a:srgbClr val="2A0A0A"/>
          </a:solidFill>
          <a:ln w="9525">
            <a:solidFill>
              <a:srgbClr val="FF6B6B"/>
            </a:solidFill>
            <a:prstDash val="solid"/>
          </a:ln>
        </p:spPr>
        <p:txBody>
          <a:bodyPr/>
          <a:lstStyle/>
          <a:p>
            <a:endParaRPr lang="en-AE"/>
          </a:p>
        </p:txBody>
      </p:sp>
      <p:sp>
        <p:nvSpPr>
          <p:cNvPr id="24" name="Text 22"/>
          <p:cNvSpPr/>
          <p:nvPr/>
        </p:nvSpPr>
        <p:spPr>
          <a:xfrm>
            <a:off x="640080" y="4096512"/>
            <a:ext cx="7863840" cy="411480"/>
          </a:xfrm>
          <a:prstGeom prst="rect">
            <a:avLst/>
          </a:prstGeom>
          <a:noFill/>
          <a:ln/>
        </p:spPr>
        <p:txBody>
          <a:bodyPr wrap="square" lIns="0" tIns="0" rIns="0" bIns="0" rtlCol="0" anchor="ctr"/>
          <a:lstStyle/>
          <a:p>
            <a:pPr marL="0" indent="0">
              <a:buNone/>
            </a:pPr>
            <a:r>
              <a:rPr lang="en-US" sz="900" dirty="0">
                <a:solidFill>
                  <a:srgbClr val="FF6B6B"/>
                </a:solidFill>
                <a:latin typeface="Calibri" pitchFamily="34" charset="0"/>
                <a:ea typeface="Calibri" pitchFamily="34" charset="-122"/>
                <a:cs typeface="Calibri" pitchFamily="34" charset="-120"/>
              </a:rPr>
              <a:t>🚨 BACKUP: If demo fails → Stay calm. Show screenshots. Describe what would have happened. Silence scores zero.</a:t>
            </a:r>
            <a:endParaRPr lang="en-US" sz="900" dirty="0"/>
          </a:p>
        </p:txBody>
      </p:sp>
      <p:sp>
        <p:nvSpPr>
          <p:cNvPr id="25" name="Shape 23"/>
          <p:cNvSpPr/>
          <p:nvPr/>
        </p:nvSpPr>
        <p:spPr>
          <a:xfrm>
            <a:off x="0" y="4663440"/>
            <a:ext cx="9144000" cy="480060"/>
          </a:xfrm>
          <a:prstGeom prst="rect">
            <a:avLst/>
          </a:prstGeom>
          <a:solidFill>
            <a:srgbClr val="080D18"/>
          </a:solidFill>
          <a:ln/>
        </p:spPr>
        <p:txBody>
          <a:bodyPr/>
          <a:lstStyle/>
          <a:p>
            <a:endParaRPr lang="en-AE"/>
          </a:p>
        </p:txBody>
      </p:sp>
      <p:sp>
        <p:nvSpPr>
          <p:cNvPr id="26" name="Shape 24"/>
          <p:cNvSpPr/>
          <p:nvPr/>
        </p:nvSpPr>
        <p:spPr>
          <a:xfrm>
            <a:off x="0" y="4663440"/>
            <a:ext cx="9144000" cy="45720"/>
          </a:xfrm>
          <a:prstGeom prst="rect">
            <a:avLst/>
          </a:prstGeom>
          <a:solidFill>
            <a:srgbClr val="FF9900"/>
          </a:solidFill>
          <a:ln/>
        </p:spPr>
        <p:txBody>
          <a:bodyPr/>
          <a:lstStyle/>
          <a:p>
            <a:endParaRPr lang="en-AE"/>
          </a:p>
        </p:txBody>
      </p:sp>
      <p:sp>
        <p:nvSpPr>
          <p:cNvPr id="27" name="Text 25"/>
          <p:cNvSpPr/>
          <p:nvPr/>
        </p:nvSpPr>
        <p:spPr>
          <a:xfrm>
            <a:off x="365760" y="4736592"/>
            <a:ext cx="8412480" cy="320040"/>
          </a:xfrm>
          <a:prstGeom prst="rect">
            <a:avLst/>
          </a:prstGeom>
          <a:noFill/>
          <a:ln/>
        </p:spPr>
        <p:txBody>
          <a:bodyPr wrap="square" lIns="0" tIns="0" rIns="0" bIns="0" rtlCol="0" anchor="ctr"/>
          <a:lstStyle/>
          <a:p>
            <a:pPr marL="0" indent="0" algn="ctr">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marL="0" indent="0" algn="r">
              <a:buNone/>
            </a:pPr>
            <a:r>
              <a:rPr lang="en-US" sz="900" dirty="0">
                <a:solidFill>
                  <a:srgbClr val="5C7090"/>
                </a:solidFill>
                <a:latin typeface="Consolas" pitchFamily="34" charset="0"/>
                <a:ea typeface="Consolas" pitchFamily="34" charset="-122"/>
                <a:cs typeface="Consolas" pitchFamily="34" charset="-120"/>
              </a:rPr>
              <a:t>11</a:t>
            </a:r>
            <a:endParaRPr lang="en-US" sz="900" dirty="0"/>
          </a:p>
        </p:txBody>
      </p:sp>
      <p:sp>
        <p:nvSpPr>
          <p:cNvPr id="3" name="Text 1"/>
          <p:cNvSpPr/>
          <p:nvPr/>
        </p:nvSpPr>
        <p:spPr>
          <a:xfrm>
            <a:off x="457200" y="182880"/>
            <a:ext cx="5486400" cy="502920"/>
          </a:xfrm>
          <a:prstGeom prst="rect">
            <a:avLst/>
          </a:prstGeom>
          <a:noFill/>
          <a:ln/>
        </p:spPr>
        <p:txBody>
          <a:bodyPr wrap="square" lIns="0" tIns="0" rIns="0" bIns="0" rtlCol="0" anchor="ctr"/>
          <a:lstStyle/>
          <a:p>
            <a:pPr marL="0" indent="0">
              <a:buNone/>
            </a:pPr>
            <a:r>
              <a:rPr lang="en-US" sz="2400" dirty="0">
                <a:solidFill>
                  <a:srgbClr val="FFFFFF"/>
                </a:solidFill>
                <a:latin typeface="Arial Black" pitchFamily="34" charset="0"/>
                <a:ea typeface="Arial Black" pitchFamily="34" charset="-122"/>
                <a:cs typeface="Arial Black" pitchFamily="34" charset="-120"/>
              </a:rPr>
              <a:t>IMPACT &amp; WHAT'S NEXT</a:t>
            </a:r>
            <a:endParaRPr lang="en-US" sz="2400" dirty="0"/>
          </a:p>
        </p:txBody>
      </p:sp>
      <p:sp>
        <p:nvSpPr>
          <p:cNvPr id="4" name="Shape 2"/>
          <p:cNvSpPr/>
          <p:nvPr/>
        </p:nvSpPr>
        <p:spPr>
          <a:xfrm>
            <a:off x="457200" y="731520"/>
            <a:ext cx="1828800" cy="45720"/>
          </a:xfrm>
          <a:prstGeom prst="rect">
            <a:avLst/>
          </a:prstGeom>
          <a:solidFill>
            <a:srgbClr val="FF9900"/>
          </a:solidFill>
          <a:ln/>
        </p:spPr>
        <p:txBody>
          <a:bodyPr/>
          <a:lstStyle/>
          <a:p>
            <a:endParaRPr lang="en-AE"/>
          </a:p>
        </p:txBody>
      </p:sp>
      <p:sp>
        <p:nvSpPr>
          <p:cNvPr id="5" name="Text 3"/>
          <p:cNvSpPr/>
          <p:nvPr/>
        </p:nvSpPr>
        <p:spPr>
          <a:xfrm>
            <a:off x="457200" y="1051560"/>
            <a:ext cx="1828800" cy="320040"/>
          </a:xfrm>
          <a:prstGeom prst="rect">
            <a:avLst/>
          </a:prstGeom>
          <a:noFill/>
          <a:ln/>
        </p:spPr>
        <p:txBody>
          <a:bodyPr wrap="square" lIns="0" tIns="0" rIns="0" bIns="0" rtlCol="0" anchor="ctr"/>
          <a:lstStyle/>
          <a:p>
            <a:pPr marL="0" indent="0">
              <a:buNone/>
            </a:pPr>
            <a:r>
              <a:rPr lang="en-US" sz="1400" dirty="0">
                <a:solidFill>
                  <a:srgbClr val="FF9900"/>
                </a:solidFill>
                <a:latin typeface="Arial Black" pitchFamily="34" charset="0"/>
                <a:ea typeface="Arial Black" pitchFamily="34" charset="-122"/>
                <a:cs typeface="Arial Black" pitchFamily="34" charset="-120"/>
              </a:rPr>
              <a:t>IMPACT</a:t>
            </a:r>
            <a:endParaRPr lang="en-US" sz="1400" dirty="0"/>
          </a:p>
        </p:txBody>
      </p:sp>
      <p:sp>
        <p:nvSpPr>
          <p:cNvPr id="6" name="Shape 4"/>
          <p:cNvSpPr/>
          <p:nvPr/>
        </p:nvSpPr>
        <p:spPr>
          <a:xfrm>
            <a:off x="457200" y="1508760"/>
            <a:ext cx="4114800" cy="658368"/>
          </a:xfrm>
          <a:prstGeom prst="roundRect">
            <a:avLst>
              <a:gd name="adj" fmla="val 13889"/>
            </a:avLst>
          </a:prstGeom>
          <a:solidFill>
            <a:srgbClr val="080D18"/>
          </a:solidFill>
          <a:ln w="9525">
            <a:solidFill>
              <a:srgbClr val="FF9900"/>
            </a:solidFill>
            <a:prstDash val="solid"/>
          </a:ln>
        </p:spPr>
        <p:txBody>
          <a:bodyPr/>
          <a:lstStyle/>
          <a:p>
            <a:endParaRPr lang="en-AE"/>
          </a:p>
        </p:txBody>
      </p:sp>
      <p:sp>
        <p:nvSpPr>
          <p:cNvPr id="7" name="Shape 5"/>
          <p:cNvSpPr/>
          <p:nvPr/>
        </p:nvSpPr>
        <p:spPr>
          <a:xfrm>
            <a:off x="457200" y="1508760"/>
            <a:ext cx="73152" cy="658368"/>
          </a:xfrm>
          <a:prstGeom prst="rect">
            <a:avLst/>
          </a:prstGeom>
          <a:solidFill>
            <a:srgbClr val="FF9900"/>
          </a:solidFill>
          <a:ln/>
        </p:spPr>
        <p:txBody>
          <a:bodyPr/>
          <a:lstStyle/>
          <a:p>
            <a:endParaRPr lang="en-AE"/>
          </a:p>
        </p:txBody>
      </p:sp>
      <p:sp>
        <p:nvSpPr>
          <p:cNvPr id="8" name="Text 6"/>
          <p:cNvSpPr/>
          <p:nvPr/>
        </p:nvSpPr>
        <p:spPr>
          <a:xfrm>
            <a:off x="685800" y="1536192"/>
            <a:ext cx="2743200" cy="347472"/>
          </a:xfrm>
          <a:prstGeom prst="rect">
            <a:avLst/>
          </a:prstGeom>
          <a:noFill/>
          <a:ln/>
        </p:spPr>
        <p:txBody>
          <a:bodyPr wrap="square" lIns="0" tIns="0" rIns="0" bIns="0" rtlCol="0" anchor="ctr"/>
          <a:lstStyle/>
          <a:p>
            <a:pPr marL="0" indent="0">
              <a:buNone/>
            </a:pPr>
            <a:r>
              <a:rPr lang="en-US" sz="2200" dirty="0">
                <a:solidFill>
                  <a:srgbClr val="FF9900"/>
                </a:solidFill>
                <a:latin typeface="Arial Black" pitchFamily="34" charset="0"/>
                <a:ea typeface="Arial Black" pitchFamily="34" charset="-122"/>
                <a:cs typeface="Arial Black" pitchFamily="34" charset="-120"/>
              </a:rPr>
              <a:t>1 conversation</a:t>
            </a:r>
            <a:endParaRPr lang="en-US" sz="2200" dirty="0"/>
          </a:p>
        </p:txBody>
      </p:sp>
      <p:sp>
        <p:nvSpPr>
          <p:cNvPr id="9" name="Text 7"/>
          <p:cNvSpPr/>
          <p:nvPr/>
        </p:nvSpPr>
        <p:spPr>
          <a:xfrm>
            <a:off x="685800" y="1901952"/>
            <a:ext cx="3657600" cy="201168"/>
          </a:xfrm>
          <a:prstGeom prst="rect">
            <a:avLst/>
          </a:prstGeom>
          <a:noFill/>
          <a:ln/>
        </p:spPr>
        <p:txBody>
          <a:bodyPr wrap="square" lIns="0" tIns="0" rIns="0" bIns="0" rtlCol="0" anchor="ctr"/>
          <a:lstStyle/>
          <a:p>
            <a:pPr marL="0" indent="0">
              <a:buNone/>
            </a:pPr>
            <a:r>
              <a:rPr lang="en-US" sz="900" dirty="0">
                <a:solidFill>
                  <a:srgbClr val="A8B8CC"/>
                </a:solidFill>
                <a:latin typeface="Calibri" pitchFamily="34" charset="0"/>
                <a:ea typeface="Calibri" pitchFamily="34" charset="-122"/>
                <a:cs typeface="Calibri" pitchFamily="34" charset="-120"/>
              </a:rPr>
              <a:t>Symptom → the right door: triage, booking, insurer call</a:t>
            </a:r>
            <a:endParaRPr lang="en-US" sz="900" dirty="0"/>
          </a:p>
        </p:txBody>
      </p:sp>
      <p:sp>
        <p:nvSpPr>
          <p:cNvPr id="10" name="Shape 8"/>
          <p:cNvSpPr/>
          <p:nvPr/>
        </p:nvSpPr>
        <p:spPr>
          <a:xfrm>
            <a:off x="457200" y="2304288"/>
            <a:ext cx="4114800" cy="658368"/>
          </a:xfrm>
          <a:prstGeom prst="roundRect">
            <a:avLst>
              <a:gd name="adj" fmla="val 13889"/>
            </a:avLst>
          </a:prstGeom>
          <a:solidFill>
            <a:srgbClr val="080D18"/>
          </a:solidFill>
          <a:ln w="9525">
            <a:solidFill>
              <a:srgbClr val="00D4FF"/>
            </a:solidFill>
            <a:prstDash val="solid"/>
          </a:ln>
        </p:spPr>
        <p:txBody>
          <a:bodyPr/>
          <a:lstStyle/>
          <a:p>
            <a:endParaRPr lang="en-AE"/>
          </a:p>
        </p:txBody>
      </p:sp>
      <p:sp>
        <p:nvSpPr>
          <p:cNvPr id="11" name="Shape 9"/>
          <p:cNvSpPr/>
          <p:nvPr/>
        </p:nvSpPr>
        <p:spPr>
          <a:xfrm>
            <a:off x="457200" y="2304288"/>
            <a:ext cx="73152" cy="658368"/>
          </a:xfrm>
          <a:prstGeom prst="rect">
            <a:avLst/>
          </a:prstGeom>
          <a:solidFill>
            <a:srgbClr val="00D4FF"/>
          </a:solidFill>
          <a:ln/>
        </p:spPr>
        <p:txBody>
          <a:bodyPr/>
          <a:lstStyle/>
          <a:p>
            <a:endParaRPr lang="en-AE"/>
          </a:p>
        </p:txBody>
      </p:sp>
      <p:sp>
        <p:nvSpPr>
          <p:cNvPr id="12" name="Text 10"/>
          <p:cNvSpPr/>
          <p:nvPr/>
        </p:nvSpPr>
        <p:spPr>
          <a:xfrm>
            <a:off x="685800" y="2331720"/>
            <a:ext cx="2743200" cy="347472"/>
          </a:xfrm>
          <a:prstGeom prst="rect">
            <a:avLst/>
          </a:prstGeom>
          <a:noFill/>
          <a:ln/>
        </p:spPr>
        <p:txBody>
          <a:bodyPr wrap="square" lIns="0" tIns="0" rIns="0" bIns="0" rtlCol="0" anchor="ctr"/>
          <a:lstStyle/>
          <a:p>
            <a:pPr marL="0" indent="0">
              <a:buNone/>
            </a:pPr>
            <a:r>
              <a:rPr lang="en-US" sz="2200" dirty="0">
                <a:solidFill>
                  <a:srgbClr val="00D4FF"/>
                </a:solidFill>
                <a:latin typeface="Arial Black" pitchFamily="34" charset="0"/>
                <a:ea typeface="Arial Black" pitchFamily="34" charset="-122"/>
                <a:cs typeface="Arial Black" pitchFamily="34" charset="-120"/>
              </a:rPr>
              <a:t>17 / 18</a:t>
            </a:r>
            <a:endParaRPr lang="en-US" sz="2200" dirty="0"/>
          </a:p>
        </p:txBody>
      </p:sp>
      <p:sp>
        <p:nvSpPr>
          <p:cNvPr id="13" name="Text 11"/>
          <p:cNvSpPr/>
          <p:nvPr/>
        </p:nvSpPr>
        <p:spPr>
          <a:xfrm>
            <a:off x="685800" y="2697480"/>
            <a:ext cx="3657600" cy="201168"/>
          </a:xfrm>
          <a:prstGeom prst="rect">
            <a:avLst/>
          </a:prstGeom>
          <a:noFill/>
          <a:ln/>
        </p:spPr>
        <p:txBody>
          <a:bodyPr wrap="square" lIns="0" tIns="0" rIns="0" bIns="0" rtlCol="0" anchor="ctr"/>
          <a:lstStyle/>
          <a:p>
            <a:pPr marL="0" indent="0">
              <a:buNone/>
            </a:pPr>
            <a:r>
              <a:rPr lang="en-US" sz="900" dirty="0">
                <a:solidFill>
                  <a:srgbClr val="A8B8CC"/>
                </a:solidFill>
                <a:latin typeface="Calibri" pitchFamily="34" charset="0"/>
                <a:ea typeface="Calibri" pitchFamily="34" charset="-122"/>
                <a:cs typeface="Calibri" pitchFamily="34" charset="-120"/>
              </a:rPr>
              <a:t>Safety test prompts handled by the guardrail alone</a:t>
            </a:r>
            <a:endParaRPr lang="en-US" sz="900" dirty="0"/>
          </a:p>
        </p:txBody>
      </p:sp>
      <p:sp>
        <p:nvSpPr>
          <p:cNvPr id="14" name="Shape 12"/>
          <p:cNvSpPr/>
          <p:nvPr/>
        </p:nvSpPr>
        <p:spPr>
          <a:xfrm>
            <a:off x="457200" y="3108960"/>
            <a:ext cx="4114800" cy="548640"/>
          </a:xfrm>
          <a:prstGeom prst="roundRect">
            <a:avLst>
              <a:gd name="adj" fmla="val 16667"/>
            </a:avLst>
          </a:prstGeom>
          <a:solidFill>
            <a:srgbClr val="141E30"/>
          </a:solidFill>
          <a:ln/>
        </p:spPr>
        <p:txBody>
          <a:bodyPr/>
          <a:lstStyle/>
          <a:p>
            <a:endParaRPr lang="en-AE"/>
          </a:p>
        </p:txBody>
      </p:sp>
      <p:sp>
        <p:nvSpPr>
          <p:cNvPr id="15" name="Text 13"/>
          <p:cNvSpPr/>
          <p:nvPr/>
        </p:nvSpPr>
        <p:spPr>
          <a:xfrm>
            <a:off x="640080" y="3136392"/>
            <a:ext cx="3749040" cy="502920"/>
          </a:xfrm>
          <a:prstGeom prst="rect">
            <a:avLst/>
          </a:prstGeom>
          <a:noFill/>
          <a:ln/>
        </p:spPr>
        <p:txBody>
          <a:bodyPr wrap="square" lIns="0" tIns="0" rIns="0" bIns="0" rtlCol="0" anchor="ctr"/>
          <a:lstStyle/>
          <a:p>
            <a:pPr marL="0" indent="0">
              <a:lnSpc>
                <a:spcPts val="1400"/>
              </a:lnSpc>
              <a:buNone/>
            </a:pPr>
            <a:r>
              <a:rPr lang="en-US" sz="950" dirty="0">
                <a:solidFill>
                  <a:srgbClr val="FFFFFF"/>
                </a:solidFill>
                <a:latin typeface="Calibri" pitchFamily="34" charset="0"/>
                <a:ea typeface="Calibri" pitchFamily="34" charset="-122"/>
                <a:cs typeface="Calibri" pitchFamily="34" charset="-120"/>
              </a:rPr>
              <a:t>Who benefits</a:t>
            </a:r>
            <a:endParaRPr lang="en-US" sz="950" dirty="0"/>
          </a:p>
          <a:p>
            <a:pPr marL="0" indent="0">
              <a:lnSpc>
                <a:spcPts val="1400"/>
              </a:lnSpc>
              <a:buNone/>
            </a:pPr>
            <a:r>
              <a:rPr lang="en-US" sz="950" dirty="0">
                <a:solidFill>
                  <a:srgbClr val="FFFFFF"/>
                </a:solidFill>
                <a:latin typeface="Calibri" pitchFamily="34" charset="0"/>
                <a:ea typeface="Calibri" pitchFamily="34" charset="-122"/>
                <a:cs typeface="Calibri" pitchFamily="34" charset="-120"/>
              </a:rPr>
              <a:t>Anyone navigating care in the UAE — especially people with chronic conditions, new residents and Arabic speakers.</a:t>
            </a:r>
            <a:endParaRPr lang="en-US" sz="950" dirty="0"/>
          </a:p>
        </p:txBody>
      </p:sp>
      <p:sp>
        <p:nvSpPr>
          <p:cNvPr id="16" name="Text 14"/>
          <p:cNvSpPr/>
          <p:nvPr/>
        </p:nvSpPr>
        <p:spPr>
          <a:xfrm>
            <a:off x="4937760" y="1051560"/>
            <a:ext cx="2743200" cy="320040"/>
          </a:xfrm>
          <a:prstGeom prst="rect">
            <a:avLst/>
          </a:prstGeom>
          <a:noFill/>
          <a:ln/>
        </p:spPr>
        <p:txBody>
          <a:bodyPr wrap="square" lIns="0" tIns="0" rIns="0" bIns="0" rtlCol="0" anchor="ctr"/>
          <a:lstStyle/>
          <a:p>
            <a:pPr marL="0" indent="0">
              <a:buNone/>
            </a:pPr>
            <a:r>
              <a:rPr lang="en-US" sz="1400" dirty="0">
                <a:solidFill>
                  <a:srgbClr val="A855F7"/>
                </a:solidFill>
                <a:latin typeface="Arial Black" pitchFamily="34" charset="0"/>
                <a:ea typeface="Arial Black" pitchFamily="34" charset="-122"/>
                <a:cs typeface="Arial Black" pitchFamily="34" charset="-120"/>
              </a:rPr>
              <a:t>WHAT'S NEXT</a:t>
            </a:r>
            <a:endParaRPr lang="en-US" sz="1400" dirty="0"/>
          </a:p>
        </p:txBody>
      </p:sp>
      <p:sp>
        <p:nvSpPr>
          <p:cNvPr id="17" name="Shape 15"/>
          <p:cNvSpPr/>
          <p:nvPr/>
        </p:nvSpPr>
        <p:spPr>
          <a:xfrm>
            <a:off x="4937760" y="1527048"/>
            <a:ext cx="320040" cy="256032"/>
          </a:xfrm>
          <a:prstGeom prst="roundRect">
            <a:avLst>
              <a:gd name="adj" fmla="val 21429"/>
            </a:avLst>
          </a:prstGeom>
          <a:solidFill>
            <a:srgbClr val="FF9900"/>
          </a:solidFill>
          <a:ln/>
        </p:spPr>
        <p:txBody>
          <a:bodyPr/>
          <a:lstStyle/>
          <a:p>
            <a:endParaRPr lang="en-AE"/>
          </a:p>
        </p:txBody>
      </p:sp>
      <p:sp>
        <p:nvSpPr>
          <p:cNvPr id="18" name="Text 16"/>
          <p:cNvSpPr/>
          <p:nvPr/>
        </p:nvSpPr>
        <p:spPr>
          <a:xfrm>
            <a:off x="4937760" y="1527048"/>
            <a:ext cx="320040" cy="256032"/>
          </a:xfrm>
          <a:prstGeom prst="rect">
            <a:avLst/>
          </a:prstGeom>
          <a:noFill/>
          <a:ln/>
        </p:spPr>
        <p:txBody>
          <a:bodyPr wrap="square" lIns="0" tIns="0" rIns="0" bIns="0" rtlCol="0" anchor="ctr"/>
          <a:lstStyle/>
          <a:p>
            <a:pPr marL="0" indent="0" algn="ctr">
              <a:buNone/>
            </a:pPr>
            <a:r>
              <a:rPr lang="en-US" sz="1100" dirty="0">
                <a:solidFill>
                  <a:srgbClr val="0B1120"/>
                </a:solidFill>
                <a:latin typeface="Arial Black" pitchFamily="34" charset="0"/>
                <a:ea typeface="Arial Black" pitchFamily="34" charset="-122"/>
                <a:cs typeface="Arial Black" pitchFamily="34" charset="-120"/>
              </a:rPr>
              <a:t>1</a:t>
            </a:r>
            <a:endParaRPr lang="en-US" sz="1100" dirty="0"/>
          </a:p>
        </p:txBody>
      </p:sp>
      <p:sp>
        <p:nvSpPr>
          <p:cNvPr id="19" name="Text 17"/>
          <p:cNvSpPr/>
          <p:nvPr/>
        </p:nvSpPr>
        <p:spPr>
          <a:xfrm>
            <a:off x="5394960" y="1508760"/>
            <a:ext cx="3291840" cy="438912"/>
          </a:xfrm>
          <a:prstGeom prst="rect">
            <a:avLst/>
          </a:prstGeom>
          <a:noFill/>
          <a:ln/>
        </p:spPr>
        <p:txBody>
          <a:bodyPr wrap="square" lIns="0" tIns="0" rIns="0" bIns="0" rtlCol="0" anchor="ctr"/>
          <a:lstStyle/>
          <a:p>
            <a:pPr marL="0" indent="0">
              <a:lnSpc>
                <a:spcPts val="1300"/>
              </a:lnSpc>
              <a:buNone/>
            </a:pPr>
            <a:r>
              <a:rPr lang="en-US" sz="1000" dirty="0">
                <a:solidFill>
                  <a:srgbClr val="A8B8CC"/>
                </a:solidFill>
                <a:latin typeface="Calibri" pitchFamily="34" charset="0"/>
                <a:ea typeface="Calibri" pitchFamily="34" charset="-122"/>
                <a:cs typeface="Calibri" pitchFamily="34" charset="-120"/>
              </a:rPr>
              <a:t>Prescription reading with Amazon Textract</a:t>
            </a:r>
            <a:endParaRPr lang="en-US" sz="1000" dirty="0"/>
          </a:p>
        </p:txBody>
      </p:sp>
      <p:sp>
        <p:nvSpPr>
          <p:cNvPr id="20" name="Shape 18"/>
          <p:cNvSpPr/>
          <p:nvPr/>
        </p:nvSpPr>
        <p:spPr>
          <a:xfrm>
            <a:off x="4937760" y="2057400"/>
            <a:ext cx="320040" cy="256032"/>
          </a:xfrm>
          <a:prstGeom prst="roundRect">
            <a:avLst>
              <a:gd name="adj" fmla="val 21429"/>
            </a:avLst>
          </a:prstGeom>
          <a:solidFill>
            <a:srgbClr val="00D4FF"/>
          </a:solidFill>
          <a:ln/>
        </p:spPr>
        <p:txBody>
          <a:bodyPr/>
          <a:lstStyle/>
          <a:p>
            <a:endParaRPr lang="en-AE"/>
          </a:p>
        </p:txBody>
      </p:sp>
      <p:sp>
        <p:nvSpPr>
          <p:cNvPr id="21" name="Text 19"/>
          <p:cNvSpPr/>
          <p:nvPr/>
        </p:nvSpPr>
        <p:spPr>
          <a:xfrm>
            <a:off x="4937760" y="2057400"/>
            <a:ext cx="320040" cy="256032"/>
          </a:xfrm>
          <a:prstGeom prst="rect">
            <a:avLst/>
          </a:prstGeom>
          <a:noFill/>
          <a:ln/>
        </p:spPr>
        <p:txBody>
          <a:bodyPr wrap="square" lIns="0" tIns="0" rIns="0" bIns="0" rtlCol="0" anchor="ctr"/>
          <a:lstStyle/>
          <a:p>
            <a:pPr marL="0" indent="0" algn="ctr">
              <a:buNone/>
            </a:pPr>
            <a:r>
              <a:rPr lang="en-US" sz="1100" dirty="0">
                <a:solidFill>
                  <a:srgbClr val="0B1120"/>
                </a:solidFill>
                <a:latin typeface="Arial Black" pitchFamily="34" charset="0"/>
                <a:ea typeface="Arial Black" pitchFamily="34" charset="-122"/>
                <a:cs typeface="Arial Black" pitchFamily="34" charset="-120"/>
              </a:rPr>
              <a:t>2</a:t>
            </a:r>
            <a:endParaRPr lang="en-US" sz="1100" dirty="0"/>
          </a:p>
        </p:txBody>
      </p:sp>
      <p:sp>
        <p:nvSpPr>
          <p:cNvPr id="22" name="Text 20"/>
          <p:cNvSpPr/>
          <p:nvPr/>
        </p:nvSpPr>
        <p:spPr>
          <a:xfrm>
            <a:off x="5394960" y="2039112"/>
            <a:ext cx="3291840" cy="438912"/>
          </a:xfrm>
          <a:prstGeom prst="rect">
            <a:avLst/>
          </a:prstGeom>
          <a:noFill/>
          <a:ln/>
        </p:spPr>
        <p:txBody>
          <a:bodyPr wrap="square" lIns="0" tIns="0" rIns="0" bIns="0" rtlCol="0" anchor="ctr"/>
          <a:lstStyle/>
          <a:p>
            <a:pPr marL="0" indent="0">
              <a:lnSpc>
                <a:spcPts val="1300"/>
              </a:lnSpc>
              <a:buNone/>
            </a:pPr>
            <a:r>
              <a:rPr lang="en-US" sz="1000" dirty="0">
                <a:solidFill>
                  <a:srgbClr val="A8B8CC"/>
                </a:solidFill>
                <a:latin typeface="Calibri" pitchFamily="34" charset="0"/>
                <a:ea typeface="Calibri" pitchFamily="34" charset="-122"/>
                <a:cs typeface="Calibri" pitchFamily="34" charset="-120"/>
              </a:rPr>
              <a:t>Production in the AWS UAE region, journey orchestrated end to end</a:t>
            </a:r>
            <a:endParaRPr lang="en-US" sz="1000" dirty="0"/>
          </a:p>
        </p:txBody>
      </p:sp>
      <p:sp>
        <p:nvSpPr>
          <p:cNvPr id="23" name="Shape 21"/>
          <p:cNvSpPr/>
          <p:nvPr/>
        </p:nvSpPr>
        <p:spPr>
          <a:xfrm>
            <a:off x="4937760" y="2587752"/>
            <a:ext cx="320040" cy="256032"/>
          </a:xfrm>
          <a:prstGeom prst="roundRect">
            <a:avLst>
              <a:gd name="adj" fmla="val 21429"/>
            </a:avLst>
          </a:prstGeom>
          <a:solidFill>
            <a:srgbClr val="A855F7"/>
          </a:solidFill>
          <a:ln/>
        </p:spPr>
        <p:txBody>
          <a:bodyPr/>
          <a:lstStyle/>
          <a:p>
            <a:endParaRPr lang="en-AE"/>
          </a:p>
        </p:txBody>
      </p:sp>
      <p:sp>
        <p:nvSpPr>
          <p:cNvPr id="24" name="Text 22"/>
          <p:cNvSpPr/>
          <p:nvPr/>
        </p:nvSpPr>
        <p:spPr>
          <a:xfrm>
            <a:off x="4937760" y="2587752"/>
            <a:ext cx="320040" cy="256032"/>
          </a:xfrm>
          <a:prstGeom prst="rect">
            <a:avLst/>
          </a:prstGeom>
          <a:noFill/>
          <a:ln/>
        </p:spPr>
        <p:txBody>
          <a:bodyPr wrap="square" lIns="0" tIns="0" rIns="0" bIns="0" rtlCol="0" anchor="ctr"/>
          <a:lstStyle/>
          <a:p>
            <a:pPr marL="0" indent="0" algn="ctr">
              <a:buNone/>
            </a:pPr>
            <a:r>
              <a:rPr lang="en-US" sz="1100" dirty="0">
                <a:solidFill>
                  <a:srgbClr val="0B1120"/>
                </a:solidFill>
                <a:latin typeface="Arial Black" pitchFamily="34" charset="0"/>
                <a:ea typeface="Arial Black" pitchFamily="34" charset="-122"/>
                <a:cs typeface="Arial Black" pitchFamily="34" charset="-120"/>
              </a:rPr>
              <a:t>3</a:t>
            </a:r>
            <a:endParaRPr lang="en-US" sz="1100" dirty="0"/>
          </a:p>
        </p:txBody>
      </p:sp>
      <p:sp>
        <p:nvSpPr>
          <p:cNvPr id="25" name="Text 23"/>
          <p:cNvSpPr/>
          <p:nvPr/>
        </p:nvSpPr>
        <p:spPr>
          <a:xfrm>
            <a:off x="5394960" y="2569464"/>
            <a:ext cx="3291840" cy="438912"/>
          </a:xfrm>
          <a:prstGeom prst="rect">
            <a:avLst/>
          </a:prstGeom>
          <a:noFill/>
          <a:ln/>
        </p:spPr>
        <p:txBody>
          <a:bodyPr wrap="square" lIns="0" tIns="0" rIns="0" bIns="0" rtlCol="0" anchor="ctr"/>
          <a:lstStyle/>
          <a:p>
            <a:pPr marL="0" indent="0">
              <a:lnSpc>
                <a:spcPts val="1300"/>
              </a:lnSpc>
              <a:buNone/>
            </a:pPr>
            <a:r>
              <a:rPr lang="en-US" sz="1000" dirty="0">
                <a:solidFill>
                  <a:srgbClr val="A8B8CC"/>
                </a:solidFill>
                <a:latin typeface="Calibri" pitchFamily="34" charset="0"/>
                <a:ea typeface="Calibri" pitchFamily="34" charset="-122"/>
                <a:cs typeface="Calibri" pitchFamily="34" charset="-120"/>
              </a:rPr>
              <a:t>Live insurer eligibility and clinic booking APIs</a:t>
            </a:r>
            <a:endParaRPr lang="en-US" sz="1000" dirty="0"/>
          </a:p>
        </p:txBody>
      </p:sp>
      <p:sp>
        <p:nvSpPr>
          <p:cNvPr id="26" name="Shape 24"/>
          <p:cNvSpPr/>
          <p:nvPr/>
        </p:nvSpPr>
        <p:spPr>
          <a:xfrm>
            <a:off x="4937760" y="3118104"/>
            <a:ext cx="320040" cy="256032"/>
          </a:xfrm>
          <a:prstGeom prst="roundRect">
            <a:avLst>
              <a:gd name="adj" fmla="val 21429"/>
            </a:avLst>
          </a:prstGeom>
          <a:solidFill>
            <a:srgbClr val="7CFC00"/>
          </a:solidFill>
          <a:ln/>
        </p:spPr>
        <p:txBody>
          <a:bodyPr/>
          <a:lstStyle/>
          <a:p>
            <a:endParaRPr lang="en-AE"/>
          </a:p>
        </p:txBody>
      </p:sp>
      <p:sp>
        <p:nvSpPr>
          <p:cNvPr id="27" name="Text 25"/>
          <p:cNvSpPr/>
          <p:nvPr/>
        </p:nvSpPr>
        <p:spPr>
          <a:xfrm>
            <a:off x="4937760" y="3118104"/>
            <a:ext cx="320040" cy="256032"/>
          </a:xfrm>
          <a:prstGeom prst="rect">
            <a:avLst/>
          </a:prstGeom>
          <a:noFill/>
          <a:ln/>
        </p:spPr>
        <p:txBody>
          <a:bodyPr wrap="square" lIns="0" tIns="0" rIns="0" bIns="0" rtlCol="0" anchor="ctr"/>
          <a:lstStyle/>
          <a:p>
            <a:pPr marL="0" indent="0" algn="ctr">
              <a:buNone/>
            </a:pPr>
            <a:r>
              <a:rPr lang="en-US" sz="1100" dirty="0">
                <a:solidFill>
                  <a:srgbClr val="0B1120"/>
                </a:solidFill>
                <a:latin typeface="Arial Black" pitchFamily="34" charset="0"/>
                <a:ea typeface="Arial Black" pitchFamily="34" charset="-122"/>
                <a:cs typeface="Arial Black" pitchFamily="34" charset="-120"/>
              </a:rPr>
              <a:t>4</a:t>
            </a:r>
            <a:endParaRPr lang="en-US" sz="1100" dirty="0"/>
          </a:p>
        </p:txBody>
      </p:sp>
      <p:sp>
        <p:nvSpPr>
          <p:cNvPr id="28" name="Text 26"/>
          <p:cNvSpPr/>
          <p:nvPr/>
        </p:nvSpPr>
        <p:spPr>
          <a:xfrm>
            <a:off x="5394960" y="3099816"/>
            <a:ext cx="3291840" cy="438912"/>
          </a:xfrm>
          <a:prstGeom prst="rect">
            <a:avLst/>
          </a:prstGeom>
          <a:noFill/>
          <a:ln/>
        </p:spPr>
        <p:txBody>
          <a:bodyPr wrap="square" lIns="0" tIns="0" rIns="0" bIns="0" rtlCol="0" anchor="ctr"/>
          <a:lstStyle/>
          <a:p>
            <a:pPr marL="0" indent="0">
              <a:lnSpc>
                <a:spcPts val="1300"/>
              </a:lnSpc>
              <a:buNone/>
            </a:pPr>
            <a:r>
              <a:rPr lang="en-US" sz="1000" dirty="0">
                <a:solidFill>
                  <a:srgbClr val="A8B8CC"/>
                </a:solidFill>
                <a:latin typeface="Calibri" pitchFamily="34" charset="0"/>
                <a:ea typeface="Calibri" pitchFamily="34" charset="-122"/>
                <a:cs typeface="Calibri" pitchFamily="34" charset="-120"/>
              </a:rPr>
              <a:t>Pharmacy delivery and follow-up reminders</a:t>
            </a:r>
            <a:endParaRPr lang="en-US" sz="1000" dirty="0"/>
          </a:p>
        </p:txBody>
      </p:sp>
      <p:sp>
        <p:nvSpPr>
          <p:cNvPr id="29" name="Shape 27"/>
          <p:cNvSpPr/>
          <p:nvPr/>
        </p:nvSpPr>
        <p:spPr>
          <a:xfrm>
            <a:off x="0" y="4663440"/>
            <a:ext cx="9144000" cy="480060"/>
          </a:xfrm>
          <a:prstGeom prst="rect">
            <a:avLst/>
          </a:prstGeom>
          <a:solidFill>
            <a:srgbClr val="080D18"/>
          </a:solidFill>
          <a:ln/>
        </p:spPr>
        <p:txBody>
          <a:bodyPr/>
          <a:lstStyle/>
          <a:p>
            <a:endParaRPr lang="en-AE"/>
          </a:p>
        </p:txBody>
      </p:sp>
      <p:sp>
        <p:nvSpPr>
          <p:cNvPr id="30" name="Shape 28"/>
          <p:cNvSpPr/>
          <p:nvPr/>
        </p:nvSpPr>
        <p:spPr>
          <a:xfrm>
            <a:off x="0" y="4663440"/>
            <a:ext cx="9144000" cy="45720"/>
          </a:xfrm>
          <a:prstGeom prst="rect">
            <a:avLst/>
          </a:prstGeom>
          <a:solidFill>
            <a:srgbClr val="FF9900"/>
          </a:solidFill>
          <a:ln/>
        </p:spPr>
        <p:txBody>
          <a:bodyPr/>
          <a:lstStyle/>
          <a:p>
            <a:endParaRPr lang="en-AE"/>
          </a:p>
        </p:txBody>
      </p:sp>
      <p:sp>
        <p:nvSpPr>
          <p:cNvPr id="31" name="Text 29"/>
          <p:cNvSpPr/>
          <p:nvPr/>
        </p:nvSpPr>
        <p:spPr>
          <a:xfrm>
            <a:off x="365760" y="4736592"/>
            <a:ext cx="8412480" cy="320040"/>
          </a:xfrm>
          <a:prstGeom prst="rect">
            <a:avLst/>
          </a:prstGeom>
          <a:noFill/>
          <a:ln/>
        </p:spPr>
        <p:txBody>
          <a:bodyPr wrap="square" lIns="0" tIns="0" rIns="0" bIns="0" rtlCol="0" anchor="ctr"/>
          <a:lstStyle/>
          <a:p>
            <a:pPr marL="0" indent="0" algn="ctr">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5">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marL="0" indent="0" algn="r">
              <a:buNone/>
            </a:pPr>
            <a:r>
              <a:rPr lang="en-US" sz="900" dirty="0">
                <a:solidFill>
                  <a:srgbClr val="5C7090"/>
                </a:solidFill>
                <a:latin typeface="Consolas" pitchFamily="34" charset="0"/>
                <a:ea typeface="Consolas" pitchFamily="34" charset="-122"/>
                <a:cs typeface="Consolas" pitchFamily="34" charset="-120"/>
              </a:rPr>
              <a:t>12</a:t>
            </a:r>
            <a:endParaRPr lang="en-US" sz="900" dirty="0"/>
          </a:p>
        </p:txBody>
      </p:sp>
      <p:sp>
        <p:nvSpPr>
          <p:cNvPr id="3" name="Text 1"/>
          <p:cNvSpPr/>
          <p:nvPr/>
        </p:nvSpPr>
        <p:spPr>
          <a:xfrm>
            <a:off x="457200" y="182880"/>
            <a:ext cx="3657600" cy="502920"/>
          </a:xfrm>
          <a:prstGeom prst="rect">
            <a:avLst/>
          </a:prstGeom>
          <a:noFill/>
          <a:ln/>
        </p:spPr>
        <p:txBody>
          <a:bodyPr wrap="square" lIns="0" tIns="0" rIns="0" bIns="0" rtlCol="0" anchor="ctr"/>
          <a:lstStyle/>
          <a:p>
            <a:pPr marL="0" indent="0">
              <a:buNone/>
            </a:pPr>
            <a:r>
              <a:rPr lang="en-US" sz="2400" dirty="0">
                <a:solidFill>
                  <a:srgbClr val="FFFFFF"/>
                </a:solidFill>
                <a:latin typeface="Arial Black" pitchFamily="34" charset="0"/>
                <a:ea typeface="Arial Black" pitchFamily="34" charset="-122"/>
                <a:cs typeface="Arial Black" pitchFamily="34" charset="-120"/>
              </a:rPr>
              <a:t>UN SDG ALIGNMENT</a:t>
            </a:r>
            <a:endParaRPr lang="en-US" sz="2400" dirty="0"/>
          </a:p>
        </p:txBody>
      </p:sp>
      <p:sp>
        <p:nvSpPr>
          <p:cNvPr id="4" name="Shape 2"/>
          <p:cNvSpPr/>
          <p:nvPr/>
        </p:nvSpPr>
        <p:spPr>
          <a:xfrm>
            <a:off x="457200" y="731520"/>
            <a:ext cx="1828800" cy="45720"/>
          </a:xfrm>
          <a:prstGeom prst="rect">
            <a:avLst/>
          </a:prstGeom>
          <a:solidFill>
            <a:srgbClr val="00D4FF"/>
          </a:solidFill>
          <a:ln/>
        </p:spPr>
        <p:txBody>
          <a:bodyPr/>
          <a:lstStyle/>
          <a:p>
            <a:endParaRPr lang="en-AE"/>
          </a:p>
        </p:txBody>
      </p:sp>
      <p:sp>
        <p:nvSpPr>
          <p:cNvPr id="5" name="Shape 3"/>
          <p:cNvSpPr/>
          <p:nvPr/>
        </p:nvSpPr>
        <p:spPr>
          <a:xfrm>
            <a:off x="6583680" y="228600"/>
            <a:ext cx="1828800" cy="274320"/>
          </a:xfrm>
          <a:prstGeom prst="roundRect">
            <a:avLst>
              <a:gd name="adj" fmla="val 50000"/>
            </a:avLst>
          </a:prstGeom>
          <a:solidFill>
            <a:srgbClr val="000000"/>
          </a:solidFill>
          <a:ln w="9525">
            <a:solidFill>
              <a:srgbClr val="00D4FF"/>
            </a:solidFill>
            <a:prstDash val="solid"/>
          </a:ln>
        </p:spPr>
        <p:txBody>
          <a:bodyPr/>
          <a:lstStyle/>
          <a:p>
            <a:endParaRPr lang="en-AE"/>
          </a:p>
        </p:txBody>
      </p:sp>
      <p:sp>
        <p:nvSpPr>
          <p:cNvPr id="6" name="Text 4"/>
          <p:cNvSpPr/>
          <p:nvPr/>
        </p:nvSpPr>
        <p:spPr>
          <a:xfrm>
            <a:off x="6583680" y="228600"/>
            <a:ext cx="1828800" cy="274320"/>
          </a:xfrm>
          <a:prstGeom prst="rect">
            <a:avLst/>
          </a:prstGeom>
          <a:noFill/>
          <a:ln/>
        </p:spPr>
        <p:txBody>
          <a:bodyPr wrap="square" lIns="0" tIns="0" rIns="0" bIns="0" rtlCol="0" anchor="ctr"/>
          <a:lstStyle/>
          <a:p>
            <a:pPr marL="0" indent="0" algn="ctr">
              <a:buNone/>
            </a:pPr>
            <a:r>
              <a:rPr lang="en-US" sz="850" b="1" dirty="0">
                <a:solidFill>
                  <a:srgbClr val="00D4FF"/>
                </a:solidFill>
                <a:latin typeface="Calibri" pitchFamily="34" charset="0"/>
                <a:ea typeface="Calibri" pitchFamily="34" charset="-122"/>
                <a:cs typeface="Calibri" pitchFamily="34" charset="-120"/>
              </a:rPr>
              <a:t>🌍 SUSTAINABLE DEVELOPMENT</a:t>
            </a:r>
            <a:endParaRPr lang="en-US" sz="850" dirty="0"/>
          </a:p>
        </p:txBody>
      </p:sp>
      <p:sp>
        <p:nvSpPr>
          <p:cNvPr id="7" name="Shape 5"/>
          <p:cNvSpPr/>
          <p:nvPr/>
        </p:nvSpPr>
        <p:spPr>
          <a:xfrm>
            <a:off x="457200" y="1051560"/>
            <a:ext cx="8229600" cy="3108960"/>
          </a:xfrm>
          <a:prstGeom prst="roundRect">
            <a:avLst>
              <a:gd name="adj" fmla="val 4412"/>
            </a:avLst>
          </a:prstGeom>
          <a:solidFill>
            <a:srgbClr val="080D18"/>
          </a:solidFill>
          <a:ln w="12700">
            <a:solidFill>
              <a:srgbClr val="5C7090"/>
            </a:solidFill>
            <a:prstDash val="dash"/>
          </a:ln>
        </p:spPr>
        <p:txBody>
          <a:bodyPr/>
          <a:lstStyle/>
          <a:p>
            <a:endParaRPr lang="en-AE"/>
          </a:p>
        </p:txBody>
      </p:sp>
      <p:sp>
        <p:nvSpPr>
          <p:cNvPr id="13" name="Shape 11"/>
          <p:cNvSpPr/>
          <p:nvPr/>
        </p:nvSpPr>
        <p:spPr>
          <a:xfrm>
            <a:off x="0" y="4663440"/>
            <a:ext cx="9144000" cy="480060"/>
          </a:xfrm>
          <a:prstGeom prst="rect">
            <a:avLst/>
          </a:prstGeom>
          <a:solidFill>
            <a:srgbClr val="080D18"/>
          </a:solidFill>
          <a:ln/>
        </p:spPr>
        <p:txBody>
          <a:bodyPr/>
          <a:lstStyle/>
          <a:p>
            <a:endParaRPr lang="en-AE"/>
          </a:p>
        </p:txBody>
      </p:sp>
      <p:sp>
        <p:nvSpPr>
          <p:cNvPr id="14" name="Shape 12"/>
          <p:cNvSpPr/>
          <p:nvPr/>
        </p:nvSpPr>
        <p:spPr>
          <a:xfrm>
            <a:off x="0" y="4663440"/>
            <a:ext cx="9144000" cy="45720"/>
          </a:xfrm>
          <a:prstGeom prst="rect">
            <a:avLst/>
          </a:prstGeom>
          <a:solidFill>
            <a:srgbClr val="FF9900"/>
          </a:solidFill>
          <a:ln/>
        </p:spPr>
        <p:txBody>
          <a:bodyPr/>
          <a:lstStyle/>
          <a:p>
            <a:endParaRPr lang="en-AE"/>
          </a:p>
        </p:txBody>
      </p:sp>
      <p:sp>
        <p:nvSpPr>
          <p:cNvPr id="15" name="Text 13"/>
          <p:cNvSpPr/>
          <p:nvPr/>
        </p:nvSpPr>
        <p:spPr>
          <a:xfrm>
            <a:off x="365760" y="4736592"/>
            <a:ext cx="8412480" cy="320040"/>
          </a:xfrm>
          <a:prstGeom prst="rect">
            <a:avLst/>
          </a:prstGeom>
          <a:noFill/>
          <a:ln/>
        </p:spPr>
        <p:txBody>
          <a:bodyPr wrap="square" lIns="0" tIns="0" rIns="0" bIns="0" rtlCol="0" anchor="ctr"/>
          <a:lstStyle/>
          <a:p>
            <a:pPr marL="0" indent="0" algn="ctr">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sp>
        <p:nvSpPr>
          <p:cNvPr id="16" name="Rounded Rectangle 15"/>
          <p:cNvSpPr/>
          <p:nvPr/>
        </p:nvSpPr>
        <p:spPr>
          <a:xfrm>
            <a:off x="685800" y="1234440"/>
            <a:ext cx="2468880" cy="2651760"/>
          </a:xfrm>
          <a:prstGeom prst="roundRect">
            <a:avLst>
              <a:gd name="adj" fmla="val 8000"/>
            </a:avLst>
          </a:prstGeom>
          <a:solidFill>
            <a:srgbClr val="141E30"/>
          </a:solidFill>
          <a:ln w="9525">
            <a:solidFill>
              <a:srgbClr val="4C9F3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22960" y="1371600"/>
            <a:ext cx="822960" cy="347472"/>
          </a:xfrm>
          <a:prstGeom prst="roundRect">
            <a:avLst>
              <a:gd name="adj" fmla="val 8000"/>
            </a:avLst>
          </a:prstGeom>
          <a:solidFill>
            <a:srgbClr val="4C9F3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22960" y="1371600"/>
            <a:ext cx="822960" cy="347472"/>
          </a:xfrm>
          <a:prstGeom prst="rect">
            <a:avLst/>
          </a:prstGeom>
          <a:noFill/>
        </p:spPr>
        <p:txBody>
          <a:bodyPr wrap="square" lIns="0" tIns="0" rIns="0" bIns="0" anchor="ctr">
            <a:spAutoFit/>
          </a:bodyPr>
          <a:lstStyle/>
          <a:p>
            <a:pPr algn="ctr">
              <a:spcAft>
                <a:spcPts val="200"/>
              </a:spcAft>
            </a:pPr>
            <a:r>
              <a:rPr sz="1200" b="0">
                <a:solidFill>
                  <a:srgbClr val="FFFFFF"/>
                </a:solidFill>
                <a:latin typeface="Arial Black"/>
              </a:rPr>
              <a:t>SDG 3</a:t>
            </a:r>
          </a:p>
        </p:txBody>
      </p:sp>
      <p:sp>
        <p:nvSpPr>
          <p:cNvPr id="19" name="TextBox 18"/>
          <p:cNvSpPr txBox="1"/>
          <p:nvPr/>
        </p:nvSpPr>
        <p:spPr>
          <a:xfrm>
            <a:off x="822960" y="1828800"/>
            <a:ext cx="2194560" cy="457200"/>
          </a:xfrm>
          <a:prstGeom prst="rect">
            <a:avLst/>
          </a:prstGeom>
          <a:noFill/>
        </p:spPr>
        <p:txBody>
          <a:bodyPr wrap="square" lIns="0" tIns="0" rIns="0" bIns="0" anchor="t">
            <a:spAutoFit/>
          </a:bodyPr>
          <a:lstStyle/>
          <a:p>
            <a:pPr algn="l">
              <a:spcAft>
                <a:spcPts val="200"/>
              </a:spcAft>
            </a:pPr>
            <a:r>
              <a:rPr sz="1150" b="0">
                <a:solidFill>
                  <a:srgbClr val="FFFFFF"/>
                </a:solidFill>
                <a:latin typeface="Arial Black"/>
              </a:rPr>
              <a:t>Good health and well-being</a:t>
            </a:r>
          </a:p>
        </p:txBody>
      </p:sp>
      <p:sp>
        <p:nvSpPr>
          <p:cNvPr id="20" name="TextBox 19"/>
          <p:cNvSpPr txBox="1"/>
          <p:nvPr/>
        </p:nvSpPr>
        <p:spPr>
          <a:xfrm>
            <a:off x="822960" y="2377440"/>
            <a:ext cx="2194560" cy="1463040"/>
          </a:xfrm>
          <a:prstGeom prst="rect">
            <a:avLst/>
          </a:prstGeom>
          <a:noFill/>
        </p:spPr>
        <p:txBody>
          <a:bodyPr wrap="square" lIns="0" tIns="0" rIns="0" bIns="0" anchor="t">
            <a:spAutoFit/>
          </a:bodyPr>
          <a:lstStyle/>
          <a:p>
            <a:pPr algn="l">
              <a:spcAft>
                <a:spcPts val="200"/>
              </a:spcAft>
            </a:pPr>
            <a:r>
              <a:rPr sz="1000" b="0">
                <a:solidFill>
                  <a:srgbClr val="A8B8CC"/>
                </a:solidFill>
                <a:latin typeface="Calibri"/>
              </a:rPr>
              <a:t>Right care at the right time: red flags reach emergency care fast; routine cases stay out of the ER. Supports target 3.8, access to essential care.</a:t>
            </a:r>
          </a:p>
        </p:txBody>
      </p:sp>
      <p:sp>
        <p:nvSpPr>
          <p:cNvPr id="21" name="Rounded Rectangle 20"/>
          <p:cNvSpPr/>
          <p:nvPr/>
        </p:nvSpPr>
        <p:spPr>
          <a:xfrm>
            <a:off x="3337560" y="1234440"/>
            <a:ext cx="2468880" cy="2651760"/>
          </a:xfrm>
          <a:prstGeom prst="roundRect">
            <a:avLst>
              <a:gd name="adj" fmla="val 8000"/>
            </a:avLst>
          </a:prstGeom>
          <a:solidFill>
            <a:srgbClr val="141E30"/>
          </a:solidFill>
          <a:ln w="9525">
            <a:solidFill>
              <a:srgbClr val="DD136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3474720" y="1371600"/>
            <a:ext cx="822960" cy="347472"/>
          </a:xfrm>
          <a:prstGeom prst="roundRect">
            <a:avLst>
              <a:gd name="adj" fmla="val 8000"/>
            </a:avLst>
          </a:prstGeom>
          <a:solidFill>
            <a:srgbClr val="DD136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74720" y="1371600"/>
            <a:ext cx="822960" cy="347472"/>
          </a:xfrm>
          <a:prstGeom prst="rect">
            <a:avLst/>
          </a:prstGeom>
          <a:noFill/>
        </p:spPr>
        <p:txBody>
          <a:bodyPr wrap="square" lIns="0" tIns="0" rIns="0" bIns="0" anchor="ctr">
            <a:spAutoFit/>
          </a:bodyPr>
          <a:lstStyle/>
          <a:p>
            <a:pPr algn="ctr">
              <a:spcAft>
                <a:spcPts val="200"/>
              </a:spcAft>
            </a:pPr>
            <a:r>
              <a:rPr sz="1200" b="0">
                <a:solidFill>
                  <a:srgbClr val="FFFFFF"/>
                </a:solidFill>
                <a:latin typeface="Arial Black"/>
              </a:rPr>
              <a:t>SDG 10</a:t>
            </a:r>
          </a:p>
        </p:txBody>
      </p:sp>
      <p:sp>
        <p:nvSpPr>
          <p:cNvPr id="24" name="TextBox 23"/>
          <p:cNvSpPr txBox="1"/>
          <p:nvPr/>
        </p:nvSpPr>
        <p:spPr>
          <a:xfrm>
            <a:off x="3474720" y="1828800"/>
            <a:ext cx="2194560" cy="457200"/>
          </a:xfrm>
          <a:prstGeom prst="rect">
            <a:avLst/>
          </a:prstGeom>
          <a:noFill/>
        </p:spPr>
        <p:txBody>
          <a:bodyPr wrap="square" lIns="0" tIns="0" rIns="0" bIns="0" anchor="t">
            <a:spAutoFit/>
          </a:bodyPr>
          <a:lstStyle/>
          <a:p>
            <a:pPr algn="l">
              <a:spcAft>
                <a:spcPts val="200"/>
              </a:spcAft>
            </a:pPr>
            <a:r>
              <a:rPr sz="1150" b="0">
                <a:solidFill>
                  <a:srgbClr val="FFFFFF"/>
                </a:solidFill>
                <a:latin typeface="Arial Black"/>
              </a:rPr>
              <a:t>Reduced inequalities</a:t>
            </a:r>
          </a:p>
        </p:txBody>
      </p:sp>
      <p:sp>
        <p:nvSpPr>
          <p:cNvPr id="25" name="TextBox 24"/>
          <p:cNvSpPr txBox="1"/>
          <p:nvPr/>
        </p:nvSpPr>
        <p:spPr>
          <a:xfrm>
            <a:off x="3474720" y="2377440"/>
            <a:ext cx="2194560" cy="1463040"/>
          </a:xfrm>
          <a:prstGeom prst="rect">
            <a:avLst/>
          </a:prstGeom>
          <a:noFill/>
        </p:spPr>
        <p:txBody>
          <a:bodyPr wrap="square" lIns="0" tIns="0" rIns="0" bIns="0" anchor="t">
            <a:spAutoFit/>
          </a:bodyPr>
          <a:lstStyle/>
          <a:p>
            <a:pPr algn="l">
              <a:spcAft>
                <a:spcPts val="200"/>
              </a:spcAft>
            </a:pPr>
            <a:r>
              <a:rPr sz="1000" b="0">
                <a:solidFill>
                  <a:srgbClr val="A8B8CC"/>
                </a:solidFill>
                <a:latin typeface="Calibri"/>
              </a:rPr>
              <a:t>Arabic and English, plain language, and a voice agent that makes the calls for people who find the system hard to navigate.</a:t>
            </a:r>
          </a:p>
        </p:txBody>
      </p:sp>
      <p:sp>
        <p:nvSpPr>
          <p:cNvPr id="26" name="Rounded Rectangle 25"/>
          <p:cNvSpPr/>
          <p:nvPr/>
        </p:nvSpPr>
        <p:spPr>
          <a:xfrm>
            <a:off x="5989320" y="1234440"/>
            <a:ext cx="2468880" cy="2651760"/>
          </a:xfrm>
          <a:prstGeom prst="roundRect">
            <a:avLst>
              <a:gd name="adj" fmla="val 8000"/>
            </a:avLst>
          </a:prstGeom>
          <a:solidFill>
            <a:srgbClr val="141E30"/>
          </a:solidFill>
          <a:ln w="9525">
            <a:solidFill>
              <a:srgbClr val="FD692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6126480" y="1371600"/>
            <a:ext cx="822960" cy="347472"/>
          </a:xfrm>
          <a:prstGeom prst="roundRect">
            <a:avLst>
              <a:gd name="adj" fmla="val 8000"/>
            </a:avLst>
          </a:prstGeom>
          <a:solidFill>
            <a:srgbClr val="FD69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126480" y="1371600"/>
            <a:ext cx="822960" cy="347472"/>
          </a:xfrm>
          <a:prstGeom prst="rect">
            <a:avLst/>
          </a:prstGeom>
          <a:noFill/>
        </p:spPr>
        <p:txBody>
          <a:bodyPr wrap="square" lIns="0" tIns="0" rIns="0" bIns="0" anchor="ctr">
            <a:spAutoFit/>
          </a:bodyPr>
          <a:lstStyle/>
          <a:p>
            <a:pPr algn="ctr">
              <a:spcAft>
                <a:spcPts val="200"/>
              </a:spcAft>
            </a:pPr>
            <a:r>
              <a:rPr sz="1200" b="0">
                <a:solidFill>
                  <a:srgbClr val="FFFFFF"/>
                </a:solidFill>
                <a:latin typeface="Arial Black"/>
              </a:rPr>
              <a:t>SDG 9</a:t>
            </a:r>
          </a:p>
        </p:txBody>
      </p:sp>
      <p:sp>
        <p:nvSpPr>
          <p:cNvPr id="29" name="TextBox 28"/>
          <p:cNvSpPr txBox="1"/>
          <p:nvPr/>
        </p:nvSpPr>
        <p:spPr>
          <a:xfrm>
            <a:off x="6126480" y="1828800"/>
            <a:ext cx="2194560" cy="457200"/>
          </a:xfrm>
          <a:prstGeom prst="rect">
            <a:avLst/>
          </a:prstGeom>
          <a:noFill/>
        </p:spPr>
        <p:txBody>
          <a:bodyPr wrap="square" lIns="0" tIns="0" rIns="0" bIns="0" anchor="t">
            <a:spAutoFit/>
          </a:bodyPr>
          <a:lstStyle/>
          <a:p>
            <a:pPr algn="l">
              <a:spcAft>
                <a:spcPts val="200"/>
              </a:spcAft>
            </a:pPr>
            <a:r>
              <a:rPr sz="1150" b="0">
                <a:solidFill>
                  <a:srgbClr val="FFFFFF"/>
                </a:solidFill>
                <a:latin typeface="Arial Black"/>
              </a:rPr>
              <a:t>Industry, innovation and infrastructure</a:t>
            </a:r>
          </a:p>
        </p:txBody>
      </p:sp>
      <p:sp>
        <p:nvSpPr>
          <p:cNvPr id="30" name="TextBox 29"/>
          <p:cNvSpPr txBox="1"/>
          <p:nvPr/>
        </p:nvSpPr>
        <p:spPr>
          <a:xfrm>
            <a:off x="6126480" y="2377440"/>
            <a:ext cx="2194560" cy="1463040"/>
          </a:xfrm>
          <a:prstGeom prst="rect">
            <a:avLst/>
          </a:prstGeom>
          <a:noFill/>
        </p:spPr>
        <p:txBody>
          <a:bodyPr wrap="square" lIns="0" tIns="0" rIns="0" bIns="0" anchor="t">
            <a:spAutoFit/>
          </a:bodyPr>
          <a:lstStyle/>
          <a:p>
            <a:pPr algn="l">
              <a:spcAft>
                <a:spcPts val="200"/>
              </a:spcAft>
            </a:pPr>
            <a:r>
              <a:rPr sz="1000" b="0">
                <a:solidFill>
                  <a:srgbClr val="A8B8CC"/>
                </a:solidFill>
                <a:latin typeface="Calibri"/>
              </a:rPr>
              <a:t>Serverless, agent-based infrastructure linking clinics, insurers and pharmacies instead of separate phone calls.</a:t>
            </a:r>
          </a:p>
        </p:txBody>
      </p:sp>
      <p:sp>
        <p:nvSpPr>
          <p:cNvPr id="31" name="TextBox 30"/>
          <p:cNvSpPr txBox="1"/>
          <p:nvPr/>
        </p:nvSpPr>
        <p:spPr>
          <a:xfrm>
            <a:off x="685800" y="3966210"/>
            <a:ext cx="7772400" cy="274320"/>
          </a:xfrm>
          <a:prstGeom prst="rect">
            <a:avLst/>
          </a:prstGeom>
          <a:noFill/>
        </p:spPr>
        <p:txBody>
          <a:bodyPr wrap="square" lIns="0" tIns="0" rIns="0" bIns="0" anchor="t">
            <a:spAutoFit/>
          </a:bodyPr>
          <a:lstStyle/>
          <a:p>
            <a:pPr algn="l">
              <a:spcAft>
                <a:spcPts val="200"/>
              </a:spcAft>
            </a:pPr>
            <a:r>
              <a:rPr sz="950" b="0" dirty="0">
                <a:solidFill>
                  <a:srgbClr val="5C7090"/>
                </a:solidFill>
                <a:latin typeface="Calibri"/>
              </a:rPr>
              <a:t>Health Companion guides people to care; it does not replace clinicians. Every recommendation ends with a professional.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5">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marL="0" indent="0" algn="r">
              <a:buNone/>
            </a:pPr>
            <a:r>
              <a:rPr lang="en-US" sz="900" dirty="0">
                <a:solidFill>
                  <a:srgbClr val="5C7090"/>
                </a:solidFill>
                <a:latin typeface="Consolas" pitchFamily="34" charset="0"/>
                <a:ea typeface="Consolas" pitchFamily="34" charset="-122"/>
                <a:cs typeface="Consolas" pitchFamily="34" charset="-120"/>
              </a:rPr>
              <a:t>13</a:t>
            </a:r>
            <a:endParaRPr lang="en-US" sz="900" dirty="0"/>
          </a:p>
        </p:txBody>
      </p:sp>
      <p:sp>
        <p:nvSpPr>
          <p:cNvPr id="3" name="Text 1"/>
          <p:cNvSpPr/>
          <p:nvPr/>
        </p:nvSpPr>
        <p:spPr>
          <a:xfrm>
            <a:off x="457200" y="182880"/>
            <a:ext cx="3657600" cy="502920"/>
          </a:xfrm>
          <a:prstGeom prst="rect">
            <a:avLst/>
          </a:prstGeom>
          <a:noFill/>
          <a:ln/>
        </p:spPr>
        <p:txBody>
          <a:bodyPr wrap="square" lIns="0" tIns="0" rIns="0" bIns="0" rtlCol="0" anchor="ctr"/>
          <a:lstStyle/>
          <a:p>
            <a:pPr marL="0" indent="0">
              <a:buNone/>
            </a:pPr>
            <a:r>
              <a:rPr lang="en-US" sz="2400" dirty="0">
                <a:solidFill>
                  <a:srgbClr val="FFFFFF"/>
                </a:solidFill>
                <a:latin typeface="Arial Black" pitchFamily="34" charset="0"/>
                <a:ea typeface="Arial Black" pitchFamily="34" charset="-122"/>
                <a:cs typeface="Arial Black" pitchFamily="34" charset="-120"/>
              </a:rPr>
              <a:t>CHALLENGES</a:t>
            </a:r>
            <a:endParaRPr lang="en-US" sz="2400" dirty="0"/>
          </a:p>
        </p:txBody>
      </p:sp>
      <p:sp>
        <p:nvSpPr>
          <p:cNvPr id="4" name="Shape 2"/>
          <p:cNvSpPr/>
          <p:nvPr/>
        </p:nvSpPr>
        <p:spPr>
          <a:xfrm>
            <a:off x="457200" y="731520"/>
            <a:ext cx="1828800" cy="45720"/>
          </a:xfrm>
          <a:prstGeom prst="rect">
            <a:avLst/>
          </a:prstGeom>
          <a:solidFill>
            <a:srgbClr val="00D4FF"/>
          </a:solidFill>
          <a:ln/>
        </p:spPr>
        <p:txBody>
          <a:bodyPr/>
          <a:lstStyle/>
          <a:p>
            <a:endParaRPr lang="en-AE"/>
          </a:p>
        </p:txBody>
      </p:sp>
      <p:sp>
        <p:nvSpPr>
          <p:cNvPr id="5" name="Shape 3"/>
          <p:cNvSpPr/>
          <p:nvPr/>
        </p:nvSpPr>
        <p:spPr>
          <a:xfrm>
            <a:off x="6583680" y="228600"/>
            <a:ext cx="1828800" cy="274320"/>
          </a:xfrm>
          <a:prstGeom prst="roundRect">
            <a:avLst>
              <a:gd name="adj" fmla="val 50000"/>
            </a:avLst>
          </a:prstGeom>
          <a:solidFill>
            <a:srgbClr val="000000"/>
          </a:solidFill>
          <a:ln w="9525">
            <a:solidFill>
              <a:srgbClr val="00D4FF"/>
            </a:solidFill>
            <a:prstDash val="solid"/>
          </a:ln>
        </p:spPr>
        <p:txBody>
          <a:bodyPr/>
          <a:lstStyle/>
          <a:p>
            <a:endParaRPr lang="en-AE"/>
          </a:p>
        </p:txBody>
      </p:sp>
      <p:sp>
        <p:nvSpPr>
          <p:cNvPr id="6" name="Text 4"/>
          <p:cNvSpPr/>
          <p:nvPr/>
        </p:nvSpPr>
        <p:spPr>
          <a:xfrm>
            <a:off x="6583680" y="228600"/>
            <a:ext cx="1828800" cy="274320"/>
          </a:xfrm>
          <a:prstGeom prst="rect">
            <a:avLst/>
          </a:prstGeom>
          <a:noFill/>
          <a:ln/>
        </p:spPr>
        <p:txBody>
          <a:bodyPr wrap="square" lIns="0" tIns="0" rIns="0" bIns="0" rtlCol="0" anchor="ctr"/>
          <a:lstStyle/>
          <a:p>
            <a:pPr marL="0" indent="0" algn="ctr">
              <a:buNone/>
            </a:pPr>
            <a:r>
              <a:rPr lang="en-US" sz="850" b="1" dirty="0">
                <a:solidFill>
                  <a:srgbClr val="00D4FF"/>
                </a:solidFill>
                <a:latin typeface="Calibri" pitchFamily="34" charset="0"/>
                <a:ea typeface="Calibri" pitchFamily="34" charset="-122"/>
                <a:cs typeface="Calibri" pitchFamily="34" charset="-120"/>
              </a:rPr>
              <a:t>🧗 WHAT BROKE &amp; HOW WE FIXED IT</a:t>
            </a:r>
            <a:endParaRPr lang="en-US" sz="850" dirty="0"/>
          </a:p>
        </p:txBody>
      </p:sp>
      <p:sp>
        <p:nvSpPr>
          <p:cNvPr id="7" name="Shape 5"/>
          <p:cNvSpPr/>
          <p:nvPr/>
        </p:nvSpPr>
        <p:spPr>
          <a:xfrm>
            <a:off x="457200" y="1051560"/>
            <a:ext cx="8229600" cy="3108960"/>
          </a:xfrm>
          <a:prstGeom prst="roundRect">
            <a:avLst>
              <a:gd name="adj" fmla="val 4412"/>
            </a:avLst>
          </a:prstGeom>
          <a:solidFill>
            <a:srgbClr val="080D18"/>
          </a:solidFill>
          <a:ln w="12700">
            <a:solidFill>
              <a:srgbClr val="5C7090"/>
            </a:solidFill>
            <a:prstDash val="dash"/>
          </a:ln>
        </p:spPr>
        <p:txBody>
          <a:bodyPr/>
          <a:lstStyle/>
          <a:p>
            <a:endParaRPr lang="en-AE"/>
          </a:p>
        </p:txBody>
      </p:sp>
      <p:sp>
        <p:nvSpPr>
          <p:cNvPr id="13" name="Shape 11"/>
          <p:cNvSpPr/>
          <p:nvPr/>
        </p:nvSpPr>
        <p:spPr>
          <a:xfrm>
            <a:off x="0" y="4663440"/>
            <a:ext cx="9144000" cy="480060"/>
          </a:xfrm>
          <a:prstGeom prst="rect">
            <a:avLst/>
          </a:prstGeom>
          <a:solidFill>
            <a:srgbClr val="080D18"/>
          </a:solidFill>
          <a:ln/>
        </p:spPr>
        <p:txBody>
          <a:bodyPr/>
          <a:lstStyle/>
          <a:p>
            <a:endParaRPr lang="en-AE"/>
          </a:p>
        </p:txBody>
      </p:sp>
      <p:sp>
        <p:nvSpPr>
          <p:cNvPr id="14" name="Shape 12"/>
          <p:cNvSpPr/>
          <p:nvPr/>
        </p:nvSpPr>
        <p:spPr>
          <a:xfrm>
            <a:off x="0" y="4663440"/>
            <a:ext cx="9144000" cy="45720"/>
          </a:xfrm>
          <a:prstGeom prst="rect">
            <a:avLst/>
          </a:prstGeom>
          <a:solidFill>
            <a:srgbClr val="FF9900"/>
          </a:solidFill>
          <a:ln/>
        </p:spPr>
        <p:txBody>
          <a:bodyPr/>
          <a:lstStyle/>
          <a:p>
            <a:endParaRPr lang="en-AE"/>
          </a:p>
        </p:txBody>
      </p:sp>
      <p:sp>
        <p:nvSpPr>
          <p:cNvPr id="15" name="Text 13"/>
          <p:cNvSpPr/>
          <p:nvPr/>
        </p:nvSpPr>
        <p:spPr>
          <a:xfrm>
            <a:off x="365760" y="4736592"/>
            <a:ext cx="8412480" cy="320040"/>
          </a:xfrm>
          <a:prstGeom prst="rect">
            <a:avLst/>
          </a:prstGeom>
          <a:noFill/>
          <a:ln/>
        </p:spPr>
        <p:txBody>
          <a:bodyPr wrap="square" lIns="0" tIns="0" rIns="0" bIns="0" rtlCol="0" anchor="ctr"/>
          <a:lstStyle/>
          <a:p>
            <a:pPr marL="0" indent="0" algn="ctr">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graphicFrame>
        <p:nvGraphicFramePr>
          <p:cNvPr id="16" name="Table 15"/>
          <p:cNvGraphicFramePr>
            <a:graphicFrameLocks noGrp="1"/>
          </p:cNvGraphicFramePr>
          <p:nvPr/>
        </p:nvGraphicFramePr>
        <p:xfrm>
          <a:off x="640080" y="1188720"/>
          <a:ext cx="7863840" cy="2834640"/>
        </p:xfrm>
        <a:graphic>
          <a:graphicData uri="http://schemas.openxmlformats.org/drawingml/2006/table">
            <a:tbl>
              <a:tblPr firstRow="1" bandRow="1">
                <a:tableStyleId>{5C22544A-7EE6-4342-B048-85BDC9FD1C3A}</a:tableStyleId>
              </a:tblPr>
              <a:tblGrid>
                <a:gridCol w="3657600">
                  <a:extLst>
                    <a:ext uri="{9D8B030D-6E8A-4147-A177-3AD203B41FA5}">
                      <a16:colId xmlns:a16="http://schemas.microsoft.com/office/drawing/2014/main" val="20000"/>
                    </a:ext>
                  </a:extLst>
                </a:gridCol>
                <a:gridCol w="4206240">
                  <a:extLst>
                    <a:ext uri="{9D8B030D-6E8A-4147-A177-3AD203B41FA5}">
                      <a16:colId xmlns:a16="http://schemas.microsoft.com/office/drawing/2014/main" val="20001"/>
                    </a:ext>
                  </a:extLst>
                </a:gridCol>
              </a:tblGrid>
              <a:tr h="404948">
                <a:tc>
                  <a:txBody>
                    <a:bodyPr/>
                    <a:lstStyle/>
                    <a:p>
                      <a:r>
                        <a:rPr sz="1050" b="1">
                          <a:solidFill>
                            <a:srgbClr val="FF9900"/>
                          </a:solidFill>
                          <a:latin typeface="Calibri"/>
                        </a:rPr>
                        <a:t>Challenge</a:t>
                      </a:r>
                    </a:p>
                  </a:txBody>
                  <a:tcPr>
                    <a:solidFill>
                      <a:srgbClr val="1C2A42"/>
                    </a:solidFill>
                  </a:tcPr>
                </a:tc>
                <a:tc>
                  <a:txBody>
                    <a:bodyPr/>
                    <a:lstStyle/>
                    <a:p>
                      <a:r>
                        <a:rPr sz="1050" b="1">
                          <a:solidFill>
                            <a:srgbClr val="FF9900"/>
                          </a:solidFill>
                          <a:latin typeface="Calibri"/>
                        </a:rPr>
                        <a:t>Fix</a:t>
                      </a:r>
                    </a:p>
                  </a:txBody>
                  <a:tcPr>
                    <a:solidFill>
                      <a:srgbClr val="1C2A42"/>
                    </a:solidFill>
                  </a:tcPr>
                </a:tc>
                <a:extLst>
                  <a:ext uri="{0D108BD9-81ED-4DB2-BD59-A6C34878D82A}">
                    <a16:rowId xmlns:a16="http://schemas.microsoft.com/office/drawing/2014/main" val="10000"/>
                  </a:ext>
                </a:extLst>
              </a:tr>
              <a:tr h="404948">
                <a:tc>
                  <a:txBody>
                    <a:bodyPr/>
                    <a:lstStyle/>
                    <a:p>
                      <a:r>
                        <a:rPr sz="1050" b="0">
                          <a:solidFill>
                            <a:srgbClr val="FFFFFF"/>
                          </a:solidFill>
                          <a:latin typeface="Calibri"/>
                        </a:rPr>
                        <a:t>Workshop role can't create CDK bootstrap roles</a:t>
                      </a:r>
                    </a:p>
                  </a:txBody>
                  <a:tcPr>
                    <a:solidFill>
                      <a:srgbClr val="141E30"/>
                    </a:solidFill>
                  </a:tcPr>
                </a:tc>
                <a:tc>
                  <a:txBody>
                    <a:bodyPr/>
                    <a:lstStyle/>
                    <a:p>
                      <a:r>
                        <a:rPr sz="1050" b="0">
                          <a:solidFill>
                            <a:srgbClr val="A8B8CC"/>
                          </a:solidFill>
                          <a:latin typeface="Calibri"/>
                        </a:rPr>
                        <a:t>Minimal bootstrap stack; deploy with our own credentials</a:t>
                      </a:r>
                    </a:p>
                  </a:txBody>
                  <a:tcPr>
                    <a:solidFill>
                      <a:srgbClr val="141E30"/>
                    </a:solidFill>
                  </a:tcPr>
                </a:tc>
                <a:extLst>
                  <a:ext uri="{0D108BD9-81ED-4DB2-BD59-A6C34878D82A}">
                    <a16:rowId xmlns:a16="http://schemas.microsoft.com/office/drawing/2014/main" val="10001"/>
                  </a:ext>
                </a:extLst>
              </a:tr>
              <a:tr h="404948">
                <a:tc>
                  <a:txBody>
                    <a:bodyPr/>
                    <a:lstStyle/>
                    <a:p>
                      <a:r>
                        <a:rPr sz="1050" b="0" dirty="0">
                          <a:solidFill>
                            <a:srgbClr val="FFFFFF"/>
                          </a:solidFill>
                          <a:latin typeface="Calibri"/>
                        </a:rPr>
                        <a:t>Claude Sonnet 4.6 not enabled in the account</a:t>
                      </a:r>
                    </a:p>
                  </a:txBody>
                  <a:tcPr>
                    <a:solidFill>
                      <a:srgbClr val="141E30"/>
                    </a:solidFill>
                  </a:tcPr>
                </a:tc>
                <a:tc>
                  <a:txBody>
                    <a:bodyPr/>
                    <a:lstStyle/>
                    <a:p>
                      <a:r>
                        <a:rPr sz="1050" b="0">
                          <a:solidFill>
                            <a:srgbClr val="A8B8CC"/>
                          </a:solidFill>
                          <a:latin typeface="Calibri"/>
                        </a:rPr>
                        <a:t>Tested every model; switched to Claude Sonnet 5</a:t>
                      </a:r>
                    </a:p>
                  </a:txBody>
                  <a:tcPr>
                    <a:solidFill>
                      <a:srgbClr val="141E30"/>
                    </a:solidFill>
                  </a:tcPr>
                </a:tc>
                <a:extLst>
                  <a:ext uri="{0D108BD9-81ED-4DB2-BD59-A6C34878D82A}">
                    <a16:rowId xmlns:a16="http://schemas.microsoft.com/office/drawing/2014/main" val="10002"/>
                  </a:ext>
                </a:extLst>
              </a:tr>
              <a:tr h="404948">
                <a:tc>
                  <a:txBody>
                    <a:bodyPr/>
                    <a:lstStyle/>
                    <a:p>
                      <a:r>
                        <a:rPr sz="1050" b="0">
                          <a:solidFill>
                            <a:srgbClr val="FFFFFF"/>
                          </a:solidFill>
                          <a:latin typeface="Calibri"/>
                        </a:rPr>
                        <a:t>Guardrail blocked safe answers (patient's own meds)</a:t>
                      </a:r>
                    </a:p>
                  </a:txBody>
                  <a:tcPr>
                    <a:solidFill>
                      <a:srgbClr val="141E30"/>
                    </a:solidFill>
                  </a:tcPr>
                </a:tc>
                <a:tc>
                  <a:txBody>
                    <a:bodyPr/>
                    <a:lstStyle/>
                    <a:p>
                      <a:r>
                        <a:rPr sz="1050" b="0">
                          <a:solidFill>
                            <a:srgbClr val="A8B8CC"/>
                          </a:solidFill>
                          <a:latin typeface="Calibri"/>
                        </a:rPr>
                        <a:t>Check only the question; pass patient ID outside the chat text</a:t>
                      </a:r>
                    </a:p>
                  </a:txBody>
                  <a:tcPr>
                    <a:solidFill>
                      <a:srgbClr val="141E30"/>
                    </a:solidFill>
                  </a:tcPr>
                </a:tc>
                <a:extLst>
                  <a:ext uri="{0D108BD9-81ED-4DB2-BD59-A6C34878D82A}">
                    <a16:rowId xmlns:a16="http://schemas.microsoft.com/office/drawing/2014/main" val="10003"/>
                  </a:ext>
                </a:extLst>
              </a:tr>
              <a:tr h="404948">
                <a:tc>
                  <a:txBody>
                    <a:bodyPr/>
                    <a:lstStyle/>
                    <a:p>
                      <a:r>
                        <a:rPr sz="1050" b="0">
                          <a:solidFill>
                            <a:srgbClr val="FFFFFF"/>
                          </a:solidFill>
                          <a:latin typeface="Calibri"/>
                        </a:rPr>
                        <a:t>Standard guardrail tier blocked red-flag symptoms</a:t>
                      </a:r>
                    </a:p>
                  </a:txBody>
                  <a:tcPr>
                    <a:solidFill>
                      <a:srgbClr val="141E30"/>
                    </a:solidFill>
                  </a:tcPr>
                </a:tc>
                <a:tc>
                  <a:txBody>
                    <a:bodyPr/>
                    <a:lstStyle/>
                    <a:p>
                      <a:r>
                        <a:rPr sz="1050" b="0">
                          <a:solidFill>
                            <a:srgbClr val="A8B8CC"/>
                          </a:solidFill>
                          <a:latin typeface="Calibri"/>
                        </a:rPr>
                        <a:t>Back to Classic tier with tighter topic definitions</a:t>
                      </a:r>
                    </a:p>
                  </a:txBody>
                  <a:tcPr>
                    <a:solidFill>
                      <a:srgbClr val="141E30"/>
                    </a:solidFill>
                  </a:tcPr>
                </a:tc>
                <a:extLst>
                  <a:ext uri="{0D108BD9-81ED-4DB2-BD59-A6C34878D82A}">
                    <a16:rowId xmlns:a16="http://schemas.microsoft.com/office/drawing/2014/main" val="10004"/>
                  </a:ext>
                </a:extLst>
              </a:tr>
              <a:tr h="404948">
                <a:tc>
                  <a:txBody>
                    <a:bodyPr/>
                    <a:lstStyle/>
                    <a:p>
                      <a:r>
                        <a:rPr sz="1050" b="0">
                          <a:solidFill>
                            <a:srgbClr val="FFFFFF"/>
                          </a:solidFill>
                          <a:latin typeface="Calibri"/>
                        </a:rPr>
                        <a:t>No EC2, App Runner or Step Functions access</a:t>
                      </a:r>
                    </a:p>
                  </a:txBody>
                  <a:tcPr>
                    <a:solidFill>
                      <a:srgbClr val="141E30"/>
                    </a:solidFill>
                  </a:tcPr>
                </a:tc>
                <a:tc>
                  <a:txBody>
                    <a:bodyPr/>
                    <a:lstStyle/>
                    <a:p>
                      <a:r>
                        <a:rPr sz="1050" b="0">
                          <a:solidFill>
                            <a:srgbClr val="A8B8CC"/>
                          </a:solidFill>
                          <a:latin typeface="Calibri"/>
                        </a:rPr>
                        <a:t>Web app on Lambda + Lambda Web Adapter, public function URL</a:t>
                      </a:r>
                    </a:p>
                  </a:txBody>
                  <a:tcPr>
                    <a:solidFill>
                      <a:srgbClr val="141E30"/>
                    </a:solidFill>
                  </a:tcPr>
                </a:tc>
                <a:extLst>
                  <a:ext uri="{0D108BD9-81ED-4DB2-BD59-A6C34878D82A}">
                    <a16:rowId xmlns:a16="http://schemas.microsoft.com/office/drawing/2014/main" val="10005"/>
                  </a:ext>
                </a:extLst>
              </a:tr>
              <a:tr h="404952">
                <a:tc>
                  <a:txBody>
                    <a:bodyPr/>
                    <a:lstStyle/>
                    <a:p>
                      <a:r>
                        <a:rPr sz="1050" b="0">
                          <a:solidFill>
                            <a:srgbClr val="FFFFFF"/>
                          </a:solidFill>
                          <a:latin typeface="Calibri"/>
                        </a:rPr>
                        <a:t>Twilio trial calls only verified numbers</a:t>
                      </a:r>
                    </a:p>
                  </a:txBody>
                  <a:tcPr>
                    <a:solidFill>
                      <a:srgbClr val="141E30"/>
                    </a:solidFill>
                  </a:tcPr>
                </a:tc>
                <a:tc>
                  <a:txBody>
                    <a:bodyPr/>
                    <a:lstStyle/>
                    <a:p>
                      <a:r>
                        <a:rPr sz="1050" b="0" dirty="0">
                          <a:solidFill>
                            <a:srgbClr val="A8B8CC"/>
                          </a:solidFill>
                          <a:latin typeface="Calibri"/>
                        </a:rPr>
                        <a:t>Demo with a verified number; unsigned requests only for open calls</a:t>
                      </a:r>
                    </a:p>
                  </a:txBody>
                  <a:tcPr>
                    <a:solidFill>
                      <a:srgbClr val="141E30"/>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0B1120"/>
        </a:solidFill>
        <a:effectLst/>
      </p:bgPr>
    </p:bg>
    <p:spTree>
      <p:nvGrpSpPr>
        <p:cNvPr id="1" name=""/>
        <p:cNvGrpSpPr/>
        <p:nvPr/>
      </p:nvGrpSpPr>
      <p:grpSpPr>
        <a:xfrm>
          <a:off x="0" y="0"/>
          <a:ext cx="0" cy="0"/>
          <a:chOff x="0" y="0"/>
          <a:chExt cx="0" cy="0"/>
        </a:xfrm>
      </p:grpSpPr>
      <p:sp>
        <p:nvSpPr>
          <p:cNvPr id="2" name="Text 0"/>
          <p:cNvSpPr/>
          <p:nvPr/>
        </p:nvSpPr>
        <p:spPr>
          <a:xfrm>
            <a:off x="8503920" y="137160"/>
            <a:ext cx="411480" cy="320040"/>
          </a:xfrm>
          <a:prstGeom prst="rect">
            <a:avLst/>
          </a:prstGeom>
          <a:noFill/>
          <a:ln/>
        </p:spPr>
        <p:txBody>
          <a:bodyPr wrap="square" lIns="0" tIns="0" rIns="0" bIns="0" rtlCol="0" anchor="ctr"/>
          <a:lstStyle/>
          <a:p>
            <a:pPr marL="0" indent="0" algn="r">
              <a:buNone/>
            </a:pPr>
            <a:r>
              <a:rPr lang="en-US" sz="900" dirty="0">
                <a:solidFill>
                  <a:srgbClr val="5C7090"/>
                </a:solidFill>
                <a:latin typeface="Consolas" pitchFamily="34" charset="0"/>
                <a:ea typeface="Consolas" pitchFamily="34" charset="-122"/>
                <a:cs typeface="Consolas" pitchFamily="34" charset="-120"/>
              </a:rPr>
              <a:t>14</a:t>
            </a:r>
            <a:endParaRPr lang="en-US" sz="900" dirty="0"/>
          </a:p>
        </p:txBody>
      </p:sp>
      <p:sp>
        <p:nvSpPr>
          <p:cNvPr id="3" name="Shape 1"/>
          <p:cNvSpPr/>
          <p:nvPr/>
        </p:nvSpPr>
        <p:spPr>
          <a:xfrm>
            <a:off x="0" y="0"/>
            <a:ext cx="9144000" cy="64008"/>
          </a:xfrm>
          <a:prstGeom prst="rect">
            <a:avLst/>
          </a:prstGeom>
          <a:solidFill>
            <a:srgbClr val="FF9900"/>
          </a:solidFill>
          <a:ln/>
        </p:spPr>
        <p:txBody>
          <a:bodyPr/>
          <a:lstStyle/>
          <a:p>
            <a:endParaRPr lang="en-AE"/>
          </a:p>
        </p:txBody>
      </p:sp>
      <p:sp>
        <p:nvSpPr>
          <p:cNvPr id="4" name="Text 2"/>
          <p:cNvSpPr/>
          <p:nvPr/>
        </p:nvSpPr>
        <p:spPr>
          <a:xfrm>
            <a:off x="914400" y="411480"/>
            <a:ext cx="7315200" cy="777240"/>
          </a:xfrm>
          <a:prstGeom prst="rect">
            <a:avLst/>
          </a:prstGeom>
          <a:noFill/>
          <a:ln/>
        </p:spPr>
        <p:txBody>
          <a:bodyPr wrap="square" lIns="0" tIns="0" rIns="0" bIns="0" rtlCol="0" anchor="ctr">
            <a:normAutofit/>
          </a:bodyPr>
          <a:lstStyle/>
          <a:p>
            <a:pPr marL="0" indent="0" algn="ctr">
              <a:buNone/>
            </a:pPr>
            <a:r>
              <a:rPr lang="en-US" sz="3800" dirty="0">
                <a:solidFill>
                  <a:srgbClr val="FFFFFF"/>
                </a:solidFill>
                <a:latin typeface="Arial Black" pitchFamily="34" charset="0"/>
                <a:ea typeface="Arial Black" pitchFamily="34" charset="-122"/>
                <a:cs typeface="Arial Black" pitchFamily="34" charset="-120"/>
              </a:rPr>
              <a:t>SHIFA</a:t>
            </a:r>
            <a:endParaRPr lang="en-US" sz="3800" dirty="0"/>
          </a:p>
        </p:txBody>
      </p:sp>
      <p:sp>
        <p:nvSpPr>
          <p:cNvPr id="5" name="Text 3"/>
          <p:cNvSpPr/>
          <p:nvPr/>
        </p:nvSpPr>
        <p:spPr>
          <a:xfrm>
            <a:off x="914400" y="1234440"/>
            <a:ext cx="7315200" cy="731520"/>
          </a:xfrm>
          <a:prstGeom prst="rect">
            <a:avLst/>
          </a:prstGeom>
          <a:noFill/>
          <a:ln/>
        </p:spPr>
        <p:txBody>
          <a:bodyPr wrap="square" lIns="0" tIns="0" rIns="0" bIns="0" rtlCol="0" anchor="ctr"/>
          <a:lstStyle/>
          <a:p>
            <a:pPr marL="0" indent="0" algn="ctr">
              <a:buNone/>
            </a:pPr>
            <a:r>
              <a:rPr lang="en-US" sz="3000" dirty="0">
                <a:solidFill>
                  <a:srgbClr val="FF9900"/>
                </a:solidFill>
                <a:latin typeface="Arial Black" pitchFamily="34" charset="0"/>
                <a:ea typeface="Arial Black" pitchFamily="34" charset="-122"/>
                <a:cs typeface="Arial Black" pitchFamily="34" charset="-120"/>
              </a:rPr>
              <a:t>THANK YOU</a:t>
            </a:r>
            <a:endParaRPr lang="en-US" sz="3000" dirty="0"/>
          </a:p>
        </p:txBody>
      </p:sp>
      <p:sp>
        <p:nvSpPr>
          <p:cNvPr id="6" name="Shape 4"/>
          <p:cNvSpPr/>
          <p:nvPr/>
        </p:nvSpPr>
        <p:spPr>
          <a:xfrm>
            <a:off x="2743200" y="2011680"/>
            <a:ext cx="3657600" cy="45720"/>
          </a:xfrm>
          <a:prstGeom prst="rect">
            <a:avLst/>
          </a:prstGeom>
          <a:solidFill>
            <a:srgbClr val="FF9900"/>
          </a:solidFill>
          <a:ln/>
        </p:spPr>
        <p:txBody>
          <a:bodyPr/>
          <a:lstStyle/>
          <a:p>
            <a:endParaRPr lang="en-AE"/>
          </a:p>
        </p:txBody>
      </p:sp>
      <p:sp>
        <p:nvSpPr>
          <p:cNvPr id="10" name="Text 8"/>
          <p:cNvSpPr/>
          <p:nvPr/>
        </p:nvSpPr>
        <p:spPr>
          <a:xfrm>
            <a:off x="1993392" y="2240280"/>
            <a:ext cx="1627632" cy="502920"/>
          </a:xfrm>
          <a:prstGeom prst="rect">
            <a:avLst/>
          </a:prstGeom>
          <a:noFill/>
          <a:ln/>
        </p:spPr>
        <p:txBody>
          <a:bodyPr wrap="square" lIns="0" tIns="0" rIns="0" bIns="0" rtlCol="0" anchor="ctr"/>
          <a:lstStyle/>
          <a:p>
            <a:pPr marL="0" indent="0" algn="ctr">
              <a:buNone/>
            </a:pPr>
            <a:endParaRPr lang="en-US" sz="1100" dirty="0"/>
          </a:p>
        </p:txBody>
      </p:sp>
      <p:sp>
        <p:nvSpPr>
          <p:cNvPr id="12" name="Text 10"/>
          <p:cNvSpPr/>
          <p:nvPr/>
        </p:nvSpPr>
        <p:spPr>
          <a:xfrm>
            <a:off x="3712464" y="2240280"/>
            <a:ext cx="1627632" cy="502920"/>
          </a:xfrm>
          <a:prstGeom prst="rect">
            <a:avLst/>
          </a:prstGeom>
          <a:noFill/>
          <a:ln/>
        </p:spPr>
        <p:txBody>
          <a:bodyPr wrap="square" lIns="0" tIns="0" rIns="0" bIns="0" rtlCol="0" anchor="ctr"/>
          <a:lstStyle/>
          <a:p>
            <a:pPr marL="0" indent="0" algn="ctr">
              <a:buNone/>
            </a:pPr>
            <a:endParaRPr lang="en-US" sz="1100" dirty="0"/>
          </a:p>
        </p:txBody>
      </p:sp>
      <p:sp>
        <p:nvSpPr>
          <p:cNvPr id="14" name="Text 12"/>
          <p:cNvSpPr/>
          <p:nvPr/>
        </p:nvSpPr>
        <p:spPr>
          <a:xfrm>
            <a:off x="5431536" y="2240280"/>
            <a:ext cx="1627632" cy="502920"/>
          </a:xfrm>
          <a:prstGeom prst="rect">
            <a:avLst/>
          </a:prstGeom>
          <a:noFill/>
          <a:ln/>
        </p:spPr>
        <p:txBody>
          <a:bodyPr wrap="square" lIns="0" tIns="0" rIns="0" bIns="0" rtlCol="0" anchor="ctr"/>
          <a:lstStyle/>
          <a:p>
            <a:pPr marL="0" indent="0" algn="ctr">
              <a:buNone/>
            </a:pPr>
            <a:endParaRPr lang="en-US" sz="1100" dirty="0"/>
          </a:p>
        </p:txBody>
      </p:sp>
      <p:sp>
        <p:nvSpPr>
          <p:cNvPr id="16" name="Text 14"/>
          <p:cNvSpPr/>
          <p:nvPr/>
        </p:nvSpPr>
        <p:spPr>
          <a:xfrm>
            <a:off x="7150608" y="2240280"/>
            <a:ext cx="1627632" cy="502920"/>
          </a:xfrm>
          <a:prstGeom prst="rect">
            <a:avLst/>
          </a:prstGeom>
          <a:noFill/>
          <a:ln/>
        </p:spPr>
        <p:txBody>
          <a:bodyPr wrap="square" lIns="0" tIns="0" rIns="0" bIns="0" rtlCol="0" anchor="ctr"/>
          <a:lstStyle/>
          <a:p>
            <a:pPr marL="0" indent="0" algn="ctr">
              <a:buNone/>
            </a:pPr>
            <a:endParaRPr lang="en-US" sz="1100" dirty="0"/>
          </a:p>
        </p:txBody>
      </p:sp>
      <p:sp>
        <p:nvSpPr>
          <p:cNvPr id="17" name="Shape 15"/>
          <p:cNvSpPr/>
          <p:nvPr/>
        </p:nvSpPr>
        <p:spPr>
          <a:xfrm>
            <a:off x="914400" y="3017520"/>
            <a:ext cx="7315200" cy="411480"/>
          </a:xfrm>
          <a:prstGeom prst="roundRect">
            <a:avLst>
              <a:gd name="adj" fmla="val 22222"/>
            </a:avLst>
          </a:prstGeom>
          <a:solidFill>
            <a:srgbClr val="080D18"/>
          </a:solidFill>
          <a:ln w="9525">
            <a:solidFill>
              <a:srgbClr val="FF9900"/>
            </a:solidFill>
            <a:prstDash val="solid"/>
          </a:ln>
        </p:spPr>
        <p:txBody>
          <a:bodyPr/>
          <a:lstStyle/>
          <a:p>
            <a:endParaRPr lang="en-AE"/>
          </a:p>
        </p:txBody>
      </p:sp>
      <p:sp>
        <p:nvSpPr>
          <p:cNvPr id="18" name="Shape 16"/>
          <p:cNvSpPr/>
          <p:nvPr/>
        </p:nvSpPr>
        <p:spPr>
          <a:xfrm>
            <a:off x="914400" y="3017520"/>
            <a:ext cx="64008" cy="411480"/>
          </a:xfrm>
          <a:prstGeom prst="rect">
            <a:avLst/>
          </a:prstGeom>
          <a:solidFill>
            <a:srgbClr val="FF9900"/>
          </a:solidFill>
          <a:ln/>
        </p:spPr>
        <p:txBody>
          <a:bodyPr/>
          <a:lstStyle/>
          <a:p>
            <a:endParaRPr lang="en-AE"/>
          </a:p>
        </p:txBody>
      </p:sp>
      <p:sp>
        <p:nvSpPr>
          <p:cNvPr id="19" name="Text 17"/>
          <p:cNvSpPr/>
          <p:nvPr/>
        </p:nvSpPr>
        <p:spPr>
          <a:xfrm>
            <a:off x="1097280" y="3017520"/>
            <a:ext cx="822960" cy="411480"/>
          </a:xfrm>
          <a:prstGeom prst="rect">
            <a:avLst/>
          </a:prstGeom>
          <a:noFill/>
          <a:ln/>
        </p:spPr>
        <p:txBody>
          <a:bodyPr wrap="square" lIns="0" tIns="0" rIns="0" bIns="0" rtlCol="0" anchor="ctr"/>
          <a:lstStyle/>
          <a:p>
            <a:pPr marL="0" indent="0">
              <a:buNone/>
            </a:pPr>
            <a:r>
              <a:rPr lang="en-US" sz="1000" dirty="0">
                <a:solidFill>
                  <a:srgbClr val="A8B8CC"/>
                </a:solidFill>
                <a:latin typeface="Arial Black" pitchFamily="34" charset="0"/>
                <a:ea typeface="Arial Black" pitchFamily="34" charset="-122"/>
                <a:cs typeface="Arial Black" pitchFamily="34" charset="-120"/>
              </a:rPr>
              <a:t>GitHub:</a:t>
            </a:r>
            <a:endParaRPr lang="en-US" sz="1000" dirty="0"/>
          </a:p>
        </p:txBody>
      </p:sp>
      <p:sp>
        <p:nvSpPr>
          <p:cNvPr id="20" name="Text 18"/>
          <p:cNvSpPr/>
          <p:nvPr/>
        </p:nvSpPr>
        <p:spPr>
          <a:xfrm>
            <a:off x="1920240" y="3017520"/>
            <a:ext cx="6126480" cy="411480"/>
          </a:xfrm>
          <a:prstGeom prst="rect">
            <a:avLst/>
          </a:prstGeom>
          <a:noFill/>
          <a:ln/>
        </p:spPr>
        <p:txBody>
          <a:bodyPr wrap="square" lIns="0" tIns="0" rIns="0" bIns="0" rtlCol="0" anchor="ctr"/>
          <a:lstStyle/>
          <a:p>
            <a:pPr marL="0" indent="0">
              <a:buNone/>
            </a:pPr>
            <a:r>
              <a:rPr lang="en-US" sz="1200" dirty="0">
                <a:solidFill>
                  <a:srgbClr val="FF9900"/>
                </a:solidFill>
                <a:latin typeface="Consolas" pitchFamily="34" charset="0"/>
                <a:ea typeface="Consolas" pitchFamily="34" charset="-122"/>
                <a:cs typeface="Consolas" pitchFamily="34" charset="-120"/>
              </a:rPr>
              <a:t>github.com/manav2701/Team9Aws</a:t>
            </a:r>
            <a:endParaRPr lang="en-US" sz="1200" dirty="0"/>
          </a:p>
        </p:txBody>
      </p:sp>
      <p:sp>
        <p:nvSpPr>
          <p:cNvPr id="21" name="Shape 19"/>
          <p:cNvSpPr/>
          <p:nvPr/>
        </p:nvSpPr>
        <p:spPr>
          <a:xfrm>
            <a:off x="914400" y="3566160"/>
            <a:ext cx="7315200" cy="411480"/>
          </a:xfrm>
          <a:prstGeom prst="roundRect">
            <a:avLst>
              <a:gd name="adj" fmla="val 22222"/>
            </a:avLst>
          </a:prstGeom>
          <a:solidFill>
            <a:srgbClr val="080D18"/>
          </a:solidFill>
          <a:ln w="9525">
            <a:solidFill>
              <a:srgbClr val="00D4FF"/>
            </a:solidFill>
            <a:prstDash val="solid"/>
          </a:ln>
        </p:spPr>
        <p:txBody>
          <a:bodyPr/>
          <a:lstStyle/>
          <a:p>
            <a:endParaRPr lang="en-AE"/>
          </a:p>
        </p:txBody>
      </p:sp>
      <p:sp>
        <p:nvSpPr>
          <p:cNvPr id="22" name="Shape 20"/>
          <p:cNvSpPr/>
          <p:nvPr/>
        </p:nvSpPr>
        <p:spPr>
          <a:xfrm>
            <a:off x="914400" y="3566160"/>
            <a:ext cx="64008" cy="411480"/>
          </a:xfrm>
          <a:prstGeom prst="rect">
            <a:avLst/>
          </a:prstGeom>
          <a:solidFill>
            <a:srgbClr val="00D4FF"/>
          </a:solidFill>
          <a:ln/>
        </p:spPr>
        <p:txBody>
          <a:bodyPr/>
          <a:lstStyle/>
          <a:p>
            <a:endParaRPr lang="en-AE"/>
          </a:p>
        </p:txBody>
      </p:sp>
      <p:sp>
        <p:nvSpPr>
          <p:cNvPr id="23" name="Text 21"/>
          <p:cNvSpPr/>
          <p:nvPr/>
        </p:nvSpPr>
        <p:spPr>
          <a:xfrm>
            <a:off x="1097280" y="3566160"/>
            <a:ext cx="822960" cy="411480"/>
          </a:xfrm>
          <a:prstGeom prst="rect">
            <a:avLst/>
          </a:prstGeom>
          <a:noFill/>
          <a:ln/>
        </p:spPr>
        <p:txBody>
          <a:bodyPr wrap="square" lIns="0" tIns="0" rIns="0" bIns="0" rtlCol="0" anchor="ctr"/>
          <a:lstStyle/>
          <a:p>
            <a:pPr marL="0" indent="0">
              <a:buNone/>
            </a:pPr>
            <a:r>
              <a:rPr lang="en-US" sz="1000" dirty="0">
                <a:solidFill>
                  <a:srgbClr val="A8B8CC"/>
                </a:solidFill>
                <a:latin typeface="Arial Black" pitchFamily="34" charset="0"/>
                <a:ea typeface="Arial Black" pitchFamily="34" charset="-122"/>
                <a:cs typeface="Arial Black" pitchFamily="34" charset="-120"/>
              </a:rPr>
              <a:t>Live App:</a:t>
            </a:r>
            <a:endParaRPr lang="en-US" sz="1000" dirty="0"/>
          </a:p>
        </p:txBody>
      </p:sp>
      <p:sp>
        <p:nvSpPr>
          <p:cNvPr id="24" name="Text 22"/>
          <p:cNvSpPr/>
          <p:nvPr/>
        </p:nvSpPr>
        <p:spPr>
          <a:xfrm>
            <a:off x="1920240" y="3566160"/>
            <a:ext cx="6126480" cy="411480"/>
          </a:xfrm>
          <a:prstGeom prst="rect">
            <a:avLst/>
          </a:prstGeom>
          <a:noFill/>
          <a:ln/>
        </p:spPr>
        <p:txBody>
          <a:bodyPr wrap="square" lIns="0" tIns="0" rIns="0" bIns="0" rtlCol="0" anchor="ctr"/>
          <a:lstStyle/>
          <a:p>
            <a:pPr marL="0" indent="0">
              <a:buNone/>
            </a:pPr>
            <a:r>
              <a:rPr lang="en-US" sz="1200" dirty="0">
                <a:solidFill>
                  <a:srgbClr val="00D4FF"/>
                </a:solidFill>
                <a:latin typeface="Consolas" pitchFamily="34" charset="0"/>
                <a:ea typeface="Consolas" pitchFamily="34" charset="-122"/>
                <a:cs typeface="Consolas" pitchFamily="34" charset="-120"/>
              </a:rPr>
              <a:t>wzihykguzzj72v3ptpba2zpgri0psctu.lambda-url.us-west-2.on.aws/en/intake</a:t>
            </a:r>
            <a:endParaRPr lang="en-US" sz="1200" dirty="0"/>
          </a:p>
        </p:txBody>
      </p:sp>
      <p:sp>
        <p:nvSpPr>
          <p:cNvPr id="25" name="Shape 23"/>
          <p:cNvSpPr/>
          <p:nvPr/>
        </p:nvSpPr>
        <p:spPr>
          <a:xfrm>
            <a:off x="0" y="4663440"/>
            <a:ext cx="9144000" cy="480060"/>
          </a:xfrm>
          <a:prstGeom prst="rect">
            <a:avLst/>
          </a:prstGeom>
          <a:solidFill>
            <a:srgbClr val="080D18"/>
          </a:solidFill>
          <a:ln/>
        </p:spPr>
        <p:txBody>
          <a:bodyPr/>
          <a:lstStyle/>
          <a:p>
            <a:endParaRPr lang="en-AE"/>
          </a:p>
        </p:txBody>
      </p:sp>
      <p:sp>
        <p:nvSpPr>
          <p:cNvPr id="26" name="Shape 24"/>
          <p:cNvSpPr/>
          <p:nvPr/>
        </p:nvSpPr>
        <p:spPr>
          <a:xfrm>
            <a:off x="0" y="4663440"/>
            <a:ext cx="9144000" cy="45720"/>
          </a:xfrm>
          <a:prstGeom prst="rect">
            <a:avLst/>
          </a:prstGeom>
          <a:solidFill>
            <a:srgbClr val="FF9900"/>
          </a:solidFill>
          <a:ln/>
        </p:spPr>
        <p:txBody>
          <a:bodyPr/>
          <a:lstStyle/>
          <a:p>
            <a:endParaRPr lang="en-AE"/>
          </a:p>
        </p:txBody>
      </p:sp>
      <p:sp>
        <p:nvSpPr>
          <p:cNvPr id="27" name="Text 25"/>
          <p:cNvSpPr/>
          <p:nvPr/>
        </p:nvSpPr>
        <p:spPr>
          <a:xfrm>
            <a:off x="365760" y="4736592"/>
            <a:ext cx="8412480" cy="320040"/>
          </a:xfrm>
          <a:prstGeom prst="rect">
            <a:avLst/>
          </a:prstGeom>
          <a:noFill/>
          <a:ln/>
        </p:spPr>
        <p:txBody>
          <a:bodyPr wrap="square" lIns="0" tIns="0" rIns="0" bIns="0" rtlCol="0" anchor="ctr"/>
          <a:lstStyle/>
          <a:p>
            <a:pPr marL="0" indent="0" algn="ctr">
              <a:buNone/>
            </a:pPr>
            <a:r>
              <a:rPr lang="en-US" sz="850" dirty="0">
                <a:solidFill>
                  <a:srgbClr val="5C7090"/>
                </a:solidFill>
                <a:latin typeface="Calibri" pitchFamily="34" charset="0"/>
                <a:ea typeface="Calibri" pitchFamily="34" charset="-122"/>
                <a:cs typeface="Calibri" pitchFamily="34" charset="-120"/>
              </a:rPr>
              <a:t>AWS Agentic AI Hackathon — Future Vision  |  AWS Summit Dubai 2026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1F277974-104C-49BD-9365-8798AE46B2FC}">
  <we:reference id="WA200010606" version="1.0.10036.0" store="en-us" storeType="OMEX"/>
  <we:alternateReferences/>
  <we:properties>
    <we:property name="Office.AutoShowTaskpaneWithDocument" value="true"/>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417</TotalTime>
  <Words>3073</Words>
  <Application>Microsoft Macintosh PowerPoint</Application>
  <PresentationFormat>On-screen Show (16:9)</PresentationFormat>
  <Paragraphs>316</Paragraphs>
  <Slides>14</Slides>
  <Notes>14</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Arial Black</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Participant Demo Deck Template</dc:title>
  <dc:subject>PptxGenJS Presentation</dc:subject>
  <dc:creator>AWS Agentic AI Hackathon</dc:creator>
  <cp:lastModifiedBy>Zhenya</cp:lastModifiedBy>
  <cp:revision>2</cp:revision>
  <dcterms:created xsi:type="dcterms:W3CDTF">2026-09-29T08:29:23Z</dcterms:created>
  <dcterms:modified xsi:type="dcterms:W3CDTF">2026-09-30T19:05:13Z</dcterms:modified>
</cp:coreProperties>
</file>